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6" r:id="rId1"/>
  </p:sldMasterIdLst>
  <p:sldIdLst>
    <p:sldId id="256" r:id="rId2"/>
    <p:sldId id="258" r:id="rId3"/>
    <p:sldId id="257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2C1D7E7B-EEC3-4487-B714-3BD8730EED73}">
          <p14:sldIdLst>
            <p14:sldId id="256"/>
            <p14:sldId id="258"/>
            <p14:sldId id="257"/>
            <p14:sldId id="260"/>
            <p14:sldId id="259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2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/>
    </dgm:fillClrLst>
    <dgm:linClrLst meth="repeat">
      <a:schemeClr val="lt2">
        <a:alpha val="0"/>
      </a:schemeClr>
    </dgm:linClrLst>
    <dgm:effectClrLst/>
    <dgm:txLinClrLst/>
    <dgm:txFillClrLst/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dk2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dk2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8EA156B-345A-42C1-9CDC-2E5D1E0212E3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coloredtext_accent0_3" csCatId="mainScheme" phldr="1"/>
      <dgm:spPr/>
      <dgm:t>
        <a:bodyPr/>
        <a:lstStyle/>
        <a:p>
          <a:endParaRPr lang="en-US"/>
        </a:p>
      </dgm:t>
    </dgm:pt>
    <dgm:pt modelId="{3FDA0C37-216F-4C1E-A084-D449C360A1E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Docker is an open platform for developing, shipping, and running applications. It enables you to </a:t>
          </a:r>
          <a:r>
            <a:rPr lang="en-US" b="1"/>
            <a:t>separate your applications from your infrastructure</a:t>
          </a:r>
          <a:r>
            <a:rPr lang="en-US"/>
            <a:t> so you can deliver software quickly.</a:t>
          </a:r>
        </a:p>
      </dgm:t>
    </dgm:pt>
    <dgm:pt modelId="{E1BC69F2-107D-4195-BAA2-93BCBE1BC50B}" type="parTrans" cxnId="{C72E15EB-6571-46E4-B6EF-E171AF0E155A}">
      <dgm:prSet/>
      <dgm:spPr/>
      <dgm:t>
        <a:bodyPr/>
        <a:lstStyle/>
        <a:p>
          <a:endParaRPr lang="en-US"/>
        </a:p>
      </dgm:t>
    </dgm:pt>
    <dgm:pt modelId="{A624B8A9-122D-4CD9-BD51-499ECC419955}" type="sibTrans" cxnId="{C72E15EB-6571-46E4-B6EF-E171AF0E155A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F7865EEA-344F-4CF7-89C2-24FDDC30C4A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cap="none" spc="0"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rPr>
            <a:t>With Docker, you can package an application and all its dependencies—such as libraries, binaries, and configuration files—into a standardized unit called a container. Containers are lightweight, portable, and isolated, ensuring that your application runs consistently across different environments, whether it’s a developer’s laptop, a test server, or a cloud production system.</a:t>
          </a:r>
        </a:p>
      </dgm:t>
    </dgm:pt>
    <dgm:pt modelId="{2859EBF5-8FFB-4418-91E6-2BCA680EA307}" type="parTrans" cxnId="{4321E7AE-59D9-4BE3-8915-BA8BE48616F7}">
      <dgm:prSet/>
      <dgm:spPr/>
      <dgm:t>
        <a:bodyPr/>
        <a:lstStyle/>
        <a:p>
          <a:endParaRPr lang="en-US"/>
        </a:p>
      </dgm:t>
    </dgm:pt>
    <dgm:pt modelId="{9D7208A6-5884-451A-BB7D-1A6B0DEA2908}" type="sibTrans" cxnId="{4321E7AE-59D9-4BE3-8915-BA8BE48616F7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EE8B53A7-AB2B-45D6-A5BD-92C264A0B89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Unlike virtual machines, Docker containers share the host operating system kernel, making them faster to start and more efficient in resource usage. Docker provides tools and a platform to manage the full lifecycle of containers: build, distribute, deploy, and update them easily.</a:t>
          </a:r>
        </a:p>
      </dgm:t>
    </dgm:pt>
    <dgm:pt modelId="{D2FE2F98-CC6A-4A16-9955-875C4066E1DA}" type="parTrans" cxnId="{4ADDB31A-652C-41A2-A07E-411A5FDE4DB6}">
      <dgm:prSet/>
      <dgm:spPr/>
      <dgm:t>
        <a:bodyPr/>
        <a:lstStyle/>
        <a:p>
          <a:endParaRPr lang="en-US"/>
        </a:p>
      </dgm:t>
    </dgm:pt>
    <dgm:pt modelId="{F5004866-44B9-4606-AE1F-C1C38D3FAEE1}" type="sibTrans" cxnId="{4ADDB31A-652C-41A2-A07E-411A5FDE4DB6}">
      <dgm:prSet/>
      <dgm:spPr/>
      <dgm:t>
        <a:bodyPr/>
        <a:lstStyle/>
        <a:p>
          <a:endParaRPr lang="en-US"/>
        </a:p>
      </dgm:t>
    </dgm:pt>
    <dgm:pt modelId="{EA4D5ACE-EE7F-43E5-AC72-0C380F156B0D}" type="pres">
      <dgm:prSet presAssocID="{C8EA156B-345A-42C1-9CDC-2E5D1E0212E3}" presName="root" presStyleCnt="0">
        <dgm:presLayoutVars>
          <dgm:dir/>
          <dgm:resizeHandles val="exact"/>
        </dgm:presLayoutVars>
      </dgm:prSet>
      <dgm:spPr/>
    </dgm:pt>
    <dgm:pt modelId="{E022E521-2ECE-4B1B-B0F5-08C32447C4EC}" type="pres">
      <dgm:prSet presAssocID="{C8EA156B-345A-42C1-9CDC-2E5D1E0212E3}" presName="container" presStyleCnt="0">
        <dgm:presLayoutVars>
          <dgm:dir/>
          <dgm:resizeHandles val="exact"/>
        </dgm:presLayoutVars>
      </dgm:prSet>
      <dgm:spPr/>
    </dgm:pt>
    <dgm:pt modelId="{EF2A7441-C1BC-423D-B252-E227ADA6C86F}" type="pres">
      <dgm:prSet presAssocID="{3FDA0C37-216F-4C1E-A084-D449C360A1E4}" presName="compNode" presStyleCnt="0"/>
      <dgm:spPr/>
    </dgm:pt>
    <dgm:pt modelId="{93E414F9-4B36-47D2-85A4-92F2324B8007}" type="pres">
      <dgm:prSet presAssocID="{3FDA0C37-216F-4C1E-A084-D449C360A1E4}" presName="iconBgRect" presStyleLbl="bgShp" presStyleIdx="0" presStyleCnt="3"/>
      <dgm:spPr/>
    </dgm:pt>
    <dgm:pt modelId="{4C075AF5-7538-474E-9456-45E782241F56}" type="pres">
      <dgm:prSet presAssocID="{3FDA0C37-216F-4C1E-A084-D449C360A1E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服务器"/>
        </a:ext>
      </dgm:extLst>
    </dgm:pt>
    <dgm:pt modelId="{D965181C-9297-43A7-9348-51E690C5827B}" type="pres">
      <dgm:prSet presAssocID="{3FDA0C37-216F-4C1E-A084-D449C360A1E4}" presName="spaceRect" presStyleCnt="0"/>
      <dgm:spPr/>
    </dgm:pt>
    <dgm:pt modelId="{4F2BD527-7A69-453C-A362-1B878DE41469}" type="pres">
      <dgm:prSet presAssocID="{3FDA0C37-216F-4C1E-A084-D449C360A1E4}" presName="textRect" presStyleLbl="revTx" presStyleIdx="0" presStyleCnt="3">
        <dgm:presLayoutVars>
          <dgm:chMax val="1"/>
          <dgm:chPref val="1"/>
        </dgm:presLayoutVars>
      </dgm:prSet>
      <dgm:spPr/>
    </dgm:pt>
    <dgm:pt modelId="{2979BA28-EFF1-48E1-A290-924303AFCF87}" type="pres">
      <dgm:prSet presAssocID="{A624B8A9-122D-4CD9-BD51-499ECC419955}" presName="sibTrans" presStyleLbl="sibTrans2D1" presStyleIdx="0" presStyleCnt="0"/>
      <dgm:spPr/>
    </dgm:pt>
    <dgm:pt modelId="{BD60DD8B-F5B6-4390-A931-5E97D66C9C0C}" type="pres">
      <dgm:prSet presAssocID="{F7865EEA-344F-4CF7-89C2-24FDDC30C4A4}" presName="compNode" presStyleCnt="0"/>
      <dgm:spPr/>
    </dgm:pt>
    <dgm:pt modelId="{C7DBEAE4-1142-4F9B-86A6-DB8D4D622A45}" type="pres">
      <dgm:prSet presAssocID="{F7865EEA-344F-4CF7-89C2-24FDDC30C4A4}" presName="iconBgRect" presStyleLbl="bgShp" presStyleIdx="1" presStyleCnt="3"/>
      <dgm:spPr/>
    </dgm:pt>
    <dgm:pt modelId="{1104C50E-2502-457B-94CD-8347CEF8DEC1}" type="pres">
      <dgm:prSet presAssocID="{F7865EEA-344F-4CF7-89C2-24FDDC30C4A4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CF9E9C44-B6D2-453E-BEFC-8BB71362971A}" type="pres">
      <dgm:prSet presAssocID="{F7865EEA-344F-4CF7-89C2-24FDDC30C4A4}" presName="spaceRect" presStyleCnt="0"/>
      <dgm:spPr/>
    </dgm:pt>
    <dgm:pt modelId="{76F10EC3-0DD8-4A6D-92DA-4D1BB60172A1}" type="pres">
      <dgm:prSet presAssocID="{F7865EEA-344F-4CF7-89C2-24FDDC30C4A4}" presName="textRect" presStyleLbl="revTx" presStyleIdx="1" presStyleCnt="3">
        <dgm:presLayoutVars>
          <dgm:chMax val="1"/>
          <dgm:chPref val="1"/>
        </dgm:presLayoutVars>
      </dgm:prSet>
      <dgm:spPr/>
    </dgm:pt>
    <dgm:pt modelId="{C1AA340A-7DFC-4203-BFD2-ED055C4428C7}" type="pres">
      <dgm:prSet presAssocID="{9D7208A6-5884-451A-BB7D-1A6B0DEA2908}" presName="sibTrans" presStyleLbl="sibTrans2D1" presStyleIdx="0" presStyleCnt="0"/>
      <dgm:spPr/>
    </dgm:pt>
    <dgm:pt modelId="{D123015F-D959-4C84-9F00-23FDE5CBA6DC}" type="pres">
      <dgm:prSet presAssocID="{EE8B53A7-AB2B-45D6-A5BD-92C264A0B890}" presName="compNode" presStyleCnt="0"/>
      <dgm:spPr/>
    </dgm:pt>
    <dgm:pt modelId="{BBE461A2-B2E7-46DE-A126-62502E11067F}" type="pres">
      <dgm:prSet presAssocID="{EE8B53A7-AB2B-45D6-A5BD-92C264A0B890}" presName="iconBgRect" presStyleLbl="bgShp" presStyleIdx="2" presStyleCnt="3"/>
      <dgm:spPr/>
    </dgm:pt>
    <dgm:pt modelId="{FD71E8D5-16B4-415A-B0E3-81144A10AB87}" type="pres">
      <dgm:prSet presAssocID="{EE8B53A7-AB2B-45D6-A5BD-92C264A0B890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处理器"/>
        </a:ext>
      </dgm:extLst>
    </dgm:pt>
    <dgm:pt modelId="{14B1CD91-934E-49B4-A2DA-DFBBCCCD3D50}" type="pres">
      <dgm:prSet presAssocID="{EE8B53A7-AB2B-45D6-A5BD-92C264A0B890}" presName="spaceRect" presStyleCnt="0"/>
      <dgm:spPr/>
    </dgm:pt>
    <dgm:pt modelId="{5EAB437F-7FAD-4E35-8756-182559BF323E}" type="pres">
      <dgm:prSet presAssocID="{EE8B53A7-AB2B-45D6-A5BD-92C264A0B890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3D337904-0ED7-4BAE-A565-CD9B123F6916}" type="presOf" srcId="{3FDA0C37-216F-4C1E-A084-D449C360A1E4}" destId="{4F2BD527-7A69-453C-A362-1B878DE41469}" srcOrd="0" destOrd="0" presId="urn:microsoft.com/office/officeart/2018/2/layout/IconCircleList"/>
    <dgm:cxn modelId="{4ADDB31A-652C-41A2-A07E-411A5FDE4DB6}" srcId="{C8EA156B-345A-42C1-9CDC-2E5D1E0212E3}" destId="{EE8B53A7-AB2B-45D6-A5BD-92C264A0B890}" srcOrd="2" destOrd="0" parTransId="{D2FE2F98-CC6A-4A16-9955-875C4066E1DA}" sibTransId="{F5004866-44B9-4606-AE1F-C1C38D3FAEE1}"/>
    <dgm:cxn modelId="{C2C8C325-42FF-4F43-81E1-B92B68B2C968}" type="presOf" srcId="{9D7208A6-5884-451A-BB7D-1A6B0DEA2908}" destId="{C1AA340A-7DFC-4203-BFD2-ED055C4428C7}" srcOrd="0" destOrd="0" presId="urn:microsoft.com/office/officeart/2018/2/layout/IconCircleList"/>
    <dgm:cxn modelId="{E554CC43-6B15-4EFF-9AFE-DAE5CCA83E1B}" type="presOf" srcId="{C8EA156B-345A-42C1-9CDC-2E5D1E0212E3}" destId="{EA4D5ACE-EE7F-43E5-AC72-0C380F156B0D}" srcOrd="0" destOrd="0" presId="urn:microsoft.com/office/officeart/2018/2/layout/IconCircleList"/>
    <dgm:cxn modelId="{FCBB2577-D0E6-47CE-AE66-87F460096160}" type="presOf" srcId="{F7865EEA-344F-4CF7-89C2-24FDDC30C4A4}" destId="{76F10EC3-0DD8-4A6D-92DA-4D1BB60172A1}" srcOrd="0" destOrd="0" presId="urn:microsoft.com/office/officeart/2018/2/layout/IconCircleList"/>
    <dgm:cxn modelId="{4321E7AE-59D9-4BE3-8915-BA8BE48616F7}" srcId="{C8EA156B-345A-42C1-9CDC-2E5D1E0212E3}" destId="{F7865EEA-344F-4CF7-89C2-24FDDC30C4A4}" srcOrd="1" destOrd="0" parTransId="{2859EBF5-8FFB-4418-91E6-2BCA680EA307}" sibTransId="{9D7208A6-5884-451A-BB7D-1A6B0DEA2908}"/>
    <dgm:cxn modelId="{C72E15EB-6571-46E4-B6EF-E171AF0E155A}" srcId="{C8EA156B-345A-42C1-9CDC-2E5D1E0212E3}" destId="{3FDA0C37-216F-4C1E-A084-D449C360A1E4}" srcOrd="0" destOrd="0" parTransId="{E1BC69F2-107D-4195-BAA2-93BCBE1BC50B}" sibTransId="{A624B8A9-122D-4CD9-BD51-499ECC419955}"/>
    <dgm:cxn modelId="{1D1C7CF2-C03D-4542-A848-4AB055319B91}" type="presOf" srcId="{EE8B53A7-AB2B-45D6-A5BD-92C264A0B890}" destId="{5EAB437F-7FAD-4E35-8756-182559BF323E}" srcOrd="0" destOrd="0" presId="urn:microsoft.com/office/officeart/2018/2/layout/IconCircleList"/>
    <dgm:cxn modelId="{4F3B3AF5-4F88-432F-9E8E-A99C2548F50A}" type="presOf" srcId="{A624B8A9-122D-4CD9-BD51-499ECC419955}" destId="{2979BA28-EFF1-48E1-A290-924303AFCF87}" srcOrd="0" destOrd="0" presId="urn:microsoft.com/office/officeart/2018/2/layout/IconCircleList"/>
    <dgm:cxn modelId="{0E79CBA5-C71E-49B5-A868-FC8B91FABE00}" type="presParOf" srcId="{EA4D5ACE-EE7F-43E5-AC72-0C380F156B0D}" destId="{E022E521-2ECE-4B1B-B0F5-08C32447C4EC}" srcOrd="0" destOrd="0" presId="urn:microsoft.com/office/officeart/2018/2/layout/IconCircleList"/>
    <dgm:cxn modelId="{41E1D306-AFD6-494B-9311-F9E865850C7E}" type="presParOf" srcId="{E022E521-2ECE-4B1B-B0F5-08C32447C4EC}" destId="{EF2A7441-C1BC-423D-B252-E227ADA6C86F}" srcOrd="0" destOrd="0" presId="urn:microsoft.com/office/officeart/2018/2/layout/IconCircleList"/>
    <dgm:cxn modelId="{C1BF4AC1-9D50-4831-A584-47D9CFBB3541}" type="presParOf" srcId="{EF2A7441-C1BC-423D-B252-E227ADA6C86F}" destId="{93E414F9-4B36-47D2-85A4-92F2324B8007}" srcOrd="0" destOrd="0" presId="urn:microsoft.com/office/officeart/2018/2/layout/IconCircleList"/>
    <dgm:cxn modelId="{CFCE2E71-659A-4F1F-9A45-AD451397A177}" type="presParOf" srcId="{EF2A7441-C1BC-423D-B252-E227ADA6C86F}" destId="{4C075AF5-7538-474E-9456-45E782241F56}" srcOrd="1" destOrd="0" presId="urn:microsoft.com/office/officeart/2018/2/layout/IconCircleList"/>
    <dgm:cxn modelId="{19658055-0584-4CFF-83D4-ECF7958F7BA0}" type="presParOf" srcId="{EF2A7441-C1BC-423D-B252-E227ADA6C86F}" destId="{D965181C-9297-43A7-9348-51E690C5827B}" srcOrd="2" destOrd="0" presId="urn:microsoft.com/office/officeart/2018/2/layout/IconCircleList"/>
    <dgm:cxn modelId="{99A4D21E-F209-4718-B58C-BDAF7D84EE4A}" type="presParOf" srcId="{EF2A7441-C1BC-423D-B252-E227ADA6C86F}" destId="{4F2BD527-7A69-453C-A362-1B878DE41469}" srcOrd="3" destOrd="0" presId="urn:microsoft.com/office/officeart/2018/2/layout/IconCircleList"/>
    <dgm:cxn modelId="{D97055B2-7524-45C8-8C38-21CFEA467DDB}" type="presParOf" srcId="{E022E521-2ECE-4B1B-B0F5-08C32447C4EC}" destId="{2979BA28-EFF1-48E1-A290-924303AFCF87}" srcOrd="1" destOrd="0" presId="urn:microsoft.com/office/officeart/2018/2/layout/IconCircleList"/>
    <dgm:cxn modelId="{46E12E89-AFAF-4369-85C0-F436FFE37184}" type="presParOf" srcId="{E022E521-2ECE-4B1B-B0F5-08C32447C4EC}" destId="{BD60DD8B-F5B6-4390-A931-5E97D66C9C0C}" srcOrd="2" destOrd="0" presId="urn:microsoft.com/office/officeart/2018/2/layout/IconCircleList"/>
    <dgm:cxn modelId="{E8895ACA-E416-4216-A893-CEE7486F5238}" type="presParOf" srcId="{BD60DD8B-F5B6-4390-A931-5E97D66C9C0C}" destId="{C7DBEAE4-1142-4F9B-86A6-DB8D4D622A45}" srcOrd="0" destOrd="0" presId="urn:microsoft.com/office/officeart/2018/2/layout/IconCircleList"/>
    <dgm:cxn modelId="{DBC62CEF-DB3F-4361-B1DE-C3403BA1BB62}" type="presParOf" srcId="{BD60DD8B-F5B6-4390-A931-5E97D66C9C0C}" destId="{1104C50E-2502-457B-94CD-8347CEF8DEC1}" srcOrd="1" destOrd="0" presId="urn:microsoft.com/office/officeart/2018/2/layout/IconCircleList"/>
    <dgm:cxn modelId="{3A3A5307-E3FC-453F-B316-3781B5BEA0DD}" type="presParOf" srcId="{BD60DD8B-F5B6-4390-A931-5E97D66C9C0C}" destId="{CF9E9C44-B6D2-453E-BEFC-8BB71362971A}" srcOrd="2" destOrd="0" presId="urn:microsoft.com/office/officeart/2018/2/layout/IconCircleList"/>
    <dgm:cxn modelId="{1B237617-75EF-4AEA-97B9-731C90345E4D}" type="presParOf" srcId="{BD60DD8B-F5B6-4390-A931-5E97D66C9C0C}" destId="{76F10EC3-0DD8-4A6D-92DA-4D1BB60172A1}" srcOrd="3" destOrd="0" presId="urn:microsoft.com/office/officeart/2018/2/layout/IconCircleList"/>
    <dgm:cxn modelId="{790E8398-3987-49CA-BFC3-9C08A3769A99}" type="presParOf" srcId="{E022E521-2ECE-4B1B-B0F5-08C32447C4EC}" destId="{C1AA340A-7DFC-4203-BFD2-ED055C4428C7}" srcOrd="3" destOrd="0" presId="urn:microsoft.com/office/officeart/2018/2/layout/IconCircleList"/>
    <dgm:cxn modelId="{C0A6F058-A926-4FFA-9ADB-C79F7A49A7ED}" type="presParOf" srcId="{E022E521-2ECE-4B1B-B0F5-08C32447C4EC}" destId="{D123015F-D959-4C84-9F00-23FDE5CBA6DC}" srcOrd="4" destOrd="0" presId="urn:microsoft.com/office/officeart/2018/2/layout/IconCircleList"/>
    <dgm:cxn modelId="{3FFD6CD2-30A0-497D-A81D-73B16A647A5D}" type="presParOf" srcId="{D123015F-D959-4C84-9F00-23FDE5CBA6DC}" destId="{BBE461A2-B2E7-46DE-A126-62502E11067F}" srcOrd="0" destOrd="0" presId="urn:microsoft.com/office/officeart/2018/2/layout/IconCircleList"/>
    <dgm:cxn modelId="{4E1B50E6-159E-47EE-A031-5FBC107090B9}" type="presParOf" srcId="{D123015F-D959-4C84-9F00-23FDE5CBA6DC}" destId="{FD71E8D5-16B4-415A-B0E3-81144A10AB87}" srcOrd="1" destOrd="0" presId="urn:microsoft.com/office/officeart/2018/2/layout/IconCircleList"/>
    <dgm:cxn modelId="{37222604-8B15-4D56-B2FF-A7AFA6E6B924}" type="presParOf" srcId="{D123015F-D959-4C84-9F00-23FDE5CBA6DC}" destId="{14B1CD91-934E-49B4-A2DA-DFBBCCCD3D50}" srcOrd="2" destOrd="0" presId="urn:microsoft.com/office/officeart/2018/2/layout/IconCircleList"/>
    <dgm:cxn modelId="{746EF720-18CD-4C4D-9CF8-A07E66414CE0}" type="presParOf" srcId="{D123015F-D959-4C84-9F00-23FDE5CBA6DC}" destId="{5EAB437F-7FAD-4E35-8756-182559BF323E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0A5E0DA-0C7D-40F5-B443-457FE6C6BFD2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0E5FA497-F1AD-45FA-9F0A-99E297DEDF92}">
      <dgm:prSet/>
      <dgm:spPr/>
      <dgm:t>
        <a:bodyPr/>
        <a:lstStyle/>
        <a:p>
          <a:r>
            <a:rPr lang="en-US"/>
            <a:t>1. Lightweight and fast</a:t>
          </a:r>
        </a:p>
      </dgm:t>
    </dgm:pt>
    <dgm:pt modelId="{8C6EB078-FD5D-436F-8944-E4F6A07314FB}" type="parTrans" cxnId="{7D5246A1-1EF2-4F6D-9D6A-2697A1485710}">
      <dgm:prSet/>
      <dgm:spPr/>
      <dgm:t>
        <a:bodyPr/>
        <a:lstStyle/>
        <a:p>
          <a:endParaRPr lang="en-US"/>
        </a:p>
      </dgm:t>
    </dgm:pt>
    <dgm:pt modelId="{5DE38816-78FB-46EC-8CD4-295EBCFDAFAC}" type="sibTrans" cxnId="{7D5246A1-1EF2-4F6D-9D6A-2697A1485710}">
      <dgm:prSet/>
      <dgm:spPr/>
      <dgm:t>
        <a:bodyPr/>
        <a:lstStyle/>
        <a:p>
          <a:endParaRPr lang="en-US"/>
        </a:p>
      </dgm:t>
    </dgm:pt>
    <dgm:pt modelId="{3240962F-E63B-4BFA-85FF-C2815CA47395}">
      <dgm:prSet/>
      <dgm:spPr/>
      <dgm:t>
        <a:bodyPr/>
        <a:lstStyle/>
        <a:p>
          <a:r>
            <a:rPr lang="en-US"/>
            <a:t>2. Portability</a:t>
          </a:r>
        </a:p>
      </dgm:t>
    </dgm:pt>
    <dgm:pt modelId="{24826882-AAEB-413F-B301-6D71DEA77B17}" type="parTrans" cxnId="{39865A87-0074-45E6-B059-BA1C68602BDF}">
      <dgm:prSet/>
      <dgm:spPr/>
      <dgm:t>
        <a:bodyPr/>
        <a:lstStyle/>
        <a:p>
          <a:endParaRPr lang="en-US"/>
        </a:p>
      </dgm:t>
    </dgm:pt>
    <dgm:pt modelId="{B7400123-D95A-4208-BF0F-430B080347A5}" type="sibTrans" cxnId="{39865A87-0074-45E6-B059-BA1C68602BDF}">
      <dgm:prSet/>
      <dgm:spPr/>
      <dgm:t>
        <a:bodyPr/>
        <a:lstStyle/>
        <a:p>
          <a:endParaRPr lang="en-US"/>
        </a:p>
      </dgm:t>
    </dgm:pt>
    <dgm:pt modelId="{5C252316-A8FB-49D8-86DC-958D67A06821}">
      <dgm:prSet/>
      <dgm:spPr/>
      <dgm:t>
        <a:bodyPr/>
        <a:lstStyle/>
        <a:p>
          <a:r>
            <a:rPr lang="en-US"/>
            <a:t>3. Isolation</a:t>
          </a:r>
        </a:p>
      </dgm:t>
    </dgm:pt>
    <dgm:pt modelId="{16D7C50D-75EE-4A5F-B5AA-D37D48A71541}" type="parTrans" cxnId="{41DB102C-D129-4476-AD82-334BEC6DDCFA}">
      <dgm:prSet/>
      <dgm:spPr/>
      <dgm:t>
        <a:bodyPr/>
        <a:lstStyle/>
        <a:p>
          <a:endParaRPr lang="en-US"/>
        </a:p>
      </dgm:t>
    </dgm:pt>
    <dgm:pt modelId="{AD4F5245-9F63-499E-B86A-68FBC51541B9}" type="sibTrans" cxnId="{41DB102C-D129-4476-AD82-334BEC6DDCFA}">
      <dgm:prSet/>
      <dgm:spPr/>
      <dgm:t>
        <a:bodyPr/>
        <a:lstStyle/>
        <a:p>
          <a:endParaRPr lang="en-US"/>
        </a:p>
      </dgm:t>
    </dgm:pt>
    <dgm:pt modelId="{B3D3987B-2A01-473F-AF6B-2C6DBBE1E010}">
      <dgm:prSet/>
      <dgm:spPr/>
      <dgm:t>
        <a:bodyPr/>
        <a:lstStyle/>
        <a:p>
          <a:r>
            <a:rPr lang="en-US"/>
            <a:t>4. Scalability</a:t>
          </a:r>
        </a:p>
      </dgm:t>
    </dgm:pt>
    <dgm:pt modelId="{E20B6931-31FC-4699-B6EA-23046750FB65}" type="parTrans" cxnId="{4B0663D6-7EBD-4B83-88F7-21880ECC3530}">
      <dgm:prSet/>
      <dgm:spPr/>
      <dgm:t>
        <a:bodyPr/>
        <a:lstStyle/>
        <a:p>
          <a:endParaRPr lang="en-US"/>
        </a:p>
      </dgm:t>
    </dgm:pt>
    <dgm:pt modelId="{28545C07-4CBB-4713-B430-499FCE7BD74E}" type="sibTrans" cxnId="{4B0663D6-7EBD-4B83-88F7-21880ECC3530}">
      <dgm:prSet/>
      <dgm:spPr/>
      <dgm:t>
        <a:bodyPr/>
        <a:lstStyle/>
        <a:p>
          <a:endParaRPr lang="en-US"/>
        </a:p>
      </dgm:t>
    </dgm:pt>
    <dgm:pt modelId="{71C725DA-DBE0-4BB0-B4DF-0FC1F815A336}" type="pres">
      <dgm:prSet presAssocID="{C0A5E0DA-0C7D-40F5-B443-457FE6C6BFD2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F0D1C14-5912-40C6-8CB3-144637E6DC1B}" type="pres">
      <dgm:prSet presAssocID="{0E5FA497-F1AD-45FA-9F0A-99E297DEDF92}" presName="hierRoot1" presStyleCnt="0"/>
      <dgm:spPr/>
    </dgm:pt>
    <dgm:pt modelId="{6C011341-AFDA-4D49-AA3C-3D2114827E88}" type="pres">
      <dgm:prSet presAssocID="{0E5FA497-F1AD-45FA-9F0A-99E297DEDF92}" presName="composite" presStyleCnt="0"/>
      <dgm:spPr/>
    </dgm:pt>
    <dgm:pt modelId="{66E3A701-00DB-4694-AF31-B9CD51BB8B1A}" type="pres">
      <dgm:prSet presAssocID="{0E5FA497-F1AD-45FA-9F0A-99E297DEDF92}" presName="background" presStyleLbl="node0" presStyleIdx="0" presStyleCnt="4"/>
      <dgm:spPr/>
    </dgm:pt>
    <dgm:pt modelId="{86A82CF0-1D14-4C51-8616-D639364672EA}" type="pres">
      <dgm:prSet presAssocID="{0E5FA497-F1AD-45FA-9F0A-99E297DEDF92}" presName="text" presStyleLbl="fgAcc0" presStyleIdx="0" presStyleCnt="4">
        <dgm:presLayoutVars>
          <dgm:chPref val="3"/>
        </dgm:presLayoutVars>
      </dgm:prSet>
      <dgm:spPr/>
    </dgm:pt>
    <dgm:pt modelId="{8FBAB432-B1B9-4D02-AAAC-464D87580E19}" type="pres">
      <dgm:prSet presAssocID="{0E5FA497-F1AD-45FA-9F0A-99E297DEDF92}" presName="hierChild2" presStyleCnt="0"/>
      <dgm:spPr/>
    </dgm:pt>
    <dgm:pt modelId="{085888EC-5884-4CDE-B5E8-89168B75BA7C}" type="pres">
      <dgm:prSet presAssocID="{3240962F-E63B-4BFA-85FF-C2815CA47395}" presName="hierRoot1" presStyleCnt="0"/>
      <dgm:spPr/>
    </dgm:pt>
    <dgm:pt modelId="{3D73C957-25C0-47EC-BDB1-2835C8DBB78C}" type="pres">
      <dgm:prSet presAssocID="{3240962F-E63B-4BFA-85FF-C2815CA47395}" presName="composite" presStyleCnt="0"/>
      <dgm:spPr/>
    </dgm:pt>
    <dgm:pt modelId="{987175AC-123B-4CA6-B36F-19D484503756}" type="pres">
      <dgm:prSet presAssocID="{3240962F-E63B-4BFA-85FF-C2815CA47395}" presName="background" presStyleLbl="node0" presStyleIdx="1" presStyleCnt="4"/>
      <dgm:spPr/>
    </dgm:pt>
    <dgm:pt modelId="{1E71A32B-F16E-468B-B412-9B39463A4357}" type="pres">
      <dgm:prSet presAssocID="{3240962F-E63B-4BFA-85FF-C2815CA47395}" presName="text" presStyleLbl="fgAcc0" presStyleIdx="1" presStyleCnt="4">
        <dgm:presLayoutVars>
          <dgm:chPref val="3"/>
        </dgm:presLayoutVars>
      </dgm:prSet>
      <dgm:spPr/>
    </dgm:pt>
    <dgm:pt modelId="{BD2064F1-C692-40F3-9933-A8D58777FCDC}" type="pres">
      <dgm:prSet presAssocID="{3240962F-E63B-4BFA-85FF-C2815CA47395}" presName="hierChild2" presStyleCnt="0"/>
      <dgm:spPr/>
    </dgm:pt>
    <dgm:pt modelId="{48130D1A-ACD5-469A-9F54-60CC05D54B09}" type="pres">
      <dgm:prSet presAssocID="{5C252316-A8FB-49D8-86DC-958D67A06821}" presName="hierRoot1" presStyleCnt="0"/>
      <dgm:spPr/>
    </dgm:pt>
    <dgm:pt modelId="{279A2072-7B6F-4401-A2F4-DB102830317A}" type="pres">
      <dgm:prSet presAssocID="{5C252316-A8FB-49D8-86DC-958D67A06821}" presName="composite" presStyleCnt="0"/>
      <dgm:spPr/>
    </dgm:pt>
    <dgm:pt modelId="{46AE5226-C3FA-420C-A482-1F129E48829D}" type="pres">
      <dgm:prSet presAssocID="{5C252316-A8FB-49D8-86DC-958D67A06821}" presName="background" presStyleLbl="node0" presStyleIdx="2" presStyleCnt="4"/>
      <dgm:spPr/>
    </dgm:pt>
    <dgm:pt modelId="{0FCDDBD6-DB64-448A-BE28-0AB946613A7A}" type="pres">
      <dgm:prSet presAssocID="{5C252316-A8FB-49D8-86DC-958D67A06821}" presName="text" presStyleLbl="fgAcc0" presStyleIdx="2" presStyleCnt="4">
        <dgm:presLayoutVars>
          <dgm:chPref val="3"/>
        </dgm:presLayoutVars>
      </dgm:prSet>
      <dgm:spPr/>
    </dgm:pt>
    <dgm:pt modelId="{70A56003-FC3E-4A59-A4FA-4994DA101ABC}" type="pres">
      <dgm:prSet presAssocID="{5C252316-A8FB-49D8-86DC-958D67A06821}" presName="hierChild2" presStyleCnt="0"/>
      <dgm:spPr/>
    </dgm:pt>
    <dgm:pt modelId="{9E212CD0-EB80-4BBB-BD26-1DAF42AC12DF}" type="pres">
      <dgm:prSet presAssocID="{B3D3987B-2A01-473F-AF6B-2C6DBBE1E010}" presName="hierRoot1" presStyleCnt="0"/>
      <dgm:spPr/>
    </dgm:pt>
    <dgm:pt modelId="{924CBA7F-2E03-4C28-BBA7-FFCDDD7DFFE9}" type="pres">
      <dgm:prSet presAssocID="{B3D3987B-2A01-473F-AF6B-2C6DBBE1E010}" presName="composite" presStyleCnt="0"/>
      <dgm:spPr/>
    </dgm:pt>
    <dgm:pt modelId="{C2EF981F-143C-4D2A-B845-12DC35FF3143}" type="pres">
      <dgm:prSet presAssocID="{B3D3987B-2A01-473F-AF6B-2C6DBBE1E010}" presName="background" presStyleLbl="node0" presStyleIdx="3" presStyleCnt="4"/>
      <dgm:spPr/>
    </dgm:pt>
    <dgm:pt modelId="{501153A3-E30B-422A-B968-EDFC5D4E254C}" type="pres">
      <dgm:prSet presAssocID="{B3D3987B-2A01-473F-AF6B-2C6DBBE1E010}" presName="text" presStyleLbl="fgAcc0" presStyleIdx="3" presStyleCnt="4">
        <dgm:presLayoutVars>
          <dgm:chPref val="3"/>
        </dgm:presLayoutVars>
      </dgm:prSet>
      <dgm:spPr/>
    </dgm:pt>
    <dgm:pt modelId="{E4FFCCF5-8560-4CF7-A11B-AD03363427B7}" type="pres">
      <dgm:prSet presAssocID="{B3D3987B-2A01-473F-AF6B-2C6DBBE1E010}" presName="hierChild2" presStyleCnt="0"/>
      <dgm:spPr/>
    </dgm:pt>
  </dgm:ptLst>
  <dgm:cxnLst>
    <dgm:cxn modelId="{AE712A2A-B430-4D42-BAE5-E4A002D41A99}" type="presOf" srcId="{3240962F-E63B-4BFA-85FF-C2815CA47395}" destId="{1E71A32B-F16E-468B-B412-9B39463A4357}" srcOrd="0" destOrd="0" presId="urn:microsoft.com/office/officeart/2005/8/layout/hierarchy1"/>
    <dgm:cxn modelId="{41DB102C-D129-4476-AD82-334BEC6DDCFA}" srcId="{C0A5E0DA-0C7D-40F5-B443-457FE6C6BFD2}" destId="{5C252316-A8FB-49D8-86DC-958D67A06821}" srcOrd="2" destOrd="0" parTransId="{16D7C50D-75EE-4A5F-B5AA-D37D48A71541}" sibTransId="{AD4F5245-9F63-499E-B86A-68FBC51541B9}"/>
    <dgm:cxn modelId="{74288432-1C24-42E3-B449-F11957E01EF3}" type="presOf" srcId="{C0A5E0DA-0C7D-40F5-B443-457FE6C6BFD2}" destId="{71C725DA-DBE0-4BB0-B4DF-0FC1F815A336}" srcOrd="0" destOrd="0" presId="urn:microsoft.com/office/officeart/2005/8/layout/hierarchy1"/>
    <dgm:cxn modelId="{A7C0D355-6846-49F6-9DC5-8047C7B1A205}" type="presOf" srcId="{5C252316-A8FB-49D8-86DC-958D67A06821}" destId="{0FCDDBD6-DB64-448A-BE28-0AB946613A7A}" srcOrd="0" destOrd="0" presId="urn:microsoft.com/office/officeart/2005/8/layout/hierarchy1"/>
    <dgm:cxn modelId="{39865A87-0074-45E6-B059-BA1C68602BDF}" srcId="{C0A5E0DA-0C7D-40F5-B443-457FE6C6BFD2}" destId="{3240962F-E63B-4BFA-85FF-C2815CA47395}" srcOrd="1" destOrd="0" parTransId="{24826882-AAEB-413F-B301-6D71DEA77B17}" sibTransId="{B7400123-D95A-4208-BF0F-430B080347A5}"/>
    <dgm:cxn modelId="{FAF3BB96-2E2B-4257-8D2F-DD98F6E488AF}" type="presOf" srcId="{0E5FA497-F1AD-45FA-9F0A-99E297DEDF92}" destId="{86A82CF0-1D14-4C51-8616-D639364672EA}" srcOrd="0" destOrd="0" presId="urn:microsoft.com/office/officeart/2005/8/layout/hierarchy1"/>
    <dgm:cxn modelId="{7D5246A1-1EF2-4F6D-9D6A-2697A1485710}" srcId="{C0A5E0DA-0C7D-40F5-B443-457FE6C6BFD2}" destId="{0E5FA497-F1AD-45FA-9F0A-99E297DEDF92}" srcOrd="0" destOrd="0" parTransId="{8C6EB078-FD5D-436F-8944-E4F6A07314FB}" sibTransId="{5DE38816-78FB-46EC-8CD4-295EBCFDAFAC}"/>
    <dgm:cxn modelId="{A60E9FCB-2B32-4027-97EE-B2603F7410DD}" type="presOf" srcId="{B3D3987B-2A01-473F-AF6B-2C6DBBE1E010}" destId="{501153A3-E30B-422A-B968-EDFC5D4E254C}" srcOrd="0" destOrd="0" presId="urn:microsoft.com/office/officeart/2005/8/layout/hierarchy1"/>
    <dgm:cxn modelId="{4B0663D6-7EBD-4B83-88F7-21880ECC3530}" srcId="{C0A5E0DA-0C7D-40F5-B443-457FE6C6BFD2}" destId="{B3D3987B-2A01-473F-AF6B-2C6DBBE1E010}" srcOrd="3" destOrd="0" parTransId="{E20B6931-31FC-4699-B6EA-23046750FB65}" sibTransId="{28545C07-4CBB-4713-B430-499FCE7BD74E}"/>
    <dgm:cxn modelId="{6D2FB047-CEA9-4FA8-8BED-4FE0DDE03642}" type="presParOf" srcId="{71C725DA-DBE0-4BB0-B4DF-0FC1F815A336}" destId="{4F0D1C14-5912-40C6-8CB3-144637E6DC1B}" srcOrd="0" destOrd="0" presId="urn:microsoft.com/office/officeart/2005/8/layout/hierarchy1"/>
    <dgm:cxn modelId="{5CC73B13-A36E-4217-90B6-98BC4B143C1B}" type="presParOf" srcId="{4F0D1C14-5912-40C6-8CB3-144637E6DC1B}" destId="{6C011341-AFDA-4D49-AA3C-3D2114827E88}" srcOrd="0" destOrd="0" presId="urn:microsoft.com/office/officeart/2005/8/layout/hierarchy1"/>
    <dgm:cxn modelId="{55A7EBF6-B525-4EEF-87C6-60FD4AEFF879}" type="presParOf" srcId="{6C011341-AFDA-4D49-AA3C-3D2114827E88}" destId="{66E3A701-00DB-4694-AF31-B9CD51BB8B1A}" srcOrd="0" destOrd="0" presId="urn:microsoft.com/office/officeart/2005/8/layout/hierarchy1"/>
    <dgm:cxn modelId="{EC937328-E81D-495D-BDD1-A2548E8A66BA}" type="presParOf" srcId="{6C011341-AFDA-4D49-AA3C-3D2114827E88}" destId="{86A82CF0-1D14-4C51-8616-D639364672EA}" srcOrd="1" destOrd="0" presId="urn:microsoft.com/office/officeart/2005/8/layout/hierarchy1"/>
    <dgm:cxn modelId="{D79FD136-84A4-4C3E-A1CB-7950361615B2}" type="presParOf" srcId="{4F0D1C14-5912-40C6-8CB3-144637E6DC1B}" destId="{8FBAB432-B1B9-4D02-AAAC-464D87580E19}" srcOrd="1" destOrd="0" presId="urn:microsoft.com/office/officeart/2005/8/layout/hierarchy1"/>
    <dgm:cxn modelId="{B78BA7EE-79F2-4AC6-85FE-D1F22D1713D9}" type="presParOf" srcId="{71C725DA-DBE0-4BB0-B4DF-0FC1F815A336}" destId="{085888EC-5884-4CDE-B5E8-89168B75BA7C}" srcOrd="1" destOrd="0" presId="urn:microsoft.com/office/officeart/2005/8/layout/hierarchy1"/>
    <dgm:cxn modelId="{60B4C7E8-B823-4742-85FB-D54BEF46F4C6}" type="presParOf" srcId="{085888EC-5884-4CDE-B5E8-89168B75BA7C}" destId="{3D73C957-25C0-47EC-BDB1-2835C8DBB78C}" srcOrd="0" destOrd="0" presId="urn:microsoft.com/office/officeart/2005/8/layout/hierarchy1"/>
    <dgm:cxn modelId="{CBDD93BD-A06C-48A5-99BF-2C61882FACF1}" type="presParOf" srcId="{3D73C957-25C0-47EC-BDB1-2835C8DBB78C}" destId="{987175AC-123B-4CA6-B36F-19D484503756}" srcOrd="0" destOrd="0" presId="urn:microsoft.com/office/officeart/2005/8/layout/hierarchy1"/>
    <dgm:cxn modelId="{96D3FC39-3333-449A-85CD-4B203C96BFFE}" type="presParOf" srcId="{3D73C957-25C0-47EC-BDB1-2835C8DBB78C}" destId="{1E71A32B-F16E-468B-B412-9B39463A4357}" srcOrd="1" destOrd="0" presId="urn:microsoft.com/office/officeart/2005/8/layout/hierarchy1"/>
    <dgm:cxn modelId="{F26FC289-5272-42C6-9D39-5CE36DD15178}" type="presParOf" srcId="{085888EC-5884-4CDE-B5E8-89168B75BA7C}" destId="{BD2064F1-C692-40F3-9933-A8D58777FCDC}" srcOrd="1" destOrd="0" presId="urn:microsoft.com/office/officeart/2005/8/layout/hierarchy1"/>
    <dgm:cxn modelId="{273B14CF-19CB-4369-AEBC-3D0AADA64C37}" type="presParOf" srcId="{71C725DA-DBE0-4BB0-B4DF-0FC1F815A336}" destId="{48130D1A-ACD5-469A-9F54-60CC05D54B09}" srcOrd="2" destOrd="0" presId="urn:microsoft.com/office/officeart/2005/8/layout/hierarchy1"/>
    <dgm:cxn modelId="{77F46BDA-DD02-4B5E-B72D-4ABD5A508EE2}" type="presParOf" srcId="{48130D1A-ACD5-469A-9F54-60CC05D54B09}" destId="{279A2072-7B6F-4401-A2F4-DB102830317A}" srcOrd="0" destOrd="0" presId="urn:microsoft.com/office/officeart/2005/8/layout/hierarchy1"/>
    <dgm:cxn modelId="{8DF72FFC-3CFE-41C8-B8EE-BF5CF3DA883E}" type="presParOf" srcId="{279A2072-7B6F-4401-A2F4-DB102830317A}" destId="{46AE5226-C3FA-420C-A482-1F129E48829D}" srcOrd="0" destOrd="0" presId="urn:microsoft.com/office/officeart/2005/8/layout/hierarchy1"/>
    <dgm:cxn modelId="{AC2A6242-EFC1-46C7-8A10-D7AF3083B18C}" type="presParOf" srcId="{279A2072-7B6F-4401-A2F4-DB102830317A}" destId="{0FCDDBD6-DB64-448A-BE28-0AB946613A7A}" srcOrd="1" destOrd="0" presId="urn:microsoft.com/office/officeart/2005/8/layout/hierarchy1"/>
    <dgm:cxn modelId="{E4C650B7-8DEB-4F2C-AFA8-CDA00EE91EFB}" type="presParOf" srcId="{48130D1A-ACD5-469A-9F54-60CC05D54B09}" destId="{70A56003-FC3E-4A59-A4FA-4994DA101ABC}" srcOrd="1" destOrd="0" presId="urn:microsoft.com/office/officeart/2005/8/layout/hierarchy1"/>
    <dgm:cxn modelId="{4C8856B5-D3AF-4D9B-8C3F-4BA2E51F3D7B}" type="presParOf" srcId="{71C725DA-DBE0-4BB0-B4DF-0FC1F815A336}" destId="{9E212CD0-EB80-4BBB-BD26-1DAF42AC12DF}" srcOrd="3" destOrd="0" presId="urn:microsoft.com/office/officeart/2005/8/layout/hierarchy1"/>
    <dgm:cxn modelId="{D32D78BA-8DFD-4D1C-A172-BDF694CA014C}" type="presParOf" srcId="{9E212CD0-EB80-4BBB-BD26-1DAF42AC12DF}" destId="{924CBA7F-2E03-4C28-BBA7-FFCDDD7DFFE9}" srcOrd="0" destOrd="0" presId="urn:microsoft.com/office/officeart/2005/8/layout/hierarchy1"/>
    <dgm:cxn modelId="{248C9F68-5D43-4F05-9F52-A73E3F62C02B}" type="presParOf" srcId="{924CBA7F-2E03-4C28-BBA7-FFCDDD7DFFE9}" destId="{C2EF981F-143C-4D2A-B845-12DC35FF3143}" srcOrd="0" destOrd="0" presId="urn:microsoft.com/office/officeart/2005/8/layout/hierarchy1"/>
    <dgm:cxn modelId="{07B1FC6F-EB63-46AA-ABE2-8901615FFB25}" type="presParOf" srcId="{924CBA7F-2E03-4C28-BBA7-FFCDDD7DFFE9}" destId="{501153A3-E30B-422A-B968-EDFC5D4E254C}" srcOrd="1" destOrd="0" presId="urn:microsoft.com/office/officeart/2005/8/layout/hierarchy1"/>
    <dgm:cxn modelId="{97AEBBBC-7129-4043-A615-BD7DF34D5723}" type="presParOf" srcId="{9E212CD0-EB80-4BBB-BD26-1DAF42AC12DF}" destId="{E4FFCCF5-8560-4CF7-A11B-AD03363427B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E414F9-4B36-47D2-85A4-92F2324B8007}">
      <dsp:nvSpPr>
        <dsp:cNvPr id="0" name=""/>
        <dsp:cNvSpPr/>
      </dsp:nvSpPr>
      <dsp:spPr>
        <a:xfrm>
          <a:off x="82613" y="1727046"/>
          <a:ext cx="897246" cy="897246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C075AF5-7538-474E-9456-45E782241F56}">
      <dsp:nvSpPr>
        <dsp:cNvPr id="0" name=""/>
        <dsp:cNvSpPr/>
      </dsp:nvSpPr>
      <dsp:spPr>
        <a:xfrm>
          <a:off x="271034" y="1915467"/>
          <a:ext cx="520402" cy="52040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2BD527-7A69-453C-A362-1B878DE41469}">
      <dsp:nvSpPr>
        <dsp:cNvPr id="0" name=""/>
        <dsp:cNvSpPr/>
      </dsp:nvSpPr>
      <dsp:spPr>
        <a:xfrm>
          <a:off x="1172126" y="1727046"/>
          <a:ext cx="2114937" cy="8972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Docker is an open platform for developing, shipping, and running applications. It enables you to </a:t>
          </a:r>
          <a:r>
            <a:rPr lang="en-US" sz="1100" b="1" kern="1200"/>
            <a:t>separate your applications from your infrastructure</a:t>
          </a:r>
          <a:r>
            <a:rPr lang="en-US" sz="1100" kern="1200"/>
            <a:t> so you can deliver software quickly.</a:t>
          </a:r>
        </a:p>
      </dsp:txBody>
      <dsp:txXfrm>
        <a:off x="1172126" y="1727046"/>
        <a:ext cx="2114937" cy="897246"/>
      </dsp:txXfrm>
    </dsp:sp>
    <dsp:sp modelId="{C7DBEAE4-1142-4F9B-86A6-DB8D4D622A45}">
      <dsp:nvSpPr>
        <dsp:cNvPr id="0" name=""/>
        <dsp:cNvSpPr/>
      </dsp:nvSpPr>
      <dsp:spPr>
        <a:xfrm>
          <a:off x="3655575" y="1727046"/>
          <a:ext cx="897246" cy="897246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04C50E-2502-457B-94CD-8347CEF8DEC1}">
      <dsp:nvSpPr>
        <dsp:cNvPr id="0" name=""/>
        <dsp:cNvSpPr/>
      </dsp:nvSpPr>
      <dsp:spPr>
        <a:xfrm>
          <a:off x="3843996" y="1915467"/>
          <a:ext cx="520402" cy="52040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F10EC3-0DD8-4A6D-92DA-4D1BB60172A1}">
      <dsp:nvSpPr>
        <dsp:cNvPr id="0" name=""/>
        <dsp:cNvSpPr/>
      </dsp:nvSpPr>
      <dsp:spPr>
        <a:xfrm>
          <a:off x="4745088" y="1727046"/>
          <a:ext cx="2114937" cy="8972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0" kern="1200" cap="none" spc="0"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rPr>
            <a:t>With Docker, you can package an application and all its dependencies—such as libraries, binaries, and configuration files—into a standardized unit called a container. Containers are lightweight, portable, and isolated, ensuring that your application runs consistently across different environments, whether it’s a developer’s laptop, a test server, or a cloud production system.</a:t>
          </a:r>
        </a:p>
      </dsp:txBody>
      <dsp:txXfrm>
        <a:off x="4745088" y="1727046"/>
        <a:ext cx="2114937" cy="897246"/>
      </dsp:txXfrm>
    </dsp:sp>
    <dsp:sp modelId="{BBE461A2-B2E7-46DE-A126-62502E11067F}">
      <dsp:nvSpPr>
        <dsp:cNvPr id="0" name=""/>
        <dsp:cNvSpPr/>
      </dsp:nvSpPr>
      <dsp:spPr>
        <a:xfrm>
          <a:off x="7228536" y="1727046"/>
          <a:ext cx="897246" cy="897246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71E8D5-16B4-415A-B0E3-81144A10AB87}">
      <dsp:nvSpPr>
        <dsp:cNvPr id="0" name=""/>
        <dsp:cNvSpPr/>
      </dsp:nvSpPr>
      <dsp:spPr>
        <a:xfrm>
          <a:off x="7416958" y="1915467"/>
          <a:ext cx="520402" cy="52040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AB437F-7FAD-4E35-8756-182559BF323E}">
      <dsp:nvSpPr>
        <dsp:cNvPr id="0" name=""/>
        <dsp:cNvSpPr/>
      </dsp:nvSpPr>
      <dsp:spPr>
        <a:xfrm>
          <a:off x="8318049" y="1727046"/>
          <a:ext cx="2114937" cy="8972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Unlike virtual machines, Docker containers share the host operating system kernel, making them faster to start and more efficient in resource usage. Docker provides tools and a platform to manage the full lifecycle of containers: build, distribute, deploy, and update them easily.</a:t>
          </a:r>
        </a:p>
      </dsp:txBody>
      <dsp:txXfrm>
        <a:off x="8318049" y="1727046"/>
        <a:ext cx="2114937" cy="89724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E3A701-00DB-4694-AF31-B9CD51BB8B1A}">
      <dsp:nvSpPr>
        <dsp:cNvPr id="0" name=""/>
        <dsp:cNvSpPr/>
      </dsp:nvSpPr>
      <dsp:spPr>
        <a:xfrm>
          <a:off x="3201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A82CF0-1D14-4C51-8616-D639364672EA}">
      <dsp:nvSpPr>
        <dsp:cNvPr id="0" name=""/>
        <dsp:cNvSpPr/>
      </dsp:nvSpPr>
      <dsp:spPr>
        <a:xfrm>
          <a:off x="257188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1. Lightweight and fast</a:t>
          </a:r>
        </a:p>
      </dsp:txBody>
      <dsp:txXfrm>
        <a:off x="299702" y="1282093"/>
        <a:ext cx="2200851" cy="1366505"/>
      </dsp:txXfrm>
    </dsp:sp>
    <dsp:sp modelId="{987175AC-123B-4CA6-B36F-19D484503756}">
      <dsp:nvSpPr>
        <dsp:cNvPr id="0" name=""/>
        <dsp:cNvSpPr/>
      </dsp:nvSpPr>
      <dsp:spPr>
        <a:xfrm>
          <a:off x="2797054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E71A32B-F16E-468B-B412-9B39463A4357}">
      <dsp:nvSpPr>
        <dsp:cNvPr id="0" name=""/>
        <dsp:cNvSpPr/>
      </dsp:nvSpPr>
      <dsp:spPr>
        <a:xfrm>
          <a:off x="3051041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2. Portability</a:t>
          </a:r>
        </a:p>
      </dsp:txBody>
      <dsp:txXfrm>
        <a:off x="3093555" y="1282093"/>
        <a:ext cx="2200851" cy="1366505"/>
      </dsp:txXfrm>
    </dsp:sp>
    <dsp:sp modelId="{46AE5226-C3FA-420C-A482-1F129E48829D}">
      <dsp:nvSpPr>
        <dsp:cNvPr id="0" name=""/>
        <dsp:cNvSpPr/>
      </dsp:nvSpPr>
      <dsp:spPr>
        <a:xfrm>
          <a:off x="5590907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CDDBD6-DB64-448A-BE28-0AB946613A7A}">
      <dsp:nvSpPr>
        <dsp:cNvPr id="0" name=""/>
        <dsp:cNvSpPr/>
      </dsp:nvSpPr>
      <dsp:spPr>
        <a:xfrm>
          <a:off x="5844894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3. Isolation</a:t>
          </a:r>
        </a:p>
      </dsp:txBody>
      <dsp:txXfrm>
        <a:off x="5887408" y="1282093"/>
        <a:ext cx="2200851" cy="1366505"/>
      </dsp:txXfrm>
    </dsp:sp>
    <dsp:sp modelId="{C2EF981F-143C-4D2A-B845-12DC35FF3143}">
      <dsp:nvSpPr>
        <dsp:cNvPr id="0" name=""/>
        <dsp:cNvSpPr/>
      </dsp:nvSpPr>
      <dsp:spPr>
        <a:xfrm>
          <a:off x="8384760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1153A3-E30B-422A-B968-EDFC5D4E254C}">
      <dsp:nvSpPr>
        <dsp:cNvPr id="0" name=""/>
        <dsp:cNvSpPr/>
      </dsp:nvSpPr>
      <dsp:spPr>
        <a:xfrm>
          <a:off x="8638747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4. Scalability</a:t>
          </a:r>
        </a:p>
      </dsp:txBody>
      <dsp:txXfrm>
        <a:off x="8681261" y="1282093"/>
        <a:ext cx="2200851" cy="136650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4487C1-9010-7C46-CDA6-055F8FC949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D89897E-3EF7-7BE6-644B-885399416D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25950CC-EDB2-EB4F-EEC6-784275E81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3/3/2026</a:t>
            </a:fld>
            <a:endParaRPr lang="en-US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FADF17B-419B-BCB9-2A36-EF36981AE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8B772F3-DC37-8F70-F892-068A4A2C7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2729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505D64-C5CF-A09F-8ED3-F981E859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6A62E2C-9F8C-1455-9791-BD216549E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E9748A-0903-65A7-392C-05B04A760F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3/3/2026</a:t>
            </a:fld>
            <a:endParaRPr lang="en-US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B94D83E-4D9B-7B53-9DBD-9EBB4F6E6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51A6D11-0E2E-FF79-F67B-4919C78C6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42863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291113-681D-312D-30E6-285D1AD6CD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AF94131-46E8-40D6-6787-15C8592FE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B414347-A1C2-A50B-10B9-872E6F775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3/3/2026</a:t>
            </a:fld>
            <a:endParaRPr lang="en-US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161DC52-DFA9-C77D-7724-E64A3BAA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C298D9-71F2-95CB-AB07-1B4DC2D7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45719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8AB550-29E0-9C47-58B1-646687F2B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5966668-C66F-678F-86F5-5E98F8D404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1988274-CC63-3351-38A1-B9FF3CD658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AE209FA-2667-A7D1-9D27-D88620044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3/3/2026</a:t>
            </a:fld>
            <a:endParaRPr lang="en-US" dirty="0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E8610D2-F98C-51E9-AB98-E90E5E033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A37780A-4586-586E-2CA5-14906F320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16630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5DCE70-F945-7C1B-4B13-7B7646E7FC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FC0D845-2D51-D52F-D28A-DD37A70A59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E68993-C202-4FC5-ACBB-8C0BA296F4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E2CF317-5DAA-B81E-3FF3-4F847833FA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C1CA87-F0D6-ACCB-87DD-48401D5F0A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F35C3A2-6F7E-0B3F-7AE5-5890F91C2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3/3/2026</a:t>
            </a:fld>
            <a:endParaRPr lang="en-US" dirty="0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46D9FE2-36E9-75FC-59D0-D3E25155D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A023B8-F943-2197-F39E-98B7FDB48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6449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B1FF67-4454-344B-9359-87FCF60FA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DE6AF1A-F48A-D9A8-DA22-FE041DD38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3/3/2026</a:t>
            </a:fld>
            <a:endParaRPr lang="en-US" dirty="0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A4A09DC-FC0F-0A85-258F-CBC0B73FB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53F1B15-27C0-A3AC-801F-0F980AF54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37340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55D4A36-917B-C5FA-3EEA-3AD4F4232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3/3/2026</a:t>
            </a:fld>
            <a:endParaRPr lang="en-US" dirty="0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3AA2BEF-BA65-ED28-F39D-7FE0E52C7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DDAC9A9-8852-1CD2-C357-165DFD6B8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4841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C257D2-6AD7-836B-9591-9C8CBDD16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EA6B57C-F1D5-9169-B789-40107A2F8D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E660276-743A-A6B9-5E2B-745261DC23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49EB38F-B98B-283A-555B-CE3FDFA1C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3/3/2026</a:t>
            </a:fld>
            <a:endParaRPr lang="en-US" dirty="0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D8E06CA-FBAD-5B85-D057-A692C271B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C70BB28-0F34-BDCF-5B1E-5620C210F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48686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CDA0BF-6D27-D287-F61B-BDB3C1BF9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ADB6369-F377-025D-6A26-C7E8323F2C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73A12A3-90AE-AE9E-BF7C-C26AF65B1E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9A86986-0CAB-6A3E-32B3-80D1D1A541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3/3/2026</a:t>
            </a:fld>
            <a:endParaRPr lang="en-US" dirty="0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FB85B48-DD4C-AF49-03D6-FE0FF9FAED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EA4E763-F79F-1E7A-E68D-D3A520271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0289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42F3E4-5D0F-9780-8FAE-FFB71E5AD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C5DDCF9-C147-704F-2782-0F5C02855A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E481ED-890B-61E1-1D6E-BA4ADF33D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3/3/2026</a:t>
            </a:fld>
            <a:endParaRPr lang="en-US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F15E81E-F0FB-F5FF-7B61-D4BC5A8BC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5CD78D1-9266-5635-21C1-C524FA70F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9711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CA30AA3-41F3-E644-D8EA-D745AFC18C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C354D6C-0516-B382-99DA-48778C6EA4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7524FD8-81CB-BA03-24E1-C08B6802E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3/3/2026</a:t>
            </a:fld>
            <a:endParaRPr lang="en-US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341641-45FD-32AD-0646-1C9C96C89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F69C743-E057-BA8A-43D0-C1DCC7992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89048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90701BC-4A1D-E65D-1AD6-1FB5EF6E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D027CFA-ED60-B8D6-23F5-F3E09B448D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72028B7-2CC5-E9C8-2DC6-1438831E5A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r"/>
            <a:fld id="{53BEF823-48A5-43FC-BE03-E79964288B41}" type="datetimeFigureOut">
              <a:rPr lang="en-US" smtClean="0"/>
              <a:pPr algn="r"/>
              <a:t>3/3/2026</a:t>
            </a:fld>
            <a:endParaRPr lang="en-US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C40BAE1-87EE-3261-6CBE-AC2ADFFD62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l"/>
            <a:endParaRPr 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C60723A-5A48-772B-0D34-51F3F66C1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0966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  <p:sldLayoutId id="2147483744" r:id="rId8"/>
    <p:sldLayoutId id="2147483745" r:id="rId9"/>
    <p:sldLayoutId id="2147483746" r:id="rId10"/>
    <p:sldLayoutId id="214748374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 descr="干货 | 一文搞定 Docker 容器技术与常用命令 -阿里云开发者社区">
            <a:extLst>
              <a:ext uri="{FF2B5EF4-FFF2-40B4-BE49-F238E27FC236}">
                <a16:creationId xmlns:a16="http://schemas.microsoft.com/office/drawing/2014/main" id="{6ABACC6B-559E-E5B3-539D-78A04352F5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01" r="25372"/>
          <a:stretch>
            <a:fillRect/>
          </a:stretch>
        </p:blipFill>
        <p:spPr bwMode="auto">
          <a:xfrm>
            <a:off x="1" y="10"/>
            <a:ext cx="966964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5" name="Rectangle 1034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619E0C7-D7FF-02E3-734B-18BCA86C3A92}"/>
              </a:ext>
            </a:extLst>
          </p:cNvPr>
          <p:cNvSpPr txBox="1"/>
          <p:nvPr/>
        </p:nvSpPr>
        <p:spPr>
          <a:xfrm>
            <a:off x="7935402" y="743447"/>
            <a:ext cx="3915222" cy="3692028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zh-CN" sz="5200" spc="100" dirty="0">
                <a:latin typeface="+mj-lt"/>
                <a:ea typeface="+mj-ea"/>
                <a:cs typeface="+mj-cs"/>
              </a:rPr>
              <a:t>Introduction to Docker</a:t>
            </a:r>
          </a:p>
        </p:txBody>
      </p:sp>
    </p:spTree>
    <p:extLst>
      <p:ext uri="{BB962C8B-B14F-4D97-AF65-F5344CB8AC3E}">
        <p14:creationId xmlns:p14="http://schemas.microsoft.com/office/powerpoint/2010/main" val="19727625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立体电脑的简笔画怎么画（汇总10张）_简笔画图片大全">
            <a:extLst>
              <a:ext uri="{FF2B5EF4-FFF2-40B4-BE49-F238E27FC236}">
                <a16:creationId xmlns:a16="http://schemas.microsoft.com/office/drawing/2014/main" id="{4A4D61E0-330F-6928-82E8-376DA74F35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8014" y="497397"/>
            <a:ext cx="1894293" cy="2844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15B9DF86-A99A-F003-26CA-152E68FC77D1}"/>
              </a:ext>
            </a:extLst>
          </p:cNvPr>
          <p:cNvSpPr txBox="1"/>
          <p:nvPr/>
        </p:nvSpPr>
        <p:spPr>
          <a:xfrm>
            <a:off x="1609074" y="3642970"/>
            <a:ext cx="1632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Equipment  A</a:t>
            </a:r>
            <a:endParaRPr lang="zh-CN" altLang="en-US" dirty="0"/>
          </a:p>
        </p:txBody>
      </p:sp>
      <p:pic>
        <p:nvPicPr>
          <p:cNvPr id="5" name="Picture 2" descr="立体电脑的简笔画怎么画（汇总10张）_简笔画图片大全">
            <a:extLst>
              <a:ext uri="{FF2B5EF4-FFF2-40B4-BE49-F238E27FC236}">
                <a16:creationId xmlns:a16="http://schemas.microsoft.com/office/drawing/2014/main" id="{24671658-66ED-ACDE-F0EF-DB788E9A16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9693" y="497397"/>
            <a:ext cx="1894293" cy="2844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819A7B77-08F2-FDD0-5831-C4778136F5AE}"/>
              </a:ext>
            </a:extLst>
          </p:cNvPr>
          <p:cNvSpPr txBox="1"/>
          <p:nvPr/>
        </p:nvSpPr>
        <p:spPr>
          <a:xfrm>
            <a:off x="9025795" y="3642971"/>
            <a:ext cx="1472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Equipment</a:t>
            </a:r>
            <a:r>
              <a:rPr lang="zh-CN" altLang="en-US" dirty="0"/>
              <a:t> </a:t>
            </a:r>
            <a:r>
              <a:rPr lang="en-US" altLang="zh-CN" dirty="0"/>
              <a:t>B</a:t>
            </a:r>
            <a:endParaRPr lang="zh-CN" altLang="en-US" dirty="0"/>
          </a:p>
        </p:txBody>
      </p:sp>
      <p:pic>
        <p:nvPicPr>
          <p:cNvPr id="8" name="图片 7" descr="图片包含 游戏机, 镜子&#10;&#10;AI 生成的内容可能不正确。">
            <a:extLst>
              <a:ext uri="{FF2B5EF4-FFF2-40B4-BE49-F238E27FC236}">
                <a16:creationId xmlns:a16="http://schemas.microsoft.com/office/drawing/2014/main" id="{53422CC3-1A35-49D1-3749-9E15E3AE9D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437" y="3642970"/>
            <a:ext cx="2143125" cy="173990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B8CC2F63-910E-AFC8-9F57-300F9B1BDDC7}"/>
              </a:ext>
            </a:extLst>
          </p:cNvPr>
          <p:cNvSpPr txBox="1"/>
          <p:nvPr/>
        </p:nvSpPr>
        <p:spPr>
          <a:xfrm>
            <a:off x="4962790" y="5661475"/>
            <a:ext cx="2266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Project</a:t>
            </a:r>
            <a:r>
              <a:rPr lang="zh-CN" altLang="en-US" dirty="0"/>
              <a:t> </a:t>
            </a:r>
            <a:r>
              <a:rPr lang="en-US" altLang="zh-CN" dirty="0"/>
              <a:t>document</a:t>
            </a:r>
            <a:r>
              <a:rPr lang="zh-CN" altLang="en-US" dirty="0"/>
              <a:t> </a:t>
            </a:r>
            <a:r>
              <a:rPr lang="en-US" altLang="zh-CN" dirty="0"/>
              <a:t>file</a:t>
            </a:r>
            <a:endParaRPr lang="zh-CN" altLang="en-US" dirty="0"/>
          </a:p>
        </p:txBody>
      </p:sp>
      <p:sp>
        <p:nvSpPr>
          <p:cNvPr id="12" name="箭头: 右 11">
            <a:extLst>
              <a:ext uri="{FF2B5EF4-FFF2-40B4-BE49-F238E27FC236}">
                <a16:creationId xmlns:a16="http://schemas.microsoft.com/office/drawing/2014/main" id="{C577BED7-D191-94E4-A6C4-7C8C9519677E}"/>
              </a:ext>
            </a:extLst>
          </p:cNvPr>
          <p:cNvSpPr/>
          <p:nvPr/>
        </p:nvSpPr>
        <p:spPr>
          <a:xfrm rot="3253689">
            <a:off x="3575301" y="2477065"/>
            <a:ext cx="1472859" cy="95050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箭头: 右 12">
            <a:extLst>
              <a:ext uri="{FF2B5EF4-FFF2-40B4-BE49-F238E27FC236}">
                <a16:creationId xmlns:a16="http://schemas.microsoft.com/office/drawing/2014/main" id="{A6286F44-BD16-9B14-3242-4E24F5201ED7}"/>
              </a:ext>
            </a:extLst>
          </p:cNvPr>
          <p:cNvSpPr/>
          <p:nvPr/>
        </p:nvSpPr>
        <p:spPr>
          <a:xfrm rot="18710958">
            <a:off x="7143840" y="2384732"/>
            <a:ext cx="1472859" cy="95050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18798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37DF07-1C1F-0EB4-3C68-3F8EB2B02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694" y="490470"/>
            <a:ext cx="2722611" cy="132681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spc="100" dirty="0"/>
              <a:t>Content</a:t>
            </a:r>
          </a:p>
        </p:txBody>
      </p:sp>
      <p:sp>
        <p:nvSpPr>
          <p:cNvPr id="34" name="Content Placeholder 33">
            <a:extLst>
              <a:ext uri="{FF2B5EF4-FFF2-40B4-BE49-F238E27FC236}">
                <a16:creationId xmlns:a16="http://schemas.microsoft.com/office/drawing/2014/main" id="{04817F2E-ACDE-E2E9-28B7-F78B2A143A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18283" y="1962915"/>
            <a:ext cx="3541205" cy="4400412"/>
          </a:xfrm>
        </p:spPr>
        <p:txBody>
          <a:bodyPr>
            <a:no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altLang="zh-CN" sz="1800" dirty="0"/>
              <a:t>1.Basic introduction to Docker</a:t>
            </a:r>
          </a:p>
          <a:p>
            <a:pPr lvl="1">
              <a:lnSpc>
                <a:spcPct val="102000"/>
              </a:lnSpc>
            </a:pPr>
            <a:endParaRPr lang="en-US" altLang="zh-CN" dirty="0"/>
          </a:p>
          <a:p>
            <a:pPr marL="0" indent="0">
              <a:lnSpc>
                <a:spcPct val="102000"/>
              </a:lnSpc>
              <a:buNone/>
            </a:pPr>
            <a:r>
              <a:rPr lang="en-US" altLang="zh-CN" sz="1800" dirty="0"/>
              <a:t>2.Origin of Docker</a:t>
            </a:r>
          </a:p>
          <a:p>
            <a:pPr>
              <a:lnSpc>
                <a:spcPct val="102000"/>
              </a:lnSpc>
            </a:pPr>
            <a:endParaRPr lang="en-US" altLang="zh-CN" sz="1800" dirty="0"/>
          </a:p>
          <a:p>
            <a:pPr marL="0" indent="0">
              <a:lnSpc>
                <a:spcPct val="102000"/>
              </a:lnSpc>
              <a:buNone/>
            </a:pPr>
            <a:r>
              <a:rPr lang="en-US" altLang="zh-CN" sz="1800" dirty="0"/>
              <a:t>3.Advantage of Docker</a:t>
            </a:r>
          </a:p>
          <a:p>
            <a:pPr marL="342900" indent="-342900">
              <a:lnSpc>
                <a:spcPct val="102000"/>
              </a:lnSpc>
              <a:buAutoNum type="arabicPeriod"/>
            </a:pPr>
            <a:endParaRPr lang="en-US" altLang="zh-CN" sz="1800" dirty="0"/>
          </a:p>
          <a:p>
            <a:pPr marL="0" indent="0">
              <a:lnSpc>
                <a:spcPct val="102000"/>
              </a:lnSpc>
              <a:buNone/>
            </a:pPr>
            <a:r>
              <a:rPr lang="en-US" altLang="zh-CN" sz="1800" dirty="0"/>
              <a:t>4.Basic structure of Docker</a:t>
            </a:r>
          </a:p>
          <a:p>
            <a:pPr marL="342900" indent="-342900">
              <a:lnSpc>
                <a:spcPct val="102000"/>
              </a:lnSpc>
              <a:buAutoNum type="arabicPeriod"/>
            </a:pPr>
            <a:endParaRPr lang="en-US" altLang="zh-CN" sz="1800" dirty="0"/>
          </a:p>
          <a:p>
            <a:pPr marL="0" indent="0">
              <a:lnSpc>
                <a:spcPct val="102000"/>
              </a:lnSpc>
              <a:buNone/>
            </a:pPr>
            <a:r>
              <a:rPr lang="en-US" altLang="zh-CN" sz="1800" dirty="0"/>
              <a:t>5.Workflow and related concept of Docker</a:t>
            </a:r>
          </a:p>
          <a:p>
            <a:pPr marL="342900" indent="-342900">
              <a:lnSpc>
                <a:spcPct val="102000"/>
              </a:lnSpc>
              <a:buAutoNum type="arabicPeriod"/>
            </a:pPr>
            <a:endParaRPr lang="en-US" altLang="zh-CN" sz="1800" dirty="0"/>
          </a:p>
          <a:p>
            <a:pPr marL="0" indent="0">
              <a:lnSpc>
                <a:spcPct val="102000"/>
              </a:lnSpc>
              <a:buNone/>
            </a:pPr>
            <a:r>
              <a:rPr lang="en-US" altLang="zh-CN" sz="1800" dirty="0"/>
              <a:t>6.Foundamental operations of Docker</a:t>
            </a:r>
            <a:endParaRPr lang="zh-CN" altLang="en-US" sz="1800" dirty="0"/>
          </a:p>
        </p:txBody>
      </p:sp>
      <p:pic>
        <p:nvPicPr>
          <p:cNvPr id="4" name="Picture 4" descr="干货 | 一文搞定 Docker 容器技术与常用命令 -阿里云开发者社区">
            <a:extLst>
              <a:ext uri="{FF2B5EF4-FFF2-40B4-BE49-F238E27FC236}">
                <a16:creationId xmlns:a16="http://schemas.microsoft.com/office/drawing/2014/main" id="{7D87276C-F54D-5C76-954C-168469DB0A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567" r="21540" b="1"/>
          <a:stretch>
            <a:fillRect/>
          </a:stretch>
        </p:blipFill>
        <p:spPr bwMode="auto">
          <a:xfrm>
            <a:off x="42979" y="2134795"/>
            <a:ext cx="7534635" cy="4670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614111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 descr="干货 | 一文搞定 Docker 容器技术与常用命令 -阿里云开发者社区">
            <a:extLst>
              <a:ext uri="{FF2B5EF4-FFF2-40B4-BE49-F238E27FC236}">
                <a16:creationId xmlns:a16="http://schemas.microsoft.com/office/drawing/2014/main" id="{CAA3DF80-5401-CE3C-1FDC-E9715F475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59" r="18430"/>
          <a:stretch>
            <a:fillRect/>
          </a:stretch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30037758-4B5A-B14C-2B0A-F738B9B88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965200"/>
            <a:ext cx="10261600" cy="35648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8900">
                <a:ln w="22225">
                  <a:solidFill>
                    <a:schemeClr val="tx1"/>
                  </a:solidFill>
                  <a:miter lim="800000"/>
                </a:ln>
                <a:noFill/>
              </a:rPr>
              <a:t>1.Basic introduction to Docker</a:t>
            </a:r>
          </a:p>
        </p:txBody>
      </p:sp>
    </p:spTree>
    <p:extLst>
      <p:ext uri="{BB962C8B-B14F-4D97-AF65-F5344CB8AC3E}">
        <p14:creationId xmlns:p14="http://schemas.microsoft.com/office/powerpoint/2010/main" val="31590089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C4028FD-8BAA-4A19-BFDE-594D991B75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BB39C718-38D6-39E5-1F84-D7DEA15AB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6995"/>
            <a:ext cx="10515600" cy="1133693"/>
          </a:xfrm>
        </p:spPr>
        <p:txBody>
          <a:bodyPr>
            <a:normAutofit/>
          </a:bodyPr>
          <a:lstStyle/>
          <a:p>
            <a:r>
              <a:rPr lang="en-US" altLang="zh-CN" sz="5200"/>
              <a:t>What</a:t>
            </a:r>
            <a:r>
              <a:rPr lang="zh-CN" altLang="en-US" sz="5200"/>
              <a:t> </a:t>
            </a:r>
            <a:r>
              <a:rPr lang="en-US" altLang="zh-CN" sz="5200"/>
              <a:t>is Docker</a:t>
            </a:r>
            <a:endParaRPr lang="zh-CN" altLang="en-US" sz="5200"/>
          </a:p>
        </p:txBody>
      </p:sp>
      <p:graphicFrame>
        <p:nvGraphicFramePr>
          <p:cNvPr id="5" name="内容占位符 2">
            <a:extLst>
              <a:ext uri="{FF2B5EF4-FFF2-40B4-BE49-F238E27FC236}">
                <a16:creationId xmlns:a16="http://schemas.microsoft.com/office/drawing/2014/main" id="{15643BEA-8207-E511-75EC-CFA91A90CC2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961977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85309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16C5EF1-A6C0-B45C-847F-8AB141A7A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3657" y="1778149"/>
            <a:ext cx="9724031" cy="3683358"/>
          </a:xfrm>
        </p:spPr>
        <p:txBody>
          <a:bodyPr anchor="ctr">
            <a:normAutofit fontScale="92500"/>
          </a:bodyPr>
          <a:lstStyle/>
          <a:p>
            <a:pPr marL="0" indent="0">
              <a:buNone/>
            </a:pPr>
            <a:r>
              <a:rPr lang="en-US" altLang="zh-CN" sz="5400" dirty="0"/>
              <a:t>Today</a:t>
            </a:r>
            <a:endParaRPr lang="en-US" altLang="zh-CN" sz="2000" dirty="0"/>
          </a:p>
          <a:p>
            <a:endParaRPr lang="en-US" altLang="zh-CN" sz="2000" dirty="0"/>
          </a:p>
          <a:p>
            <a:pPr marL="0" indent="0">
              <a:buNone/>
            </a:pPr>
            <a:r>
              <a:rPr lang="en-US" altLang="zh-CN" sz="2000" dirty="0"/>
              <a:t>	 </a:t>
            </a:r>
            <a:r>
              <a:rPr lang="en-US" altLang="zh-CN" sz="6000" dirty="0"/>
              <a:t>we are going to create a container through image, and learning how to use them</a:t>
            </a:r>
            <a:r>
              <a:rPr lang="en-US" altLang="zh-CN" sz="2000" dirty="0"/>
              <a:t>.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1342651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4" descr="干货 | 一文搞定 Docker 容器技术与常用命令 -阿里云开发者社区">
            <a:extLst>
              <a:ext uri="{FF2B5EF4-FFF2-40B4-BE49-F238E27FC236}">
                <a16:creationId xmlns:a16="http://schemas.microsoft.com/office/drawing/2014/main" id="{43C37884-1760-A27D-3EE2-C0FEFFE60A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59" r="18430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2E4CAE86-DC78-53DE-0AD6-A932887F47F5}"/>
              </a:ext>
            </a:extLst>
          </p:cNvPr>
          <p:cNvSpPr txBox="1"/>
          <p:nvPr/>
        </p:nvSpPr>
        <p:spPr>
          <a:xfrm>
            <a:off x="1524000" y="1122362"/>
            <a:ext cx="9144000" cy="29005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zh-CN" sz="60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2.Origin of Docker</a:t>
            </a:r>
          </a:p>
        </p:txBody>
      </p:sp>
    </p:spTree>
    <p:extLst>
      <p:ext uri="{BB962C8B-B14F-4D97-AF65-F5344CB8AC3E}">
        <p14:creationId xmlns:p14="http://schemas.microsoft.com/office/powerpoint/2010/main" val="12233584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0AE7D5A-7B89-F153-97AF-B5CDAA27F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25696" y="197510"/>
            <a:ext cx="7556601" cy="6371540"/>
          </a:xfrm>
        </p:spPr>
        <p:txBody>
          <a:bodyPr anchor="ctr">
            <a:normAutofit lnSpcReduction="10000"/>
          </a:bodyPr>
          <a:lstStyle/>
          <a:p>
            <a:r>
              <a:rPr lang="en-US" altLang="zh-CN" sz="1400" dirty="0"/>
              <a:t>dot Cloud is a cloud-based application platform that allows developers to deploy and manage applications in the cloud.</a:t>
            </a:r>
          </a:p>
          <a:p>
            <a:br>
              <a:rPr lang="en-US" altLang="zh-CN" sz="1400" dirty="0"/>
            </a:br>
            <a:endParaRPr lang="en-US" altLang="zh-CN" sz="1400" dirty="0"/>
          </a:p>
          <a:p>
            <a:r>
              <a:rPr lang="en-US" altLang="zh-CN" sz="1400" dirty="0"/>
              <a:t>Hykes noticed that when running applications on </a:t>
            </a:r>
            <a:r>
              <a:rPr lang="en-US" altLang="zh-CN" sz="1400" dirty="0" err="1"/>
              <a:t>dotCloud</a:t>
            </a:r>
            <a:r>
              <a:rPr lang="en-US" altLang="zh-CN" sz="1400" dirty="0"/>
              <a:t>, different applications required different dependencies and runtime environments, which were often difficult to coexist in the same system.</a:t>
            </a:r>
          </a:p>
          <a:p>
            <a:br>
              <a:rPr lang="en-US" altLang="zh-CN" sz="1400" dirty="0"/>
            </a:br>
            <a:endParaRPr lang="en-US" altLang="zh-CN" sz="1400" dirty="0"/>
          </a:p>
          <a:p>
            <a:r>
              <a:rPr lang="en-US" altLang="zh-CN" sz="1400" dirty="0"/>
              <a:t>This led to environment configuration problems because different applications might require different environments.</a:t>
            </a:r>
          </a:p>
          <a:p>
            <a:br>
              <a:rPr lang="en-US" altLang="zh-CN" sz="1400" dirty="0"/>
            </a:br>
            <a:endParaRPr lang="en-US" altLang="zh-CN" sz="1400" dirty="0"/>
          </a:p>
          <a:p>
            <a:r>
              <a:rPr lang="en-US" altLang="zh-CN" sz="1400" dirty="0"/>
              <a:t>To solve this problem, Hykes began thinking about how to package applications and their environments together so they could run anywhere.</a:t>
            </a:r>
          </a:p>
          <a:p>
            <a:br>
              <a:rPr lang="en-US" altLang="zh-CN" sz="1400" dirty="0"/>
            </a:br>
            <a:endParaRPr lang="en-US" altLang="zh-CN" sz="1400" dirty="0"/>
          </a:p>
          <a:p>
            <a:r>
              <a:rPr lang="en-US" altLang="zh-CN" sz="1400" dirty="0"/>
              <a:t>Furthermore, Hykes decided to create a new tool for packaging applications and their environments.</a:t>
            </a:r>
          </a:p>
          <a:p>
            <a:br>
              <a:rPr lang="en-US" altLang="zh-CN" sz="1400" dirty="0"/>
            </a:br>
            <a:endParaRPr lang="en-US" altLang="zh-CN" sz="1400" dirty="0"/>
          </a:p>
          <a:p>
            <a:r>
              <a:rPr lang="en-US" altLang="zh-CN" sz="1400" dirty="0"/>
              <a:t>And the name of a dock worker is exactly Docker. Hykes thought this name was very appropriate for the tool's functionality, so he named the tool Docker.</a:t>
            </a:r>
          </a:p>
          <a:p>
            <a:br>
              <a:rPr lang="en-US" altLang="zh-CN" sz="1400" dirty="0"/>
            </a:br>
            <a:endParaRPr lang="en-US" altLang="zh-CN" sz="1400" dirty="0"/>
          </a:p>
          <a:p>
            <a:r>
              <a:rPr lang="en-US" altLang="zh-CN" sz="1400" dirty="0"/>
              <a:t>Thus, Docker was born.</a:t>
            </a:r>
          </a:p>
          <a:p>
            <a:endParaRPr lang="zh-CN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9561648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 descr="Docker 公司的七年辛酸史 - 知乎">
            <a:extLst>
              <a:ext uri="{FF2B5EF4-FFF2-40B4-BE49-F238E27FC236}">
                <a16:creationId xmlns:a16="http://schemas.microsoft.com/office/drawing/2014/main" id="{7DC4A07E-41FF-6ED8-0F16-7A47E5038C4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585826"/>
            <a:ext cx="2995574" cy="2995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5" name="AutoShape 4" descr="Docker 公司的七年辛酸史 - 知乎">
            <a:extLst>
              <a:ext uri="{FF2B5EF4-FFF2-40B4-BE49-F238E27FC236}">
                <a16:creationId xmlns:a16="http://schemas.microsoft.com/office/drawing/2014/main" id="{FF9A4727-A52A-076D-72BD-79441DA9DD3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95A4B415-5F4E-4476-BFCF-6BA88D8BE1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0197" y="599236"/>
            <a:ext cx="7573110" cy="5672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41853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!!Rectangle">
            <a:extLst>
              <a:ext uri="{FF2B5EF4-FFF2-40B4-BE49-F238E27FC236}">
                <a16:creationId xmlns:a16="http://schemas.microsoft.com/office/drawing/2014/main" id="{362810D9-2C5A-477D-949C-C191895477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8467"/>
            <a:ext cx="12191999" cy="6866467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4" descr="干货 | 一文搞定 Docker 容器技术与常用命令 -阿里云开发者社区">
            <a:extLst>
              <a:ext uri="{FF2B5EF4-FFF2-40B4-BE49-F238E27FC236}">
                <a16:creationId xmlns:a16="http://schemas.microsoft.com/office/drawing/2014/main" id="{929527DE-DE60-27FB-EA4B-5EA3E9BE91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59" r="18430"/>
          <a:stretch>
            <a:fillRect/>
          </a:stretch>
        </p:blipFill>
        <p:spPr bwMode="auto">
          <a:xfrm>
            <a:off x="20" y="-9107"/>
            <a:ext cx="1219198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Arc 29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7CA34E0-3B48-1E7D-AA07-1E734B000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1938" y="3119185"/>
            <a:ext cx="8288122" cy="879188"/>
          </a:xfrm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en-US" altLang="zh-CN" sz="6000" dirty="0">
                <a:solidFill>
                  <a:srgbClr val="FFFFFF"/>
                </a:solidFill>
              </a:rPr>
              <a:t>3. Advantages of Docker</a:t>
            </a:r>
            <a:endParaRPr lang="zh-CN" altLang="en-US" sz="60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68900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8C5344E4-68ED-C27D-9F8F-DB9962EDB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altLang="zh-CN" sz="3400">
                <a:solidFill>
                  <a:srgbClr val="FFFFFF"/>
                </a:solidFill>
              </a:rPr>
              <a:t>Docker stands out among containerization technologies for several reasons:</a:t>
            </a:r>
            <a:br>
              <a:rPr lang="en-US" altLang="zh-CN" sz="3400">
                <a:solidFill>
                  <a:srgbClr val="FFFFFF"/>
                </a:solidFill>
              </a:rPr>
            </a:br>
            <a:endParaRPr lang="zh-CN" altLang="en-US" sz="3400">
              <a:solidFill>
                <a:srgbClr val="FFFFFF"/>
              </a:solidFill>
            </a:endParaRPr>
          </a:p>
        </p:txBody>
      </p:sp>
      <p:graphicFrame>
        <p:nvGraphicFramePr>
          <p:cNvPr id="5" name="内容占位符 2">
            <a:extLst>
              <a:ext uri="{FF2B5EF4-FFF2-40B4-BE49-F238E27FC236}">
                <a16:creationId xmlns:a16="http://schemas.microsoft.com/office/drawing/2014/main" id="{AE4A73E5-4FDB-51CF-B9A0-ABDAAECE52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11590809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149861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F58C6DBB-2EF7-BEAA-18A0-F8D856133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8851" y="299387"/>
            <a:ext cx="6614291" cy="1033669"/>
          </a:xfrm>
        </p:spPr>
        <p:txBody>
          <a:bodyPr>
            <a:normAutofit/>
          </a:bodyPr>
          <a:lstStyle/>
          <a:p>
            <a:r>
              <a:rPr lang="en-US" altLang="zh-CN" sz="4000" dirty="0">
                <a:solidFill>
                  <a:srgbClr val="FFFFFF"/>
                </a:solidFill>
              </a:rPr>
              <a:t>Compared to virtual machines</a:t>
            </a:r>
            <a:endParaRPr lang="zh-CN" altLang="en-US" sz="4000" dirty="0">
              <a:solidFill>
                <a:srgbClr val="FFFFFF"/>
              </a:solidFill>
            </a:endParaRPr>
          </a:p>
        </p:txBody>
      </p:sp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10CE321C-C13B-E73C-CA93-20350BD3321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40618100"/>
              </p:ext>
            </p:extLst>
          </p:nvPr>
        </p:nvGraphicFramePr>
        <p:xfrm>
          <a:off x="838199" y="2102349"/>
          <a:ext cx="10515597" cy="39615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146874857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208837342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928402255"/>
                    </a:ext>
                  </a:extLst>
                </a:gridCol>
              </a:tblGrid>
              <a:tr h="660261">
                <a:tc>
                  <a:txBody>
                    <a:bodyPr/>
                    <a:lstStyle/>
                    <a:p>
                      <a:r>
                        <a:rPr lang="en-US" altLang="zh-CN" dirty="0"/>
                        <a:t>Feature</a:t>
                      </a:r>
                      <a:endParaRPr lang="zh-CN" altLang="en-US" dirty="0"/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Docker</a:t>
                      </a:r>
                      <a:endParaRPr lang="zh-CN" altLang="en-US" dirty="0"/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Virtual Machine</a:t>
                      </a:r>
                      <a:endParaRPr lang="zh-CN" altLang="en-US" dirty="0"/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699647285"/>
                  </a:ext>
                </a:extLst>
              </a:tr>
              <a:tr h="660261">
                <a:tc>
                  <a:txBody>
                    <a:bodyPr/>
                    <a:lstStyle/>
                    <a:p>
                      <a:r>
                        <a:rPr lang="en-US" altLang="zh-CN" dirty="0"/>
                        <a:t>Resource usage</a:t>
                      </a:r>
                      <a:endParaRPr lang="zh-CN" altLang="en-US" dirty="0"/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Lightweight</a:t>
                      </a:r>
                      <a:endParaRPr lang="zh-CN" altLang="en-US" dirty="0"/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Heavyweight</a:t>
                      </a:r>
                      <a:endParaRPr lang="zh-CN" altLang="en-US" dirty="0"/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658307462"/>
                  </a:ext>
                </a:extLst>
              </a:tr>
              <a:tr h="660261">
                <a:tc>
                  <a:txBody>
                    <a:bodyPr/>
                    <a:lstStyle/>
                    <a:p>
                      <a:r>
                        <a:rPr lang="en-US" altLang="zh-CN" dirty="0"/>
                        <a:t>Startup speed</a:t>
                      </a:r>
                      <a:endParaRPr lang="zh-CN" altLang="en-US" dirty="0"/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Fast</a:t>
                      </a:r>
                      <a:endParaRPr lang="zh-CN" altLang="en-US" dirty="0"/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Slow</a:t>
                      </a:r>
                      <a:endParaRPr lang="zh-CN" altLang="en-US" dirty="0"/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478971096"/>
                  </a:ext>
                </a:extLst>
              </a:tr>
              <a:tr h="660261">
                <a:tc>
                  <a:txBody>
                    <a:bodyPr/>
                    <a:lstStyle/>
                    <a:p>
                      <a:r>
                        <a:rPr lang="en-US" altLang="zh-CN" dirty="0"/>
                        <a:t>Portability</a:t>
                      </a:r>
                      <a:endParaRPr lang="zh-CN" altLang="en-US" dirty="0"/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High</a:t>
                      </a:r>
                      <a:endParaRPr lang="zh-CN" altLang="en-US" dirty="0"/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Low</a:t>
                      </a:r>
                      <a:endParaRPr lang="zh-CN" altLang="en-US" dirty="0"/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436775487"/>
                  </a:ext>
                </a:extLst>
              </a:tr>
              <a:tr h="660261">
                <a:tc>
                  <a:txBody>
                    <a:bodyPr/>
                    <a:lstStyle/>
                    <a:p>
                      <a:r>
                        <a:rPr lang="en-US" altLang="zh-CN" dirty="0"/>
                        <a:t>Isolation</a:t>
                      </a:r>
                      <a:endParaRPr lang="zh-CN" altLang="en-US" dirty="0"/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Process-level isolation</a:t>
                      </a:r>
                      <a:endParaRPr lang="zh-CN" altLang="en-US" dirty="0"/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Complete</a:t>
                      </a:r>
                      <a:endParaRPr lang="zh-CN" altLang="en-US" dirty="0"/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56889311"/>
                  </a:ext>
                </a:extLst>
              </a:tr>
              <a:tr h="660261">
                <a:tc>
                  <a:txBody>
                    <a:bodyPr/>
                    <a:lstStyle/>
                    <a:p>
                      <a:r>
                        <a:rPr lang="en-US" altLang="zh-CN" dirty="0"/>
                        <a:t>Scalability</a:t>
                      </a:r>
                      <a:endParaRPr lang="zh-CN" altLang="en-US" dirty="0"/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High</a:t>
                      </a:r>
                      <a:endParaRPr lang="zh-CN" altLang="en-US" dirty="0"/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Limited</a:t>
                      </a:r>
                      <a:endParaRPr lang="zh-CN" altLang="en-US" dirty="0"/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3487682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26180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4" descr="干货 | 一文搞定 Docker 容器技术与常用命令 -阿里云开发者社区">
            <a:extLst>
              <a:ext uri="{FF2B5EF4-FFF2-40B4-BE49-F238E27FC236}">
                <a16:creationId xmlns:a16="http://schemas.microsoft.com/office/drawing/2014/main" id="{929527DE-DE60-27FB-EA4B-5EA3E9BE91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59" r="18430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DD94DC4C-E643-619A-BF4C-05D91B354270}"/>
              </a:ext>
            </a:extLst>
          </p:cNvPr>
          <p:cNvSpPr txBox="1"/>
          <p:nvPr/>
        </p:nvSpPr>
        <p:spPr>
          <a:xfrm>
            <a:off x="1524000" y="1122362"/>
            <a:ext cx="9144000" cy="29005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zh-CN" sz="60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4.Basic structure of Docker</a:t>
            </a:r>
          </a:p>
        </p:txBody>
      </p:sp>
    </p:spTree>
    <p:extLst>
      <p:ext uri="{BB962C8B-B14F-4D97-AF65-F5344CB8AC3E}">
        <p14:creationId xmlns:p14="http://schemas.microsoft.com/office/powerpoint/2010/main" val="35148677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F9CCC86E-27A5-49FE-D580-7F7B1C7C7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1634" y="294538"/>
            <a:ext cx="4848727" cy="1167214"/>
          </a:xfrm>
        </p:spPr>
        <p:txBody>
          <a:bodyPr>
            <a:normAutofit fontScale="90000"/>
          </a:bodyPr>
          <a:lstStyle/>
          <a:p>
            <a:r>
              <a:rPr lang="en-US" altLang="zh-CN" b="1" dirty="0">
                <a:solidFill>
                  <a:schemeClr val="bg1"/>
                </a:solidFill>
              </a:rPr>
              <a:t>Docker's Architecture</a:t>
            </a:r>
            <a:br>
              <a:rPr lang="en-US" altLang="zh-CN" dirty="0"/>
            </a:br>
            <a:endParaRPr lang="zh-CN" altLang="en-US" sz="4000" dirty="0">
              <a:solidFill>
                <a:srgbClr val="FFFFFF"/>
              </a:solidFill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862D583-3B9F-11F6-4B46-7A2B3461F4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3657" y="2098392"/>
            <a:ext cx="9724031" cy="4245265"/>
          </a:xfrm>
        </p:spPr>
        <p:txBody>
          <a:bodyPr anchor="ctr">
            <a:normAutofit fontScale="40000" lnSpcReduction="20000"/>
          </a:bodyPr>
          <a:lstStyle/>
          <a:p>
            <a:r>
              <a:rPr lang="en-US" altLang="zh-CN" sz="4500" dirty="0"/>
              <a:t>Docker can be divided into the following components, which together form Docker's complete ecosystem:</a:t>
            </a:r>
          </a:p>
          <a:p>
            <a:br>
              <a:rPr lang="en-US" altLang="zh-CN" sz="4500" dirty="0"/>
            </a:br>
            <a:endParaRPr lang="en-US" altLang="zh-CN" sz="4500" dirty="0"/>
          </a:p>
          <a:p>
            <a:r>
              <a:rPr lang="en-US" altLang="zh-CN" sz="4500" dirty="0"/>
              <a:t>- </a:t>
            </a:r>
            <a:r>
              <a:rPr lang="en-US" altLang="zh-CN" sz="4500" b="1" dirty="0"/>
              <a:t>Docker Client</a:t>
            </a:r>
            <a:r>
              <a:rPr lang="en-US" altLang="zh-CN" sz="4500" dirty="0"/>
              <a:t>: A command-line tool for users to interact with Docker, responsible for receiving user commands and sending them to the Docker Daemon for execution</a:t>
            </a:r>
          </a:p>
          <a:p>
            <a:r>
              <a:rPr lang="en-US" altLang="zh-CN" sz="4500" dirty="0"/>
              <a:t>- </a:t>
            </a:r>
            <a:r>
              <a:rPr lang="en-US" altLang="zh-CN" sz="4500" b="1" dirty="0"/>
              <a:t>Docker Daemon</a:t>
            </a:r>
            <a:r>
              <a:rPr lang="en-US" altLang="zh-CN" sz="4500" dirty="0"/>
              <a:t>: A background service process responsible for processing Docker Client instructions and managing resources such as images and containers</a:t>
            </a:r>
          </a:p>
          <a:p>
            <a:r>
              <a:rPr lang="en-US" altLang="zh-CN" sz="4500" dirty="0"/>
              <a:t>- </a:t>
            </a:r>
            <a:r>
              <a:rPr lang="en-US" altLang="zh-CN" sz="4500" b="1" dirty="0"/>
              <a:t>Docker Registry</a:t>
            </a:r>
            <a:r>
              <a:rPr lang="en-US" altLang="zh-CN" sz="4500" dirty="0"/>
              <a:t>: An image repository responsible for storing and distributing Docker images, similar to GitHub, with the most commonly used being the official Docker Hub</a:t>
            </a:r>
          </a:p>
          <a:p>
            <a:r>
              <a:rPr lang="en-US" altLang="zh-CN" sz="4500" dirty="0"/>
              <a:t>- </a:t>
            </a:r>
            <a:r>
              <a:rPr lang="en-US" altLang="zh-CN" sz="4500" b="1" dirty="0"/>
              <a:t>Docker Objects</a:t>
            </a:r>
            <a:r>
              <a:rPr lang="en-US" altLang="zh-CN" sz="4500" dirty="0"/>
              <a:t>: Core objects including images, containers, networks, volumes, etc.</a:t>
            </a:r>
          </a:p>
          <a:p>
            <a:br>
              <a:rPr lang="en-US" altLang="zh-CN" sz="4500" dirty="0"/>
            </a:br>
            <a:endParaRPr lang="en-US" altLang="zh-CN" sz="4500" dirty="0"/>
          </a:p>
          <a:p>
            <a:r>
              <a:rPr lang="en-US" altLang="zh-CN" sz="4500" dirty="0"/>
              <a:t>Docker adopts a client-server architecture, where the Client communicates with the Daemon through a REST API, allowing Docker to be operated locally or remotely.</a:t>
            </a:r>
          </a:p>
          <a:p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8770287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4" descr="干货 | 一文搞定 Docker 容器技术与常用命令 -阿里云开发者社区">
            <a:extLst>
              <a:ext uri="{FF2B5EF4-FFF2-40B4-BE49-F238E27FC236}">
                <a16:creationId xmlns:a16="http://schemas.microsoft.com/office/drawing/2014/main" id="{929527DE-DE60-27FB-EA4B-5EA3E9BE91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59" r="18430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0109CBFB-39A0-C495-AE43-B45AC8EBC72B}"/>
              </a:ext>
            </a:extLst>
          </p:cNvPr>
          <p:cNvSpPr txBox="1"/>
          <p:nvPr/>
        </p:nvSpPr>
        <p:spPr>
          <a:xfrm>
            <a:off x="1524000" y="1122362"/>
            <a:ext cx="9144000" cy="29005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zh-CN" sz="60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5.Docker’s workflow</a:t>
            </a:r>
          </a:p>
        </p:txBody>
      </p:sp>
    </p:spTree>
    <p:extLst>
      <p:ext uri="{BB962C8B-B14F-4D97-AF65-F5344CB8AC3E}">
        <p14:creationId xmlns:p14="http://schemas.microsoft.com/office/powerpoint/2010/main" val="29250245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C9945686-B6B9-7691-6FC6-922C57A2E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altLang="zh-CN" sz="4000">
                <a:solidFill>
                  <a:srgbClr val="FFFFFF"/>
                </a:solidFill>
              </a:rPr>
              <a:t>Docker's workflow is primarily as follows:</a:t>
            </a:r>
            <a:endParaRPr lang="zh-CN" altLang="en-US" sz="4000">
              <a:solidFill>
                <a:srgbClr val="FFFFFF"/>
              </a:solidFill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5387EC9-9713-F415-91DD-C16CA8F7B9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3982" y="2259675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US" altLang="zh-CN" sz="2000"/>
              <a:t>1. </a:t>
            </a:r>
            <a:r>
              <a:rPr lang="en-US" altLang="zh-CN" sz="2000" b="1"/>
              <a:t>Build an image</a:t>
            </a:r>
            <a:r>
              <a:rPr lang="en-US" altLang="zh-CN" sz="2000"/>
              <a:t>: Developers define the application's environment and dependencies by writing a Dockerfile, then build the image using the `docker build` command.</a:t>
            </a:r>
          </a:p>
          <a:p>
            <a:r>
              <a:rPr lang="en-US" altLang="zh-CN" sz="2000"/>
              <a:t>2. </a:t>
            </a:r>
            <a:r>
              <a:rPr lang="en-US" altLang="zh-CN" sz="2000" b="1"/>
              <a:t>Distribute the image</a:t>
            </a:r>
            <a:r>
              <a:rPr lang="en-US" altLang="zh-CN" sz="2000"/>
              <a:t>: The built image can be uploaded to a Docker Registry for other users to use.</a:t>
            </a:r>
          </a:p>
          <a:p>
            <a:r>
              <a:rPr lang="en-US" altLang="zh-CN" sz="2000"/>
              <a:t>3. </a:t>
            </a:r>
            <a:r>
              <a:rPr lang="en-US" altLang="zh-CN" sz="2000" b="1"/>
              <a:t>Run a container</a:t>
            </a:r>
            <a:r>
              <a:rPr lang="en-US" altLang="zh-CN" sz="2000"/>
              <a:t>: Users can pull images from the Registry and run containers using the `docker run` command.</a:t>
            </a:r>
          </a:p>
          <a:p>
            <a:r>
              <a:rPr lang="en-US" altLang="zh-CN" sz="2000"/>
              <a:t>4. </a:t>
            </a:r>
            <a:r>
              <a:rPr lang="en-US" altLang="zh-CN" sz="2000" b="1"/>
              <a:t>Manage containers</a:t>
            </a:r>
            <a:r>
              <a:rPr lang="en-US" altLang="zh-CN" sz="2000"/>
              <a:t>: Users can manage running containers using commands like `docker ps`, `docker stop`, `docker restart`, etc.</a:t>
            </a:r>
          </a:p>
          <a:p>
            <a:endParaRPr lang="zh-CN" altLang="en-US" sz="2000"/>
          </a:p>
        </p:txBody>
      </p:sp>
    </p:spTree>
    <p:extLst>
      <p:ext uri="{BB962C8B-B14F-4D97-AF65-F5344CB8AC3E}">
        <p14:creationId xmlns:p14="http://schemas.microsoft.com/office/powerpoint/2010/main" val="37014725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BC2CC32B-C02E-60DB-1A57-8C2A690A0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0432" y="2033626"/>
            <a:ext cx="2497656" cy="1940726"/>
          </a:xfrm>
        </p:spPr>
        <p:txBody>
          <a:bodyPr anchor="b">
            <a:normAutofit/>
          </a:bodyPr>
          <a:lstStyle/>
          <a:p>
            <a:pPr algn="r"/>
            <a:r>
              <a:rPr lang="en-US" altLang="zh-CN" sz="4000" b="1" dirty="0">
                <a:solidFill>
                  <a:srgbClr val="FFFFFF"/>
                </a:solidFill>
              </a:rPr>
              <a:t>What is a Container</a:t>
            </a:r>
            <a:endParaRPr lang="zh-CN" altLang="en-US" sz="4000" dirty="0">
              <a:solidFill>
                <a:srgbClr val="FFFFFF"/>
              </a:solidFill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7AB0A8F-D2C5-B95E-20C9-B7BE1F32DB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en-US" altLang="zh-CN" sz="2000" dirty="0"/>
              <a:t>A container is simply a set of processes, but unlike regular processes, these processes have some restrictions:</a:t>
            </a:r>
          </a:p>
          <a:p>
            <a:br>
              <a:rPr lang="en-US" altLang="zh-CN" sz="2000" dirty="0"/>
            </a:br>
            <a:endParaRPr lang="en-US" altLang="zh-CN" sz="2000" dirty="0"/>
          </a:p>
          <a:p>
            <a:r>
              <a:rPr lang="en-US" altLang="zh-CN" sz="2000" dirty="0"/>
              <a:t>- Cannot see files outside the image (unless you use volumes, which we'll mention later)</a:t>
            </a:r>
          </a:p>
          <a:p>
            <a:r>
              <a:rPr lang="en-US" altLang="zh-CN" sz="2000" dirty="0"/>
              <a:t>- Relies on the image's system files to run, using the Linux kernel to execute processes (regardless of the current device's system type)</a:t>
            </a:r>
          </a:p>
          <a:p>
            <a:br>
              <a:rPr lang="en-US" altLang="zh-CN" sz="2000" dirty="0"/>
            </a:br>
            <a:endParaRPr lang="en-US" altLang="zh-CN" sz="2000" dirty="0"/>
          </a:p>
          <a:p>
            <a:r>
              <a:rPr lang="en-US" altLang="zh-CN" sz="2000" dirty="0"/>
              <a:t>It is precisely because of these restrictions that containers can run on any device without worrying about environment issues.</a:t>
            </a:r>
          </a:p>
          <a:p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6298763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DC33EE-833F-FA9C-3879-C679C0CB8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CCBCC92C-E46C-0856-23AB-7A93A820B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7822" y="1736746"/>
            <a:ext cx="2600265" cy="2237606"/>
          </a:xfrm>
        </p:spPr>
        <p:txBody>
          <a:bodyPr anchor="b">
            <a:normAutofit/>
          </a:bodyPr>
          <a:lstStyle/>
          <a:p>
            <a:r>
              <a:rPr lang="en-US" altLang="zh-CN" b="1" dirty="0">
                <a:solidFill>
                  <a:schemeClr val="bg1"/>
                </a:solidFill>
              </a:rPr>
              <a:t>What is an Image</a:t>
            </a:r>
            <a:endParaRPr lang="en-US" altLang="zh-CN" dirty="0">
              <a:solidFill>
                <a:schemeClr val="bg1"/>
              </a:solidFill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47D41FA-D60B-E2A0-2E34-02A81DD81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234086"/>
            <a:ext cx="6555347" cy="6495898"/>
          </a:xfrm>
        </p:spPr>
        <p:txBody>
          <a:bodyPr anchor="ctr">
            <a:normAutofit fontScale="55000" lnSpcReduction="20000"/>
          </a:bodyPr>
          <a:lstStyle/>
          <a:p>
            <a:r>
              <a:rPr lang="en-US" altLang="zh-CN" sz="2900" dirty="0"/>
              <a:t>An image (read-only) consists of multiple layers (recorded in multiple files), each recording different container information</a:t>
            </a:r>
          </a:p>
          <a:p>
            <a:br>
              <a:rPr lang="en-US" altLang="zh-CN" sz="2900" dirty="0"/>
            </a:br>
            <a:endParaRPr lang="en-US" altLang="zh-CN" sz="2900" dirty="0"/>
          </a:p>
          <a:p>
            <a:r>
              <a:rPr lang="en-US" altLang="zh-CN" sz="2900" dirty="0"/>
              <a:t>Why read-only? Of course, to ensure the image doesn't get modified, otherwise the image would be polluted, which would affect the operation of other containers that depend on this image.</a:t>
            </a:r>
          </a:p>
          <a:p>
            <a:br>
              <a:rPr lang="en-US" altLang="zh-CN" sz="2900" dirty="0"/>
            </a:br>
            <a:endParaRPr lang="en-US" altLang="zh-CN" sz="2900" dirty="0"/>
          </a:p>
          <a:p>
            <a:r>
              <a:rPr lang="en-US" altLang="zh-CN" sz="2900" dirty="0"/>
              <a:t>For example:</a:t>
            </a:r>
          </a:p>
          <a:p>
            <a:br>
              <a:rPr lang="en-US" altLang="zh-CN" sz="2900" dirty="0"/>
            </a:br>
            <a:endParaRPr lang="en-US" altLang="zh-CN" sz="2900" dirty="0"/>
          </a:p>
          <a:p>
            <a:r>
              <a:rPr lang="en-US" altLang="zh-CN" sz="2900" dirty="0"/>
              <a:t>- The first layer records the user-space file system (e.g., ubuntu:22.04)</a:t>
            </a:r>
          </a:p>
          <a:p>
            <a:r>
              <a:rPr lang="en-US" altLang="zh-CN" sz="2900" dirty="0"/>
              <a:t>- The second layer records the language environment (e.g., python 3.10)</a:t>
            </a:r>
          </a:p>
          <a:p>
            <a:r>
              <a:rPr lang="en-US" altLang="zh-CN" sz="2900" dirty="0"/>
              <a:t>- The third layer ....</a:t>
            </a:r>
          </a:p>
          <a:p>
            <a:br>
              <a:rPr lang="en-US" altLang="zh-CN" sz="2900" dirty="0"/>
            </a:br>
            <a:endParaRPr lang="en-US" altLang="zh-CN" sz="2900" dirty="0"/>
          </a:p>
          <a:p>
            <a:r>
              <a:rPr lang="en-US" altLang="zh-CN" sz="2900" dirty="0"/>
              <a:t>Images can be ported to a new device through compression and decompression</a:t>
            </a:r>
          </a:p>
          <a:p>
            <a:br>
              <a:rPr lang="en-US" altLang="zh-CN" sz="2900" dirty="0"/>
            </a:br>
            <a:endParaRPr lang="en-US" altLang="zh-CN" sz="2900" dirty="0"/>
          </a:p>
          <a:p>
            <a:r>
              <a:rPr lang="en-US" altLang="zh-CN" sz="2900" dirty="0"/>
              <a:t>A container is then created on the new device to run the project's content</a:t>
            </a:r>
          </a:p>
          <a:p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9894890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31D2F154-A77A-5FF8-5B50-C60D89723965}"/>
              </a:ext>
            </a:extLst>
          </p:cNvPr>
          <p:cNvSpPr txBox="1"/>
          <p:nvPr/>
        </p:nvSpPr>
        <p:spPr>
          <a:xfrm>
            <a:off x="3438717" y="2228671"/>
            <a:ext cx="5314566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400" u="sng" dirty="0"/>
              <a:t>https://github.com/CompPsyUnion/docker-tutorial</a:t>
            </a:r>
            <a:endParaRPr lang="en-US" altLang="zh-CN" sz="4400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640055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电脑萤幕的截图&#10;&#10;AI 生成的内容可能不正确。">
            <a:extLst>
              <a:ext uri="{FF2B5EF4-FFF2-40B4-BE49-F238E27FC236}">
                <a16:creationId xmlns:a16="http://schemas.microsoft.com/office/drawing/2014/main" id="{38EF9661-B0A5-99A3-0D3B-7B6F6672BC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655" y="3927625"/>
            <a:ext cx="4520792" cy="247322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DD2EFB74-D50E-30C7-AF05-A257FEF122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4272" y="49931"/>
            <a:ext cx="5455084" cy="3006300"/>
          </a:xfrm>
          <a:prstGeom prst="rect">
            <a:avLst/>
          </a:prstGeom>
        </p:spPr>
      </p:pic>
      <p:sp>
        <p:nvSpPr>
          <p:cNvPr id="10" name="箭头: 右 9">
            <a:extLst>
              <a:ext uri="{FF2B5EF4-FFF2-40B4-BE49-F238E27FC236}">
                <a16:creationId xmlns:a16="http://schemas.microsoft.com/office/drawing/2014/main" id="{EF6D64F4-FCC4-CBFE-3E46-9C8DB4DC2309}"/>
              </a:ext>
            </a:extLst>
          </p:cNvPr>
          <p:cNvSpPr/>
          <p:nvPr/>
        </p:nvSpPr>
        <p:spPr>
          <a:xfrm rot="19840009">
            <a:off x="3736630" y="1791979"/>
            <a:ext cx="2933444" cy="161400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46467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308</TotalTime>
  <Words>922</Words>
  <Application>Microsoft Office PowerPoint</Application>
  <PresentationFormat>宽屏</PresentationFormat>
  <Paragraphs>101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5" baseType="lpstr">
      <vt:lpstr>等线</vt:lpstr>
      <vt:lpstr>等线 Light</vt:lpstr>
      <vt:lpstr>Arial</vt:lpstr>
      <vt:lpstr>Calibri</vt:lpstr>
      <vt:lpstr>Office 主题​​</vt:lpstr>
      <vt:lpstr>PowerPoint 演示文稿</vt:lpstr>
      <vt:lpstr>PowerPoint 演示文稿</vt:lpstr>
      <vt:lpstr>Content</vt:lpstr>
      <vt:lpstr>1.Basic introduction to Docker</vt:lpstr>
      <vt:lpstr>What is Docker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Docker stands out among containerization technologies for several reasons: </vt:lpstr>
      <vt:lpstr>Compared to virtual machines</vt:lpstr>
      <vt:lpstr>PowerPoint 演示文稿</vt:lpstr>
      <vt:lpstr>Docker's Architecture </vt:lpstr>
      <vt:lpstr>PowerPoint 演示文稿</vt:lpstr>
      <vt:lpstr>Docker's workflow is primarily as follows:</vt:lpstr>
      <vt:lpstr>What is a Container</vt:lpstr>
      <vt:lpstr>What is an Image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佳宝 曹</dc:creator>
  <cp:lastModifiedBy>佳宝 曹</cp:lastModifiedBy>
  <cp:revision>7</cp:revision>
  <dcterms:created xsi:type="dcterms:W3CDTF">2026-03-02T02:09:21Z</dcterms:created>
  <dcterms:modified xsi:type="dcterms:W3CDTF">2026-03-03T08:35:14Z</dcterms:modified>
</cp:coreProperties>
</file>