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6" r:id="rId1"/>
  </p:sldMasterIdLst>
  <p:notesMasterIdLst>
    <p:notesMasterId r:id="rId24"/>
  </p:notesMasterIdLst>
  <p:sldIdLst>
    <p:sldId id="256" r:id="rId2"/>
    <p:sldId id="258" r:id="rId3"/>
    <p:sldId id="257" r:id="rId4"/>
    <p:sldId id="260" r:id="rId5"/>
    <p:sldId id="259" r:id="rId6"/>
    <p:sldId id="261" r:id="rId7"/>
    <p:sldId id="262" r:id="rId8"/>
    <p:sldId id="263" r:id="rId9"/>
    <p:sldId id="264" r:id="rId10"/>
    <p:sldId id="277" r:id="rId11"/>
    <p:sldId id="278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C1D7E7B-EEC3-4487-B714-3BD8730EED73}">
          <p14:sldIdLst>
            <p14:sldId id="256"/>
            <p14:sldId id="258"/>
            <p14:sldId id="257"/>
            <p14:sldId id="260"/>
            <p14:sldId id="259"/>
            <p14:sldId id="261"/>
            <p14:sldId id="262"/>
            <p14:sldId id="263"/>
            <p14:sldId id="264"/>
            <p14:sldId id="277"/>
            <p14:sldId id="278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A5E0DA-0C7D-40F5-B443-457FE6C6BFD2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E5FA497-F1AD-45FA-9F0A-99E297DEDF92}">
      <dgm:prSet/>
      <dgm:spPr/>
      <dgm:t>
        <a:bodyPr/>
        <a:lstStyle/>
        <a:p>
          <a:r>
            <a:rPr lang="en-US"/>
            <a:t>1. Lightweight and fast</a:t>
          </a:r>
        </a:p>
      </dgm:t>
    </dgm:pt>
    <dgm:pt modelId="{8C6EB078-FD5D-436F-8944-E4F6A07314FB}" type="parTrans" cxnId="{7D5246A1-1EF2-4F6D-9D6A-2697A1485710}">
      <dgm:prSet/>
      <dgm:spPr/>
      <dgm:t>
        <a:bodyPr/>
        <a:lstStyle/>
        <a:p>
          <a:endParaRPr lang="en-US"/>
        </a:p>
      </dgm:t>
    </dgm:pt>
    <dgm:pt modelId="{5DE38816-78FB-46EC-8CD4-295EBCFDAFAC}" type="sibTrans" cxnId="{7D5246A1-1EF2-4F6D-9D6A-2697A1485710}">
      <dgm:prSet/>
      <dgm:spPr/>
      <dgm:t>
        <a:bodyPr/>
        <a:lstStyle/>
        <a:p>
          <a:endParaRPr lang="en-US"/>
        </a:p>
      </dgm:t>
    </dgm:pt>
    <dgm:pt modelId="{3240962F-E63B-4BFA-85FF-C2815CA47395}">
      <dgm:prSet/>
      <dgm:spPr/>
      <dgm:t>
        <a:bodyPr/>
        <a:lstStyle/>
        <a:p>
          <a:r>
            <a:rPr lang="en-US"/>
            <a:t>2. Portability</a:t>
          </a:r>
        </a:p>
      </dgm:t>
    </dgm:pt>
    <dgm:pt modelId="{24826882-AAEB-413F-B301-6D71DEA77B17}" type="parTrans" cxnId="{39865A87-0074-45E6-B059-BA1C68602BDF}">
      <dgm:prSet/>
      <dgm:spPr/>
      <dgm:t>
        <a:bodyPr/>
        <a:lstStyle/>
        <a:p>
          <a:endParaRPr lang="en-US"/>
        </a:p>
      </dgm:t>
    </dgm:pt>
    <dgm:pt modelId="{B7400123-D95A-4208-BF0F-430B080347A5}" type="sibTrans" cxnId="{39865A87-0074-45E6-B059-BA1C68602BDF}">
      <dgm:prSet/>
      <dgm:spPr/>
      <dgm:t>
        <a:bodyPr/>
        <a:lstStyle/>
        <a:p>
          <a:endParaRPr lang="en-US"/>
        </a:p>
      </dgm:t>
    </dgm:pt>
    <dgm:pt modelId="{5C252316-A8FB-49D8-86DC-958D67A06821}">
      <dgm:prSet/>
      <dgm:spPr/>
      <dgm:t>
        <a:bodyPr/>
        <a:lstStyle/>
        <a:p>
          <a:r>
            <a:rPr lang="en-US"/>
            <a:t>3. Isolation</a:t>
          </a:r>
        </a:p>
      </dgm:t>
    </dgm:pt>
    <dgm:pt modelId="{16D7C50D-75EE-4A5F-B5AA-D37D48A71541}" type="parTrans" cxnId="{41DB102C-D129-4476-AD82-334BEC6DDCFA}">
      <dgm:prSet/>
      <dgm:spPr/>
      <dgm:t>
        <a:bodyPr/>
        <a:lstStyle/>
        <a:p>
          <a:endParaRPr lang="en-US"/>
        </a:p>
      </dgm:t>
    </dgm:pt>
    <dgm:pt modelId="{AD4F5245-9F63-499E-B86A-68FBC51541B9}" type="sibTrans" cxnId="{41DB102C-D129-4476-AD82-334BEC6DDCFA}">
      <dgm:prSet/>
      <dgm:spPr/>
      <dgm:t>
        <a:bodyPr/>
        <a:lstStyle/>
        <a:p>
          <a:endParaRPr lang="en-US"/>
        </a:p>
      </dgm:t>
    </dgm:pt>
    <dgm:pt modelId="{B3D3987B-2A01-473F-AF6B-2C6DBBE1E010}">
      <dgm:prSet/>
      <dgm:spPr/>
      <dgm:t>
        <a:bodyPr/>
        <a:lstStyle/>
        <a:p>
          <a:r>
            <a:rPr lang="en-US"/>
            <a:t>4. Scalability</a:t>
          </a:r>
        </a:p>
      </dgm:t>
    </dgm:pt>
    <dgm:pt modelId="{E20B6931-31FC-4699-B6EA-23046750FB65}" type="parTrans" cxnId="{4B0663D6-7EBD-4B83-88F7-21880ECC3530}">
      <dgm:prSet/>
      <dgm:spPr/>
      <dgm:t>
        <a:bodyPr/>
        <a:lstStyle/>
        <a:p>
          <a:endParaRPr lang="en-US"/>
        </a:p>
      </dgm:t>
    </dgm:pt>
    <dgm:pt modelId="{28545C07-4CBB-4713-B430-499FCE7BD74E}" type="sibTrans" cxnId="{4B0663D6-7EBD-4B83-88F7-21880ECC3530}">
      <dgm:prSet/>
      <dgm:spPr/>
      <dgm:t>
        <a:bodyPr/>
        <a:lstStyle/>
        <a:p>
          <a:endParaRPr lang="en-US"/>
        </a:p>
      </dgm:t>
    </dgm:pt>
    <dgm:pt modelId="{71C725DA-DBE0-4BB0-B4DF-0FC1F815A336}" type="pres">
      <dgm:prSet presAssocID="{C0A5E0DA-0C7D-40F5-B443-457FE6C6BFD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F0D1C14-5912-40C6-8CB3-144637E6DC1B}" type="pres">
      <dgm:prSet presAssocID="{0E5FA497-F1AD-45FA-9F0A-99E297DEDF92}" presName="hierRoot1" presStyleCnt="0"/>
      <dgm:spPr/>
    </dgm:pt>
    <dgm:pt modelId="{6C011341-AFDA-4D49-AA3C-3D2114827E88}" type="pres">
      <dgm:prSet presAssocID="{0E5FA497-F1AD-45FA-9F0A-99E297DEDF92}" presName="composite" presStyleCnt="0"/>
      <dgm:spPr/>
    </dgm:pt>
    <dgm:pt modelId="{66E3A701-00DB-4694-AF31-B9CD51BB8B1A}" type="pres">
      <dgm:prSet presAssocID="{0E5FA497-F1AD-45FA-9F0A-99E297DEDF92}" presName="background" presStyleLbl="node0" presStyleIdx="0" presStyleCnt="4"/>
      <dgm:spPr/>
    </dgm:pt>
    <dgm:pt modelId="{86A82CF0-1D14-4C51-8616-D639364672EA}" type="pres">
      <dgm:prSet presAssocID="{0E5FA497-F1AD-45FA-9F0A-99E297DEDF92}" presName="text" presStyleLbl="fgAcc0" presStyleIdx="0" presStyleCnt="4">
        <dgm:presLayoutVars>
          <dgm:chPref val="3"/>
        </dgm:presLayoutVars>
      </dgm:prSet>
      <dgm:spPr/>
    </dgm:pt>
    <dgm:pt modelId="{8FBAB432-B1B9-4D02-AAAC-464D87580E19}" type="pres">
      <dgm:prSet presAssocID="{0E5FA497-F1AD-45FA-9F0A-99E297DEDF92}" presName="hierChild2" presStyleCnt="0"/>
      <dgm:spPr/>
    </dgm:pt>
    <dgm:pt modelId="{085888EC-5884-4CDE-B5E8-89168B75BA7C}" type="pres">
      <dgm:prSet presAssocID="{3240962F-E63B-4BFA-85FF-C2815CA47395}" presName="hierRoot1" presStyleCnt="0"/>
      <dgm:spPr/>
    </dgm:pt>
    <dgm:pt modelId="{3D73C957-25C0-47EC-BDB1-2835C8DBB78C}" type="pres">
      <dgm:prSet presAssocID="{3240962F-E63B-4BFA-85FF-C2815CA47395}" presName="composite" presStyleCnt="0"/>
      <dgm:spPr/>
    </dgm:pt>
    <dgm:pt modelId="{987175AC-123B-4CA6-B36F-19D484503756}" type="pres">
      <dgm:prSet presAssocID="{3240962F-E63B-4BFA-85FF-C2815CA47395}" presName="background" presStyleLbl="node0" presStyleIdx="1" presStyleCnt="4"/>
      <dgm:spPr/>
    </dgm:pt>
    <dgm:pt modelId="{1E71A32B-F16E-468B-B412-9B39463A4357}" type="pres">
      <dgm:prSet presAssocID="{3240962F-E63B-4BFA-85FF-C2815CA47395}" presName="text" presStyleLbl="fgAcc0" presStyleIdx="1" presStyleCnt="4">
        <dgm:presLayoutVars>
          <dgm:chPref val="3"/>
        </dgm:presLayoutVars>
      </dgm:prSet>
      <dgm:spPr/>
    </dgm:pt>
    <dgm:pt modelId="{BD2064F1-C692-40F3-9933-A8D58777FCDC}" type="pres">
      <dgm:prSet presAssocID="{3240962F-E63B-4BFA-85FF-C2815CA47395}" presName="hierChild2" presStyleCnt="0"/>
      <dgm:spPr/>
    </dgm:pt>
    <dgm:pt modelId="{48130D1A-ACD5-469A-9F54-60CC05D54B09}" type="pres">
      <dgm:prSet presAssocID="{5C252316-A8FB-49D8-86DC-958D67A06821}" presName="hierRoot1" presStyleCnt="0"/>
      <dgm:spPr/>
    </dgm:pt>
    <dgm:pt modelId="{279A2072-7B6F-4401-A2F4-DB102830317A}" type="pres">
      <dgm:prSet presAssocID="{5C252316-A8FB-49D8-86DC-958D67A06821}" presName="composite" presStyleCnt="0"/>
      <dgm:spPr/>
    </dgm:pt>
    <dgm:pt modelId="{46AE5226-C3FA-420C-A482-1F129E48829D}" type="pres">
      <dgm:prSet presAssocID="{5C252316-A8FB-49D8-86DC-958D67A06821}" presName="background" presStyleLbl="node0" presStyleIdx="2" presStyleCnt="4"/>
      <dgm:spPr/>
    </dgm:pt>
    <dgm:pt modelId="{0FCDDBD6-DB64-448A-BE28-0AB946613A7A}" type="pres">
      <dgm:prSet presAssocID="{5C252316-A8FB-49D8-86DC-958D67A06821}" presName="text" presStyleLbl="fgAcc0" presStyleIdx="2" presStyleCnt="4">
        <dgm:presLayoutVars>
          <dgm:chPref val="3"/>
        </dgm:presLayoutVars>
      </dgm:prSet>
      <dgm:spPr/>
    </dgm:pt>
    <dgm:pt modelId="{70A56003-FC3E-4A59-A4FA-4994DA101ABC}" type="pres">
      <dgm:prSet presAssocID="{5C252316-A8FB-49D8-86DC-958D67A06821}" presName="hierChild2" presStyleCnt="0"/>
      <dgm:spPr/>
    </dgm:pt>
    <dgm:pt modelId="{9E212CD0-EB80-4BBB-BD26-1DAF42AC12DF}" type="pres">
      <dgm:prSet presAssocID="{B3D3987B-2A01-473F-AF6B-2C6DBBE1E010}" presName="hierRoot1" presStyleCnt="0"/>
      <dgm:spPr/>
    </dgm:pt>
    <dgm:pt modelId="{924CBA7F-2E03-4C28-BBA7-FFCDDD7DFFE9}" type="pres">
      <dgm:prSet presAssocID="{B3D3987B-2A01-473F-AF6B-2C6DBBE1E010}" presName="composite" presStyleCnt="0"/>
      <dgm:spPr/>
    </dgm:pt>
    <dgm:pt modelId="{C2EF981F-143C-4D2A-B845-12DC35FF3143}" type="pres">
      <dgm:prSet presAssocID="{B3D3987B-2A01-473F-AF6B-2C6DBBE1E010}" presName="background" presStyleLbl="node0" presStyleIdx="3" presStyleCnt="4"/>
      <dgm:spPr/>
    </dgm:pt>
    <dgm:pt modelId="{501153A3-E30B-422A-B968-EDFC5D4E254C}" type="pres">
      <dgm:prSet presAssocID="{B3D3987B-2A01-473F-AF6B-2C6DBBE1E010}" presName="text" presStyleLbl="fgAcc0" presStyleIdx="3" presStyleCnt="4">
        <dgm:presLayoutVars>
          <dgm:chPref val="3"/>
        </dgm:presLayoutVars>
      </dgm:prSet>
      <dgm:spPr/>
    </dgm:pt>
    <dgm:pt modelId="{E4FFCCF5-8560-4CF7-A11B-AD03363427B7}" type="pres">
      <dgm:prSet presAssocID="{B3D3987B-2A01-473F-AF6B-2C6DBBE1E010}" presName="hierChild2" presStyleCnt="0"/>
      <dgm:spPr/>
    </dgm:pt>
  </dgm:ptLst>
  <dgm:cxnLst>
    <dgm:cxn modelId="{AE712A2A-B430-4D42-BAE5-E4A002D41A99}" type="presOf" srcId="{3240962F-E63B-4BFA-85FF-C2815CA47395}" destId="{1E71A32B-F16E-468B-B412-9B39463A4357}" srcOrd="0" destOrd="0" presId="urn:microsoft.com/office/officeart/2005/8/layout/hierarchy1"/>
    <dgm:cxn modelId="{41DB102C-D129-4476-AD82-334BEC6DDCFA}" srcId="{C0A5E0DA-0C7D-40F5-B443-457FE6C6BFD2}" destId="{5C252316-A8FB-49D8-86DC-958D67A06821}" srcOrd="2" destOrd="0" parTransId="{16D7C50D-75EE-4A5F-B5AA-D37D48A71541}" sibTransId="{AD4F5245-9F63-499E-B86A-68FBC51541B9}"/>
    <dgm:cxn modelId="{74288432-1C24-42E3-B449-F11957E01EF3}" type="presOf" srcId="{C0A5E0DA-0C7D-40F5-B443-457FE6C6BFD2}" destId="{71C725DA-DBE0-4BB0-B4DF-0FC1F815A336}" srcOrd="0" destOrd="0" presId="urn:microsoft.com/office/officeart/2005/8/layout/hierarchy1"/>
    <dgm:cxn modelId="{A7C0D355-6846-49F6-9DC5-8047C7B1A205}" type="presOf" srcId="{5C252316-A8FB-49D8-86DC-958D67A06821}" destId="{0FCDDBD6-DB64-448A-BE28-0AB946613A7A}" srcOrd="0" destOrd="0" presId="urn:microsoft.com/office/officeart/2005/8/layout/hierarchy1"/>
    <dgm:cxn modelId="{39865A87-0074-45E6-B059-BA1C68602BDF}" srcId="{C0A5E0DA-0C7D-40F5-B443-457FE6C6BFD2}" destId="{3240962F-E63B-4BFA-85FF-C2815CA47395}" srcOrd="1" destOrd="0" parTransId="{24826882-AAEB-413F-B301-6D71DEA77B17}" sibTransId="{B7400123-D95A-4208-BF0F-430B080347A5}"/>
    <dgm:cxn modelId="{FAF3BB96-2E2B-4257-8D2F-DD98F6E488AF}" type="presOf" srcId="{0E5FA497-F1AD-45FA-9F0A-99E297DEDF92}" destId="{86A82CF0-1D14-4C51-8616-D639364672EA}" srcOrd="0" destOrd="0" presId="urn:microsoft.com/office/officeart/2005/8/layout/hierarchy1"/>
    <dgm:cxn modelId="{7D5246A1-1EF2-4F6D-9D6A-2697A1485710}" srcId="{C0A5E0DA-0C7D-40F5-B443-457FE6C6BFD2}" destId="{0E5FA497-F1AD-45FA-9F0A-99E297DEDF92}" srcOrd="0" destOrd="0" parTransId="{8C6EB078-FD5D-436F-8944-E4F6A07314FB}" sibTransId="{5DE38816-78FB-46EC-8CD4-295EBCFDAFAC}"/>
    <dgm:cxn modelId="{A60E9FCB-2B32-4027-97EE-B2603F7410DD}" type="presOf" srcId="{B3D3987B-2A01-473F-AF6B-2C6DBBE1E010}" destId="{501153A3-E30B-422A-B968-EDFC5D4E254C}" srcOrd="0" destOrd="0" presId="urn:microsoft.com/office/officeart/2005/8/layout/hierarchy1"/>
    <dgm:cxn modelId="{4B0663D6-7EBD-4B83-88F7-21880ECC3530}" srcId="{C0A5E0DA-0C7D-40F5-B443-457FE6C6BFD2}" destId="{B3D3987B-2A01-473F-AF6B-2C6DBBE1E010}" srcOrd="3" destOrd="0" parTransId="{E20B6931-31FC-4699-B6EA-23046750FB65}" sibTransId="{28545C07-4CBB-4713-B430-499FCE7BD74E}"/>
    <dgm:cxn modelId="{6D2FB047-CEA9-4FA8-8BED-4FE0DDE03642}" type="presParOf" srcId="{71C725DA-DBE0-4BB0-B4DF-0FC1F815A336}" destId="{4F0D1C14-5912-40C6-8CB3-144637E6DC1B}" srcOrd="0" destOrd="0" presId="urn:microsoft.com/office/officeart/2005/8/layout/hierarchy1"/>
    <dgm:cxn modelId="{5CC73B13-A36E-4217-90B6-98BC4B143C1B}" type="presParOf" srcId="{4F0D1C14-5912-40C6-8CB3-144637E6DC1B}" destId="{6C011341-AFDA-4D49-AA3C-3D2114827E88}" srcOrd="0" destOrd="0" presId="urn:microsoft.com/office/officeart/2005/8/layout/hierarchy1"/>
    <dgm:cxn modelId="{55A7EBF6-B525-4EEF-87C6-60FD4AEFF879}" type="presParOf" srcId="{6C011341-AFDA-4D49-AA3C-3D2114827E88}" destId="{66E3A701-00DB-4694-AF31-B9CD51BB8B1A}" srcOrd="0" destOrd="0" presId="urn:microsoft.com/office/officeart/2005/8/layout/hierarchy1"/>
    <dgm:cxn modelId="{EC937328-E81D-495D-BDD1-A2548E8A66BA}" type="presParOf" srcId="{6C011341-AFDA-4D49-AA3C-3D2114827E88}" destId="{86A82CF0-1D14-4C51-8616-D639364672EA}" srcOrd="1" destOrd="0" presId="urn:microsoft.com/office/officeart/2005/8/layout/hierarchy1"/>
    <dgm:cxn modelId="{D79FD136-84A4-4C3E-A1CB-7950361615B2}" type="presParOf" srcId="{4F0D1C14-5912-40C6-8CB3-144637E6DC1B}" destId="{8FBAB432-B1B9-4D02-AAAC-464D87580E19}" srcOrd="1" destOrd="0" presId="urn:microsoft.com/office/officeart/2005/8/layout/hierarchy1"/>
    <dgm:cxn modelId="{B78BA7EE-79F2-4AC6-85FE-D1F22D1713D9}" type="presParOf" srcId="{71C725DA-DBE0-4BB0-B4DF-0FC1F815A336}" destId="{085888EC-5884-4CDE-B5E8-89168B75BA7C}" srcOrd="1" destOrd="0" presId="urn:microsoft.com/office/officeart/2005/8/layout/hierarchy1"/>
    <dgm:cxn modelId="{60B4C7E8-B823-4742-85FB-D54BEF46F4C6}" type="presParOf" srcId="{085888EC-5884-4CDE-B5E8-89168B75BA7C}" destId="{3D73C957-25C0-47EC-BDB1-2835C8DBB78C}" srcOrd="0" destOrd="0" presId="urn:microsoft.com/office/officeart/2005/8/layout/hierarchy1"/>
    <dgm:cxn modelId="{CBDD93BD-A06C-48A5-99BF-2C61882FACF1}" type="presParOf" srcId="{3D73C957-25C0-47EC-BDB1-2835C8DBB78C}" destId="{987175AC-123B-4CA6-B36F-19D484503756}" srcOrd="0" destOrd="0" presId="urn:microsoft.com/office/officeart/2005/8/layout/hierarchy1"/>
    <dgm:cxn modelId="{96D3FC39-3333-449A-85CD-4B203C96BFFE}" type="presParOf" srcId="{3D73C957-25C0-47EC-BDB1-2835C8DBB78C}" destId="{1E71A32B-F16E-468B-B412-9B39463A4357}" srcOrd="1" destOrd="0" presId="urn:microsoft.com/office/officeart/2005/8/layout/hierarchy1"/>
    <dgm:cxn modelId="{F26FC289-5272-42C6-9D39-5CE36DD15178}" type="presParOf" srcId="{085888EC-5884-4CDE-B5E8-89168B75BA7C}" destId="{BD2064F1-C692-40F3-9933-A8D58777FCDC}" srcOrd="1" destOrd="0" presId="urn:microsoft.com/office/officeart/2005/8/layout/hierarchy1"/>
    <dgm:cxn modelId="{273B14CF-19CB-4369-AEBC-3D0AADA64C37}" type="presParOf" srcId="{71C725DA-DBE0-4BB0-B4DF-0FC1F815A336}" destId="{48130D1A-ACD5-469A-9F54-60CC05D54B09}" srcOrd="2" destOrd="0" presId="urn:microsoft.com/office/officeart/2005/8/layout/hierarchy1"/>
    <dgm:cxn modelId="{77F46BDA-DD02-4B5E-B72D-4ABD5A508EE2}" type="presParOf" srcId="{48130D1A-ACD5-469A-9F54-60CC05D54B09}" destId="{279A2072-7B6F-4401-A2F4-DB102830317A}" srcOrd="0" destOrd="0" presId="urn:microsoft.com/office/officeart/2005/8/layout/hierarchy1"/>
    <dgm:cxn modelId="{8DF72FFC-3CFE-41C8-B8EE-BF5CF3DA883E}" type="presParOf" srcId="{279A2072-7B6F-4401-A2F4-DB102830317A}" destId="{46AE5226-C3FA-420C-A482-1F129E48829D}" srcOrd="0" destOrd="0" presId="urn:microsoft.com/office/officeart/2005/8/layout/hierarchy1"/>
    <dgm:cxn modelId="{AC2A6242-EFC1-46C7-8A10-D7AF3083B18C}" type="presParOf" srcId="{279A2072-7B6F-4401-A2F4-DB102830317A}" destId="{0FCDDBD6-DB64-448A-BE28-0AB946613A7A}" srcOrd="1" destOrd="0" presId="urn:microsoft.com/office/officeart/2005/8/layout/hierarchy1"/>
    <dgm:cxn modelId="{E4C650B7-8DEB-4F2C-AFA8-CDA00EE91EFB}" type="presParOf" srcId="{48130D1A-ACD5-469A-9F54-60CC05D54B09}" destId="{70A56003-FC3E-4A59-A4FA-4994DA101ABC}" srcOrd="1" destOrd="0" presId="urn:microsoft.com/office/officeart/2005/8/layout/hierarchy1"/>
    <dgm:cxn modelId="{4C8856B5-D3AF-4D9B-8C3F-4BA2E51F3D7B}" type="presParOf" srcId="{71C725DA-DBE0-4BB0-B4DF-0FC1F815A336}" destId="{9E212CD0-EB80-4BBB-BD26-1DAF42AC12DF}" srcOrd="3" destOrd="0" presId="urn:microsoft.com/office/officeart/2005/8/layout/hierarchy1"/>
    <dgm:cxn modelId="{D32D78BA-8DFD-4D1C-A172-BDF694CA014C}" type="presParOf" srcId="{9E212CD0-EB80-4BBB-BD26-1DAF42AC12DF}" destId="{924CBA7F-2E03-4C28-BBA7-FFCDDD7DFFE9}" srcOrd="0" destOrd="0" presId="urn:microsoft.com/office/officeart/2005/8/layout/hierarchy1"/>
    <dgm:cxn modelId="{248C9F68-5D43-4F05-9F52-A73E3F62C02B}" type="presParOf" srcId="{924CBA7F-2E03-4C28-BBA7-FFCDDD7DFFE9}" destId="{C2EF981F-143C-4D2A-B845-12DC35FF3143}" srcOrd="0" destOrd="0" presId="urn:microsoft.com/office/officeart/2005/8/layout/hierarchy1"/>
    <dgm:cxn modelId="{07B1FC6F-EB63-46AA-ABE2-8901615FFB25}" type="presParOf" srcId="{924CBA7F-2E03-4C28-BBA7-FFCDDD7DFFE9}" destId="{501153A3-E30B-422A-B968-EDFC5D4E254C}" srcOrd="1" destOrd="0" presId="urn:microsoft.com/office/officeart/2005/8/layout/hierarchy1"/>
    <dgm:cxn modelId="{97AEBBBC-7129-4043-A615-BD7DF34D5723}" type="presParOf" srcId="{9E212CD0-EB80-4BBB-BD26-1DAF42AC12DF}" destId="{E4FFCCF5-8560-4CF7-A11B-AD03363427B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C8565CF-E2B6-47FD-A8D0-CF3B61BF324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F9EAE2B-82F0-4EB9-8A22-DA94D5AB72AE}">
      <dgm:prSet/>
      <dgm:spPr/>
      <dgm:t>
        <a:bodyPr/>
        <a:lstStyle/>
        <a:p>
          <a:r>
            <a:rPr lang="en-US"/>
            <a:t>1. </a:t>
          </a:r>
          <a:r>
            <a:rPr lang="en-US" b="1"/>
            <a:t>Build an image</a:t>
          </a:r>
          <a:r>
            <a:rPr lang="en-US"/>
            <a:t>: Developers define the application's environment and dependencies by writing a Dockerfile, then build the image using the `docker build` command.</a:t>
          </a:r>
        </a:p>
      </dgm:t>
    </dgm:pt>
    <dgm:pt modelId="{06E666DE-CC10-4B82-99F6-2A4645283377}" type="parTrans" cxnId="{2AB9F796-82D7-4F64-B4DC-48F2910F0212}">
      <dgm:prSet/>
      <dgm:spPr/>
      <dgm:t>
        <a:bodyPr/>
        <a:lstStyle/>
        <a:p>
          <a:endParaRPr lang="en-US"/>
        </a:p>
      </dgm:t>
    </dgm:pt>
    <dgm:pt modelId="{18E44D54-BD15-4291-A554-2C580564EDAA}" type="sibTrans" cxnId="{2AB9F796-82D7-4F64-B4DC-48F2910F0212}">
      <dgm:prSet/>
      <dgm:spPr/>
      <dgm:t>
        <a:bodyPr/>
        <a:lstStyle/>
        <a:p>
          <a:endParaRPr lang="en-US"/>
        </a:p>
      </dgm:t>
    </dgm:pt>
    <dgm:pt modelId="{5E95DECB-3BA4-4BA0-B459-65627A92A143}">
      <dgm:prSet/>
      <dgm:spPr/>
      <dgm:t>
        <a:bodyPr/>
        <a:lstStyle/>
        <a:p>
          <a:r>
            <a:rPr lang="en-US"/>
            <a:t>2. </a:t>
          </a:r>
          <a:r>
            <a:rPr lang="en-US" b="1"/>
            <a:t>Distribute the image</a:t>
          </a:r>
          <a:r>
            <a:rPr lang="en-US"/>
            <a:t>: The built image can be uploaded to a Docker Registry for other users to use.</a:t>
          </a:r>
        </a:p>
      </dgm:t>
    </dgm:pt>
    <dgm:pt modelId="{AFB4440A-1B85-48F2-8059-D5E9D038D5B3}" type="parTrans" cxnId="{5EA22C9C-1FFC-4AE7-B173-43FE617378FB}">
      <dgm:prSet/>
      <dgm:spPr/>
      <dgm:t>
        <a:bodyPr/>
        <a:lstStyle/>
        <a:p>
          <a:endParaRPr lang="en-US"/>
        </a:p>
      </dgm:t>
    </dgm:pt>
    <dgm:pt modelId="{B2E22E20-0801-44A5-B028-95E187DEBCF8}" type="sibTrans" cxnId="{5EA22C9C-1FFC-4AE7-B173-43FE617378FB}">
      <dgm:prSet/>
      <dgm:spPr/>
      <dgm:t>
        <a:bodyPr/>
        <a:lstStyle/>
        <a:p>
          <a:endParaRPr lang="en-US"/>
        </a:p>
      </dgm:t>
    </dgm:pt>
    <dgm:pt modelId="{759CB0C8-9765-4AB1-8111-0C5C35BC5D28}">
      <dgm:prSet/>
      <dgm:spPr/>
      <dgm:t>
        <a:bodyPr/>
        <a:lstStyle/>
        <a:p>
          <a:r>
            <a:rPr lang="en-US"/>
            <a:t>3. </a:t>
          </a:r>
          <a:r>
            <a:rPr lang="en-US" b="1"/>
            <a:t>Run a container</a:t>
          </a:r>
          <a:r>
            <a:rPr lang="en-US"/>
            <a:t>: Users can pull images from the Registry and run containers using the `docker run` command.</a:t>
          </a:r>
        </a:p>
      </dgm:t>
    </dgm:pt>
    <dgm:pt modelId="{EC667FD2-E4B5-4CD9-9307-10CF55814AFF}" type="parTrans" cxnId="{D20F4139-D5D6-47A6-BF04-8899DBB019B0}">
      <dgm:prSet/>
      <dgm:spPr/>
      <dgm:t>
        <a:bodyPr/>
        <a:lstStyle/>
        <a:p>
          <a:endParaRPr lang="en-US"/>
        </a:p>
      </dgm:t>
    </dgm:pt>
    <dgm:pt modelId="{8F726AC8-941F-48B8-A66C-FC2B2143FB0B}" type="sibTrans" cxnId="{D20F4139-D5D6-47A6-BF04-8899DBB019B0}">
      <dgm:prSet/>
      <dgm:spPr/>
      <dgm:t>
        <a:bodyPr/>
        <a:lstStyle/>
        <a:p>
          <a:endParaRPr lang="en-US"/>
        </a:p>
      </dgm:t>
    </dgm:pt>
    <dgm:pt modelId="{F64FFE80-8C68-4F46-B1AD-B9F28C62B236}">
      <dgm:prSet/>
      <dgm:spPr/>
      <dgm:t>
        <a:bodyPr/>
        <a:lstStyle/>
        <a:p>
          <a:r>
            <a:rPr lang="en-US"/>
            <a:t>4. </a:t>
          </a:r>
          <a:r>
            <a:rPr lang="en-US" b="1"/>
            <a:t>Manage containers</a:t>
          </a:r>
          <a:r>
            <a:rPr lang="en-US"/>
            <a:t>: Users can manage running containers using commands like `docker ps`, `docker stop`, `docker restart`, etc.</a:t>
          </a:r>
        </a:p>
      </dgm:t>
    </dgm:pt>
    <dgm:pt modelId="{8B8C149A-5F7E-4D36-90AB-F26EE3C1D115}" type="parTrans" cxnId="{C7E8D66B-8043-4B26-BD26-9B64F7BA20E5}">
      <dgm:prSet/>
      <dgm:spPr/>
      <dgm:t>
        <a:bodyPr/>
        <a:lstStyle/>
        <a:p>
          <a:endParaRPr lang="en-US"/>
        </a:p>
      </dgm:t>
    </dgm:pt>
    <dgm:pt modelId="{07BEF38D-D1F8-4FCE-98D6-74C81496B020}" type="sibTrans" cxnId="{C7E8D66B-8043-4B26-BD26-9B64F7BA20E5}">
      <dgm:prSet/>
      <dgm:spPr/>
      <dgm:t>
        <a:bodyPr/>
        <a:lstStyle/>
        <a:p>
          <a:endParaRPr lang="en-US"/>
        </a:p>
      </dgm:t>
    </dgm:pt>
    <dgm:pt modelId="{AE1EC1FC-922D-4D5A-8E43-F4DC90840DC3}" type="pres">
      <dgm:prSet presAssocID="{4C8565CF-E2B6-47FD-A8D0-CF3B61BF3245}" presName="root" presStyleCnt="0">
        <dgm:presLayoutVars>
          <dgm:dir/>
          <dgm:resizeHandles val="exact"/>
        </dgm:presLayoutVars>
      </dgm:prSet>
      <dgm:spPr/>
    </dgm:pt>
    <dgm:pt modelId="{BC5F99F3-5A89-440D-AB06-7ECB07370B06}" type="pres">
      <dgm:prSet presAssocID="{CF9EAE2B-82F0-4EB9-8A22-DA94D5AB72AE}" presName="compNode" presStyleCnt="0"/>
      <dgm:spPr/>
    </dgm:pt>
    <dgm:pt modelId="{66309D32-609D-40C6-A4AD-21FD00804342}" type="pres">
      <dgm:prSet presAssocID="{CF9EAE2B-82F0-4EB9-8A22-DA94D5AB72A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挖掘机"/>
        </a:ext>
      </dgm:extLst>
    </dgm:pt>
    <dgm:pt modelId="{56CCF85F-A7BC-4E4E-BAC5-63D622CEB936}" type="pres">
      <dgm:prSet presAssocID="{CF9EAE2B-82F0-4EB9-8A22-DA94D5AB72AE}" presName="spaceRect" presStyleCnt="0"/>
      <dgm:spPr/>
    </dgm:pt>
    <dgm:pt modelId="{245C0006-6FFA-4D84-AF63-D4793F65BB15}" type="pres">
      <dgm:prSet presAssocID="{CF9EAE2B-82F0-4EB9-8A22-DA94D5AB72AE}" presName="textRect" presStyleLbl="revTx" presStyleIdx="0" presStyleCnt="4">
        <dgm:presLayoutVars>
          <dgm:chMax val="1"/>
          <dgm:chPref val="1"/>
        </dgm:presLayoutVars>
      </dgm:prSet>
      <dgm:spPr/>
    </dgm:pt>
    <dgm:pt modelId="{332716EB-B28D-4AA4-AFD0-C6D8730A9204}" type="pres">
      <dgm:prSet presAssocID="{18E44D54-BD15-4291-A554-2C580564EDAA}" presName="sibTrans" presStyleCnt="0"/>
      <dgm:spPr/>
    </dgm:pt>
    <dgm:pt modelId="{EC1627C5-A8C9-496F-8BB3-C3F8C95EB71C}" type="pres">
      <dgm:prSet presAssocID="{5E95DECB-3BA4-4BA0-B459-65627A92A143}" presName="compNode" presStyleCnt="0"/>
      <dgm:spPr/>
    </dgm:pt>
    <dgm:pt modelId="{32B64A6C-B51B-4384-B029-15B5A807F299}" type="pres">
      <dgm:prSet presAssocID="{5E95DECB-3BA4-4BA0-B459-65627A92A14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垃圾"/>
        </a:ext>
      </dgm:extLst>
    </dgm:pt>
    <dgm:pt modelId="{B5DEA512-9642-4740-A7C2-28F80B4BF4E0}" type="pres">
      <dgm:prSet presAssocID="{5E95DECB-3BA4-4BA0-B459-65627A92A143}" presName="spaceRect" presStyleCnt="0"/>
      <dgm:spPr/>
    </dgm:pt>
    <dgm:pt modelId="{42620BF5-5D22-4D56-8B33-7E578A8D79CB}" type="pres">
      <dgm:prSet presAssocID="{5E95DECB-3BA4-4BA0-B459-65627A92A143}" presName="textRect" presStyleLbl="revTx" presStyleIdx="1" presStyleCnt="4">
        <dgm:presLayoutVars>
          <dgm:chMax val="1"/>
          <dgm:chPref val="1"/>
        </dgm:presLayoutVars>
      </dgm:prSet>
      <dgm:spPr/>
    </dgm:pt>
    <dgm:pt modelId="{51330E8C-4E12-4993-BB76-13D6230992B9}" type="pres">
      <dgm:prSet presAssocID="{B2E22E20-0801-44A5-B028-95E187DEBCF8}" presName="sibTrans" presStyleCnt="0"/>
      <dgm:spPr/>
    </dgm:pt>
    <dgm:pt modelId="{1F714734-A3DC-44F3-A107-350ED022220F}" type="pres">
      <dgm:prSet presAssocID="{759CB0C8-9765-4AB1-8111-0C5C35BC5D28}" presName="compNode" presStyleCnt="0"/>
      <dgm:spPr/>
    </dgm:pt>
    <dgm:pt modelId="{7C22AE03-D053-4BA6-9526-F0B45B947F09}" type="pres">
      <dgm:prSet presAssocID="{759CB0C8-9765-4AB1-8111-0C5C35BC5D2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数据库"/>
        </a:ext>
      </dgm:extLst>
    </dgm:pt>
    <dgm:pt modelId="{ADD8248D-E6EF-4126-B7E8-FEF6C21673AB}" type="pres">
      <dgm:prSet presAssocID="{759CB0C8-9765-4AB1-8111-0C5C35BC5D28}" presName="spaceRect" presStyleCnt="0"/>
      <dgm:spPr/>
    </dgm:pt>
    <dgm:pt modelId="{7DFA52A9-ECD3-4877-9089-9B1B6E399EA3}" type="pres">
      <dgm:prSet presAssocID="{759CB0C8-9765-4AB1-8111-0C5C35BC5D28}" presName="textRect" presStyleLbl="revTx" presStyleIdx="2" presStyleCnt="4">
        <dgm:presLayoutVars>
          <dgm:chMax val="1"/>
          <dgm:chPref val="1"/>
        </dgm:presLayoutVars>
      </dgm:prSet>
      <dgm:spPr/>
    </dgm:pt>
    <dgm:pt modelId="{E2F38A19-DE0B-46CD-80DA-A3D0CCBE37F9}" type="pres">
      <dgm:prSet presAssocID="{8F726AC8-941F-48B8-A66C-FC2B2143FB0B}" presName="sibTrans" presStyleCnt="0"/>
      <dgm:spPr/>
    </dgm:pt>
    <dgm:pt modelId="{322BA708-3375-4ED6-A6A5-6D1AA7E4FE85}" type="pres">
      <dgm:prSet presAssocID="{F64FFE80-8C68-4F46-B1AD-B9F28C62B236}" presName="compNode" presStyleCnt="0"/>
      <dgm:spPr/>
    </dgm:pt>
    <dgm:pt modelId="{AF868EC2-003C-40DF-9246-B7DA37903B19}" type="pres">
      <dgm:prSet presAssocID="{F64FFE80-8C68-4F46-B1AD-B9F28C62B23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秒表"/>
        </a:ext>
      </dgm:extLst>
    </dgm:pt>
    <dgm:pt modelId="{B4D1D9B7-6EB6-48E2-AF49-F7C76034DCCB}" type="pres">
      <dgm:prSet presAssocID="{F64FFE80-8C68-4F46-B1AD-B9F28C62B236}" presName="spaceRect" presStyleCnt="0"/>
      <dgm:spPr/>
    </dgm:pt>
    <dgm:pt modelId="{676306A9-24DF-4863-A257-2159C4236569}" type="pres">
      <dgm:prSet presAssocID="{F64FFE80-8C68-4F46-B1AD-B9F28C62B23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D7F4F2B-6398-4266-BF95-05EC55615E6F}" type="presOf" srcId="{5E95DECB-3BA4-4BA0-B459-65627A92A143}" destId="{42620BF5-5D22-4D56-8B33-7E578A8D79CB}" srcOrd="0" destOrd="0" presId="urn:microsoft.com/office/officeart/2018/2/layout/IconLabelList"/>
    <dgm:cxn modelId="{D20F4139-D5D6-47A6-BF04-8899DBB019B0}" srcId="{4C8565CF-E2B6-47FD-A8D0-CF3B61BF3245}" destId="{759CB0C8-9765-4AB1-8111-0C5C35BC5D28}" srcOrd="2" destOrd="0" parTransId="{EC667FD2-E4B5-4CD9-9307-10CF55814AFF}" sibTransId="{8F726AC8-941F-48B8-A66C-FC2B2143FB0B}"/>
    <dgm:cxn modelId="{C7E8D66B-8043-4B26-BD26-9B64F7BA20E5}" srcId="{4C8565CF-E2B6-47FD-A8D0-CF3B61BF3245}" destId="{F64FFE80-8C68-4F46-B1AD-B9F28C62B236}" srcOrd="3" destOrd="0" parTransId="{8B8C149A-5F7E-4D36-90AB-F26EE3C1D115}" sibTransId="{07BEF38D-D1F8-4FCE-98D6-74C81496B020}"/>
    <dgm:cxn modelId="{F9A8B593-BC34-45FE-8B7D-6FC2F5836EED}" type="presOf" srcId="{4C8565CF-E2B6-47FD-A8D0-CF3B61BF3245}" destId="{AE1EC1FC-922D-4D5A-8E43-F4DC90840DC3}" srcOrd="0" destOrd="0" presId="urn:microsoft.com/office/officeart/2018/2/layout/IconLabelList"/>
    <dgm:cxn modelId="{2AB9F796-82D7-4F64-B4DC-48F2910F0212}" srcId="{4C8565CF-E2B6-47FD-A8D0-CF3B61BF3245}" destId="{CF9EAE2B-82F0-4EB9-8A22-DA94D5AB72AE}" srcOrd="0" destOrd="0" parTransId="{06E666DE-CC10-4B82-99F6-2A4645283377}" sibTransId="{18E44D54-BD15-4291-A554-2C580564EDAA}"/>
    <dgm:cxn modelId="{5EA22C9C-1FFC-4AE7-B173-43FE617378FB}" srcId="{4C8565CF-E2B6-47FD-A8D0-CF3B61BF3245}" destId="{5E95DECB-3BA4-4BA0-B459-65627A92A143}" srcOrd="1" destOrd="0" parTransId="{AFB4440A-1B85-48F2-8059-D5E9D038D5B3}" sibTransId="{B2E22E20-0801-44A5-B028-95E187DEBCF8}"/>
    <dgm:cxn modelId="{658B70CE-07F7-4511-BA3A-FFFA0C203551}" type="presOf" srcId="{F64FFE80-8C68-4F46-B1AD-B9F28C62B236}" destId="{676306A9-24DF-4863-A257-2159C4236569}" srcOrd="0" destOrd="0" presId="urn:microsoft.com/office/officeart/2018/2/layout/IconLabelList"/>
    <dgm:cxn modelId="{7F8B27F0-1306-49B2-B189-B5DA54250C01}" type="presOf" srcId="{CF9EAE2B-82F0-4EB9-8A22-DA94D5AB72AE}" destId="{245C0006-6FFA-4D84-AF63-D4793F65BB15}" srcOrd="0" destOrd="0" presId="urn:microsoft.com/office/officeart/2018/2/layout/IconLabelList"/>
    <dgm:cxn modelId="{B32948F6-1EA4-4238-B868-78D9F52056FB}" type="presOf" srcId="{759CB0C8-9765-4AB1-8111-0C5C35BC5D28}" destId="{7DFA52A9-ECD3-4877-9089-9B1B6E399EA3}" srcOrd="0" destOrd="0" presId="urn:microsoft.com/office/officeart/2018/2/layout/IconLabelList"/>
    <dgm:cxn modelId="{8BEA8A9A-CC11-42D5-8B00-8A7CD762D336}" type="presParOf" srcId="{AE1EC1FC-922D-4D5A-8E43-F4DC90840DC3}" destId="{BC5F99F3-5A89-440D-AB06-7ECB07370B06}" srcOrd="0" destOrd="0" presId="urn:microsoft.com/office/officeart/2018/2/layout/IconLabelList"/>
    <dgm:cxn modelId="{B3675660-52E2-465F-972E-DA4DB4581C22}" type="presParOf" srcId="{BC5F99F3-5A89-440D-AB06-7ECB07370B06}" destId="{66309D32-609D-40C6-A4AD-21FD00804342}" srcOrd="0" destOrd="0" presId="urn:microsoft.com/office/officeart/2018/2/layout/IconLabelList"/>
    <dgm:cxn modelId="{90385F37-E788-40E7-BF56-A103663CEDE6}" type="presParOf" srcId="{BC5F99F3-5A89-440D-AB06-7ECB07370B06}" destId="{56CCF85F-A7BC-4E4E-BAC5-63D622CEB936}" srcOrd="1" destOrd="0" presId="urn:microsoft.com/office/officeart/2018/2/layout/IconLabelList"/>
    <dgm:cxn modelId="{DB52A577-EA9B-4AD0-8A1B-092DB1E7236F}" type="presParOf" srcId="{BC5F99F3-5A89-440D-AB06-7ECB07370B06}" destId="{245C0006-6FFA-4D84-AF63-D4793F65BB15}" srcOrd="2" destOrd="0" presId="urn:microsoft.com/office/officeart/2018/2/layout/IconLabelList"/>
    <dgm:cxn modelId="{5FBA689E-1363-42A5-BD0F-AAC9742BF481}" type="presParOf" srcId="{AE1EC1FC-922D-4D5A-8E43-F4DC90840DC3}" destId="{332716EB-B28D-4AA4-AFD0-C6D8730A9204}" srcOrd="1" destOrd="0" presId="urn:microsoft.com/office/officeart/2018/2/layout/IconLabelList"/>
    <dgm:cxn modelId="{5D91BD2C-05E8-4480-93BF-CADCDF5B2436}" type="presParOf" srcId="{AE1EC1FC-922D-4D5A-8E43-F4DC90840DC3}" destId="{EC1627C5-A8C9-496F-8BB3-C3F8C95EB71C}" srcOrd="2" destOrd="0" presId="urn:microsoft.com/office/officeart/2018/2/layout/IconLabelList"/>
    <dgm:cxn modelId="{B96F6F23-14AB-4A0D-82FA-6797E305A31B}" type="presParOf" srcId="{EC1627C5-A8C9-496F-8BB3-C3F8C95EB71C}" destId="{32B64A6C-B51B-4384-B029-15B5A807F299}" srcOrd="0" destOrd="0" presId="urn:microsoft.com/office/officeart/2018/2/layout/IconLabelList"/>
    <dgm:cxn modelId="{AF9CF0E3-3755-4761-B4D0-FAD7E5ACAB73}" type="presParOf" srcId="{EC1627C5-A8C9-496F-8BB3-C3F8C95EB71C}" destId="{B5DEA512-9642-4740-A7C2-28F80B4BF4E0}" srcOrd="1" destOrd="0" presId="urn:microsoft.com/office/officeart/2018/2/layout/IconLabelList"/>
    <dgm:cxn modelId="{9CC11CBE-810B-424D-8378-7671F6EC25FE}" type="presParOf" srcId="{EC1627C5-A8C9-496F-8BB3-C3F8C95EB71C}" destId="{42620BF5-5D22-4D56-8B33-7E578A8D79CB}" srcOrd="2" destOrd="0" presId="urn:microsoft.com/office/officeart/2018/2/layout/IconLabelList"/>
    <dgm:cxn modelId="{732A4760-8D1C-4530-8CFB-B52317E9C3CF}" type="presParOf" srcId="{AE1EC1FC-922D-4D5A-8E43-F4DC90840DC3}" destId="{51330E8C-4E12-4993-BB76-13D6230992B9}" srcOrd="3" destOrd="0" presId="urn:microsoft.com/office/officeart/2018/2/layout/IconLabelList"/>
    <dgm:cxn modelId="{7679DDF1-8496-4752-8E24-0999268FC061}" type="presParOf" srcId="{AE1EC1FC-922D-4D5A-8E43-F4DC90840DC3}" destId="{1F714734-A3DC-44F3-A107-350ED022220F}" srcOrd="4" destOrd="0" presId="urn:microsoft.com/office/officeart/2018/2/layout/IconLabelList"/>
    <dgm:cxn modelId="{BBA73224-DC14-4ED7-9091-2B7D189019B0}" type="presParOf" srcId="{1F714734-A3DC-44F3-A107-350ED022220F}" destId="{7C22AE03-D053-4BA6-9526-F0B45B947F09}" srcOrd="0" destOrd="0" presId="urn:microsoft.com/office/officeart/2018/2/layout/IconLabelList"/>
    <dgm:cxn modelId="{E4072B8F-3294-4C8F-91E7-3C76550F1756}" type="presParOf" srcId="{1F714734-A3DC-44F3-A107-350ED022220F}" destId="{ADD8248D-E6EF-4126-B7E8-FEF6C21673AB}" srcOrd="1" destOrd="0" presId="urn:microsoft.com/office/officeart/2018/2/layout/IconLabelList"/>
    <dgm:cxn modelId="{BF75C117-EF32-4CCA-91BD-0A4FC6A1A328}" type="presParOf" srcId="{1F714734-A3DC-44F3-A107-350ED022220F}" destId="{7DFA52A9-ECD3-4877-9089-9B1B6E399EA3}" srcOrd="2" destOrd="0" presId="urn:microsoft.com/office/officeart/2018/2/layout/IconLabelList"/>
    <dgm:cxn modelId="{7DC8C75F-4EAF-4521-9179-95520ACD82B4}" type="presParOf" srcId="{AE1EC1FC-922D-4D5A-8E43-F4DC90840DC3}" destId="{E2F38A19-DE0B-46CD-80DA-A3D0CCBE37F9}" srcOrd="5" destOrd="0" presId="urn:microsoft.com/office/officeart/2018/2/layout/IconLabelList"/>
    <dgm:cxn modelId="{64E1569F-4A8C-4A9F-91B8-84BDF8F465F2}" type="presParOf" srcId="{AE1EC1FC-922D-4D5A-8E43-F4DC90840DC3}" destId="{322BA708-3375-4ED6-A6A5-6D1AA7E4FE85}" srcOrd="6" destOrd="0" presId="urn:microsoft.com/office/officeart/2018/2/layout/IconLabelList"/>
    <dgm:cxn modelId="{D5D8C0D2-9505-420B-8913-026FD0AEB38E}" type="presParOf" srcId="{322BA708-3375-4ED6-A6A5-6D1AA7E4FE85}" destId="{AF868EC2-003C-40DF-9246-B7DA37903B19}" srcOrd="0" destOrd="0" presId="urn:microsoft.com/office/officeart/2018/2/layout/IconLabelList"/>
    <dgm:cxn modelId="{CAAEACDF-0E2F-4CAD-8F76-EED3B9202476}" type="presParOf" srcId="{322BA708-3375-4ED6-A6A5-6D1AA7E4FE85}" destId="{B4D1D9B7-6EB6-48E2-AF49-F7C76034DCCB}" srcOrd="1" destOrd="0" presId="urn:microsoft.com/office/officeart/2018/2/layout/IconLabelList"/>
    <dgm:cxn modelId="{A36F6770-A983-41FB-B0B8-1488F4C4B778}" type="presParOf" srcId="{322BA708-3375-4ED6-A6A5-6D1AA7E4FE85}" destId="{676306A9-24DF-4863-A257-2159C423656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3A701-00DB-4694-AF31-B9CD51BB8B1A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A82CF0-1D14-4C51-8616-D639364672EA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1. Lightweight and fast</a:t>
          </a:r>
        </a:p>
      </dsp:txBody>
      <dsp:txXfrm>
        <a:off x="299702" y="1282093"/>
        <a:ext cx="2200851" cy="1366505"/>
      </dsp:txXfrm>
    </dsp:sp>
    <dsp:sp modelId="{987175AC-123B-4CA6-B36F-19D48450375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71A32B-F16E-468B-B412-9B39463A4357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2. Portability</a:t>
          </a:r>
        </a:p>
      </dsp:txBody>
      <dsp:txXfrm>
        <a:off x="3093555" y="1282093"/>
        <a:ext cx="2200851" cy="1366505"/>
      </dsp:txXfrm>
    </dsp:sp>
    <dsp:sp modelId="{46AE5226-C3FA-420C-A482-1F129E48829D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CDDBD6-DB64-448A-BE28-0AB946613A7A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3. Isolation</a:t>
          </a:r>
        </a:p>
      </dsp:txBody>
      <dsp:txXfrm>
        <a:off x="5887408" y="1282093"/>
        <a:ext cx="2200851" cy="1366505"/>
      </dsp:txXfrm>
    </dsp:sp>
    <dsp:sp modelId="{C2EF981F-143C-4D2A-B845-12DC35FF314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1153A3-E30B-422A-B968-EDFC5D4E254C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4. Scalability</a:t>
          </a:r>
        </a:p>
      </dsp:txBody>
      <dsp:txXfrm>
        <a:off x="8681261" y="1282093"/>
        <a:ext cx="2200851" cy="13665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309D32-609D-40C6-A4AD-21FD00804342}">
      <dsp:nvSpPr>
        <dsp:cNvPr id="0" name=""/>
        <dsp:cNvSpPr/>
      </dsp:nvSpPr>
      <dsp:spPr>
        <a:xfrm>
          <a:off x="752566" y="700948"/>
          <a:ext cx="1066720" cy="10667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5C0006-6FFA-4D84-AF63-D4793F65BB15}">
      <dsp:nvSpPr>
        <dsp:cNvPr id="0" name=""/>
        <dsp:cNvSpPr/>
      </dsp:nvSpPr>
      <dsp:spPr>
        <a:xfrm>
          <a:off x="100682" y="2110956"/>
          <a:ext cx="2370489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1. </a:t>
          </a:r>
          <a:r>
            <a:rPr lang="en-US" sz="1100" b="1" kern="1200"/>
            <a:t>Build an image</a:t>
          </a:r>
          <a:r>
            <a:rPr lang="en-US" sz="1100" kern="1200"/>
            <a:t>: Developers define the application's environment and dependencies by writing a Dockerfile, then build the image using the `docker build` command.</a:t>
          </a:r>
        </a:p>
      </dsp:txBody>
      <dsp:txXfrm>
        <a:off x="100682" y="2110956"/>
        <a:ext cx="2370489" cy="877500"/>
      </dsp:txXfrm>
    </dsp:sp>
    <dsp:sp modelId="{32B64A6C-B51B-4384-B029-15B5A807F299}">
      <dsp:nvSpPr>
        <dsp:cNvPr id="0" name=""/>
        <dsp:cNvSpPr/>
      </dsp:nvSpPr>
      <dsp:spPr>
        <a:xfrm>
          <a:off x="3537891" y="700948"/>
          <a:ext cx="1066720" cy="10667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620BF5-5D22-4D56-8B33-7E578A8D79CB}">
      <dsp:nvSpPr>
        <dsp:cNvPr id="0" name=""/>
        <dsp:cNvSpPr/>
      </dsp:nvSpPr>
      <dsp:spPr>
        <a:xfrm>
          <a:off x="2886007" y="2110956"/>
          <a:ext cx="2370489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2. </a:t>
          </a:r>
          <a:r>
            <a:rPr lang="en-US" sz="1100" b="1" kern="1200"/>
            <a:t>Distribute the image</a:t>
          </a:r>
          <a:r>
            <a:rPr lang="en-US" sz="1100" kern="1200"/>
            <a:t>: The built image can be uploaded to a Docker Registry for other users to use.</a:t>
          </a:r>
        </a:p>
      </dsp:txBody>
      <dsp:txXfrm>
        <a:off x="2886007" y="2110956"/>
        <a:ext cx="2370489" cy="877500"/>
      </dsp:txXfrm>
    </dsp:sp>
    <dsp:sp modelId="{7C22AE03-D053-4BA6-9526-F0B45B947F09}">
      <dsp:nvSpPr>
        <dsp:cNvPr id="0" name=""/>
        <dsp:cNvSpPr/>
      </dsp:nvSpPr>
      <dsp:spPr>
        <a:xfrm>
          <a:off x="6323216" y="700948"/>
          <a:ext cx="1066720" cy="10667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FA52A9-ECD3-4877-9089-9B1B6E399EA3}">
      <dsp:nvSpPr>
        <dsp:cNvPr id="0" name=""/>
        <dsp:cNvSpPr/>
      </dsp:nvSpPr>
      <dsp:spPr>
        <a:xfrm>
          <a:off x="5671332" y="2110956"/>
          <a:ext cx="2370489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3. </a:t>
          </a:r>
          <a:r>
            <a:rPr lang="en-US" sz="1100" b="1" kern="1200"/>
            <a:t>Run a container</a:t>
          </a:r>
          <a:r>
            <a:rPr lang="en-US" sz="1100" kern="1200"/>
            <a:t>: Users can pull images from the Registry and run containers using the `docker run` command.</a:t>
          </a:r>
        </a:p>
      </dsp:txBody>
      <dsp:txXfrm>
        <a:off x="5671332" y="2110956"/>
        <a:ext cx="2370489" cy="877500"/>
      </dsp:txXfrm>
    </dsp:sp>
    <dsp:sp modelId="{AF868EC2-003C-40DF-9246-B7DA37903B19}">
      <dsp:nvSpPr>
        <dsp:cNvPr id="0" name=""/>
        <dsp:cNvSpPr/>
      </dsp:nvSpPr>
      <dsp:spPr>
        <a:xfrm>
          <a:off x="9108541" y="700948"/>
          <a:ext cx="1066720" cy="10667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6306A9-24DF-4863-A257-2159C4236569}">
      <dsp:nvSpPr>
        <dsp:cNvPr id="0" name=""/>
        <dsp:cNvSpPr/>
      </dsp:nvSpPr>
      <dsp:spPr>
        <a:xfrm>
          <a:off x="8456657" y="2110956"/>
          <a:ext cx="2370489" cy="87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4. </a:t>
          </a:r>
          <a:r>
            <a:rPr lang="en-US" sz="1100" b="1" kern="1200"/>
            <a:t>Manage containers</a:t>
          </a:r>
          <a:r>
            <a:rPr lang="en-US" sz="1100" kern="1200"/>
            <a:t>: Users can manage running containers using commands like `docker ps`, `docker stop`, `docker restart`, etc.</a:t>
          </a:r>
        </a:p>
      </dsp:txBody>
      <dsp:txXfrm>
        <a:off x="8456657" y="2110956"/>
        <a:ext cx="2370489" cy="877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9F4620-1FA7-46AB-AD2D-7679273AEFA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ED95D6-B5D6-4D98-B301-5F0D903896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7291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487C1-9010-7C46-CDA6-055F8FC94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D89897E-3EF7-7BE6-644B-885399416D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5950CC-EDB2-EB4F-EEC6-784275E81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ADF17B-419B-BCB9-2A36-EF36981AE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B772F3-DC37-8F70-F892-068A4A2C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729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505D64-C5CF-A09F-8ED3-F981E859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A62E2C-9F8C-1455-9791-BD216549E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E9748A-0903-65A7-392C-05B04A760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94D83E-4D9B-7B53-9DBD-9EBB4F6E6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1A6D11-0E2E-FF79-F67B-4919C78C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28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91113-681D-312D-30E6-285D1AD6C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F94131-46E8-40D6-6787-15C8592FE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414347-A1C2-A50B-10B9-872E6F775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61DC52-DFA9-C77D-7724-E64A3BAA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298D9-71F2-95CB-AB07-1B4DC2D7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4571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8AB550-29E0-9C47-58B1-646687F2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966668-C66F-678F-86F5-5E98F8D404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988274-CC63-3351-38A1-B9FF3CD65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E209FA-2667-A7D1-9D27-D88620044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8610D2-F98C-51E9-AB98-E90E5E033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37780A-4586-586E-2CA5-14906F320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663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5DCE70-F945-7C1B-4B13-7B7646E7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C0D845-2D51-D52F-D28A-DD37A70A5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68993-C202-4FC5-ACBB-8C0BA296F4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E2CF317-5DAA-B81E-3FF3-4F847833F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C1CA87-F0D6-ACCB-87DD-48401D5F0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F35C3A2-6F7E-0B3F-7AE5-5890F91C2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6D9FE2-36E9-75FC-59D0-D3E25155D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A023B8-F943-2197-F39E-98B7FDB4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44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1FF67-4454-344B-9359-87FCF60FA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DE6AF1A-F48A-D9A8-DA22-FE041DD38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A4A09DC-FC0F-0A85-258F-CBC0B73FB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53F1B15-27C0-A3AC-801F-0F980AF54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73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55D4A36-917B-C5FA-3EEA-3AD4F4232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AA2BEF-BA65-ED28-F39D-7FE0E52C7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DAC9A9-8852-1CD2-C357-165DFD6B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841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257D2-6AD7-836B-9591-9C8CBDD1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A6B57C-F1D5-9169-B789-40107A2F8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660276-743A-A6B9-5E2B-745261DC2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9EB38F-B98B-283A-555B-CE3FDFA1C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8E06CA-FBAD-5B85-D057-A692C271B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70BB28-0F34-BDCF-5B1E-5620C210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86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DA0BF-6D27-D287-F61B-BDB3C1BF9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ADB6369-F377-025D-6A26-C7E8323F2C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3A12A3-90AE-AE9E-BF7C-C26AF65B1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A86986-0CAB-6A3E-32B3-80D1D1A54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B85B48-DD4C-AF49-03D6-FE0FF9FAE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A4E763-F79F-1E7A-E68D-D3A52027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0289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2F3E4-5D0F-9780-8FAE-FFB71E5AD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C5DDCF9-C147-704F-2782-0F5C02855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E481ED-890B-61E1-1D6E-BA4ADF33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15E81E-F0FB-F5FF-7B61-D4BC5A8BC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5CD78D1-9266-5635-21C1-C524FA70F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71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A30AA3-41F3-E644-D8EA-D745AFC18C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354D6C-0516-B382-99DA-48778C6EA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524FD8-81CB-BA03-24E1-C08B680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341641-45FD-32AD-0646-1C9C96C89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69C743-E057-BA8A-43D0-C1DCC799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904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0701BC-4A1D-E65D-1AD6-1FB5EF6E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027CFA-ED60-B8D6-23F5-F3E09B448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2028B7-2CC5-E9C8-2DC6-1438831E5A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3/3/2026</a:t>
            </a:fld>
            <a:endParaRPr 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40BAE1-87EE-3261-6CBE-AC2ADFFD62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0723A-5A48-772B-0D34-51F3F66C1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6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6ABACC6B-559E-E5B3-539D-78A04352F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01" r="25372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619E0C7-D7FF-02E3-734B-18BCA86C3A92}"/>
              </a:ext>
            </a:extLst>
          </p:cNvPr>
          <p:cNvSpPr txBox="1"/>
          <p:nvPr/>
        </p:nvSpPr>
        <p:spPr>
          <a:xfrm>
            <a:off x="7935402" y="743447"/>
            <a:ext cx="3915222" cy="3692028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5200" spc="100" dirty="0">
                <a:latin typeface="+mj-lt"/>
                <a:ea typeface="+mj-ea"/>
                <a:cs typeface="+mj-cs"/>
              </a:rPr>
              <a:t>Introduction to Docker</a:t>
            </a:r>
          </a:p>
        </p:txBody>
      </p:sp>
    </p:spTree>
    <p:extLst>
      <p:ext uri="{BB962C8B-B14F-4D97-AF65-F5344CB8AC3E}">
        <p14:creationId xmlns:p14="http://schemas.microsoft.com/office/powerpoint/2010/main" val="197276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立体电脑的简笔画怎么画（汇总10张）_简笔画图片大全">
            <a:extLst>
              <a:ext uri="{FF2B5EF4-FFF2-40B4-BE49-F238E27FC236}">
                <a16:creationId xmlns:a16="http://schemas.microsoft.com/office/drawing/2014/main" id="{4A4D61E0-330F-6928-82E8-376DA74F3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014" y="497397"/>
            <a:ext cx="1894293" cy="284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5B9DF86-A99A-F003-26CA-152E68FC77D1}"/>
              </a:ext>
            </a:extLst>
          </p:cNvPr>
          <p:cNvSpPr txBox="1"/>
          <p:nvPr/>
        </p:nvSpPr>
        <p:spPr>
          <a:xfrm>
            <a:off x="1609074" y="3642970"/>
            <a:ext cx="1632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Equipment  A</a:t>
            </a:r>
            <a:endParaRPr lang="zh-CN" altLang="en-US" dirty="0"/>
          </a:p>
        </p:txBody>
      </p:sp>
      <p:pic>
        <p:nvPicPr>
          <p:cNvPr id="5" name="Picture 2" descr="立体电脑的简笔画怎么画（汇总10张）_简笔画图片大全">
            <a:extLst>
              <a:ext uri="{FF2B5EF4-FFF2-40B4-BE49-F238E27FC236}">
                <a16:creationId xmlns:a16="http://schemas.microsoft.com/office/drawing/2014/main" id="{24671658-66ED-ACDE-F0EF-DB788E9A16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693" y="497397"/>
            <a:ext cx="1894293" cy="284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19A7B77-08F2-FDD0-5831-C4778136F5AE}"/>
              </a:ext>
            </a:extLst>
          </p:cNvPr>
          <p:cNvSpPr txBox="1"/>
          <p:nvPr/>
        </p:nvSpPr>
        <p:spPr>
          <a:xfrm>
            <a:off x="9025795" y="3642971"/>
            <a:ext cx="1472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Equipment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zh-CN" altLang="en-US" dirty="0"/>
          </a:p>
        </p:txBody>
      </p:sp>
      <p:pic>
        <p:nvPicPr>
          <p:cNvPr id="8" name="图片 7" descr="图片包含 游戏机, 镜子&#10;&#10;AI 生成的内容可能不正确。">
            <a:extLst>
              <a:ext uri="{FF2B5EF4-FFF2-40B4-BE49-F238E27FC236}">
                <a16:creationId xmlns:a16="http://schemas.microsoft.com/office/drawing/2014/main" id="{53422CC3-1A35-49D1-3749-9E15E3AE9D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3642970"/>
            <a:ext cx="2143125" cy="17399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8CC2F63-910E-AFC8-9F57-300F9B1BDDC7}"/>
              </a:ext>
            </a:extLst>
          </p:cNvPr>
          <p:cNvSpPr txBox="1"/>
          <p:nvPr/>
        </p:nvSpPr>
        <p:spPr>
          <a:xfrm>
            <a:off x="4962790" y="5661475"/>
            <a:ext cx="2266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Project</a:t>
            </a:r>
            <a:r>
              <a:rPr lang="zh-CN" altLang="en-US" dirty="0"/>
              <a:t> </a:t>
            </a:r>
            <a:r>
              <a:rPr lang="en-US" altLang="zh-CN" dirty="0"/>
              <a:t>document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endParaRPr lang="zh-CN" altLang="en-US" dirty="0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C577BED7-D191-94E4-A6C4-7C8C9519677E}"/>
              </a:ext>
            </a:extLst>
          </p:cNvPr>
          <p:cNvSpPr/>
          <p:nvPr/>
        </p:nvSpPr>
        <p:spPr>
          <a:xfrm rot="3253689">
            <a:off x="3575301" y="2477065"/>
            <a:ext cx="1472859" cy="950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A6286F44-BD16-9B14-3242-4E24F5201ED7}"/>
              </a:ext>
            </a:extLst>
          </p:cNvPr>
          <p:cNvSpPr/>
          <p:nvPr/>
        </p:nvSpPr>
        <p:spPr>
          <a:xfrm rot="18710958">
            <a:off x="7143840" y="2384732"/>
            <a:ext cx="1472859" cy="95050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1879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7DF07-1C1F-0EB4-3C68-3F8EB2B02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694" y="490470"/>
            <a:ext cx="2722611" cy="13268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pc="100" dirty="0"/>
              <a:t>Content</a:t>
            </a:r>
          </a:p>
        </p:txBody>
      </p:sp>
      <p:sp>
        <p:nvSpPr>
          <p:cNvPr id="34" name="Content Placeholder 33">
            <a:extLst>
              <a:ext uri="{FF2B5EF4-FFF2-40B4-BE49-F238E27FC236}">
                <a16:creationId xmlns:a16="http://schemas.microsoft.com/office/drawing/2014/main" id="{04817F2E-ACDE-E2E9-28B7-F78B2A143A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8283" y="1962915"/>
            <a:ext cx="3541205" cy="4400412"/>
          </a:xfrm>
        </p:spPr>
        <p:txBody>
          <a:bodyPr>
            <a:no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1.Basic introduction to Docker</a:t>
            </a:r>
          </a:p>
          <a:p>
            <a:pPr lvl="1">
              <a:lnSpc>
                <a:spcPct val="102000"/>
              </a:lnSpc>
            </a:pPr>
            <a:endParaRPr lang="en-US" altLang="zh-CN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2.Origin of Docker</a:t>
            </a:r>
          </a:p>
          <a:p>
            <a:pPr>
              <a:lnSpc>
                <a:spcPct val="102000"/>
              </a:lnSpc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3.Advantage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4.Basic structure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5.Workflow and related concept of Docker</a:t>
            </a:r>
          </a:p>
          <a:p>
            <a:pPr marL="342900" indent="-342900">
              <a:lnSpc>
                <a:spcPct val="102000"/>
              </a:lnSpc>
              <a:buAutoNum type="arabicPeriod"/>
            </a:pPr>
            <a:endParaRPr lang="en-US" altLang="zh-CN" sz="1800" dirty="0"/>
          </a:p>
          <a:p>
            <a:pPr marL="0" indent="0">
              <a:lnSpc>
                <a:spcPct val="102000"/>
              </a:lnSpc>
              <a:buNone/>
            </a:pPr>
            <a:r>
              <a:rPr lang="en-US" altLang="zh-CN" sz="1800" dirty="0"/>
              <a:t>6.Foundamental operations of Docker</a:t>
            </a:r>
            <a:endParaRPr lang="zh-CN" altLang="en-US" sz="1800" dirty="0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7D87276C-F54D-5C76-954C-168469DB0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67" r="21540" b="1"/>
          <a:stretch>
            <a:fillRect/>
          </a:stretch>
        </p:blipFill>
        <p:spPr bwMode="auto">
          <a:xfrm>
            <a:off x="42979" y="2134795"/>
            <a:ext cx="7534635" cy="467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1411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CAA3DF80-5401-CE3C-1FDC-E9715F475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30037758-4B5A-B14C-2B0A-F738B9B88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89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1.Basic introduction to Docker</a:t>
            </a:r>
          </a:p>
        </p:txBody>
      </p:sp>
    </p:spTree>
    <p:extLst>
      <p:ext uri="{BB962C8B-B14F-4D97-AF65-F5344CB8AC3E}">
        <p14:creationId xmlns:p14="http://schemas.microsoft.com/office/powerpoint/2010/main" val="31590089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B39C718-38D6-39E5-1F84-D7DEA15AB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zh-CN" sz="4000" dirty="0">
                <a:solidFill>
                  <a:srgbClr val="FFFFFF"/>
                </a:solidFill>
              </a:rPr>
              <a:t>What</a:t>
            </a:r>
            <a:r>
              <a:rPr lang="zh-CN" altLang="en-US" sz="4000" dirty="0">
                <a:solidFill>
                  <a:srgbClr val="FFFFFF"/>
                </a:solidFill>
              </a:rPr>
              <a:t> </a:t>
            </a:r>
            <a:r>
              <a:rPr lang="en-US" altLang="zh-CN" sz="4000" dirty="0">
                <a:solidFill>
                  <a:srgbClr val="FFFFFF"/>
                </a:solidFill>
              </a:rPr>
              <a:t>is Docker</a:t>
            </a:r>
            <a:endParaRPr lang="zh-CN" altLang="en-US" sz="4000" dirty="0">
              <a:solidFill>
                <a:srgbClr val="FFFFFF"/>
              </a:solidFill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CD8E45-7BE9-27F3-5E5B-A91804082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altLang="zh-CN" sz="1900"/>
              <a:t>Simply put, Docker is a lightweight containerization technology and platform used to solve common environment problems in programming.</a:t>
            </a:r>
          </a:p>
          <a:p>
            <a:br>
              <a:rPr lang="en-US" altLang="zh-CN" sz="1900"/>
            </a:br>
            <a:endParaRPr lang="en-US" altLang="zh-CN" sz="1900"/>
          </a:p>
          <a:p>
            <a:r>
              <a:rPr lang="en-US" altLang="zh-CN" sz="1900"/>
              <a:t>It packages applications, dependencies, and user-space environments together in a container.</a:t>
            </a:r>
          </a:p>
          <a:p>
            <a:br>
              <a:rPr lang="en-US" altLang="zh-CN" sz="1900"/>
            </a:br>
            <a:endParaRPr lang="en-US" altLang="zh-CN" sz="1900"/>
          </a:p>
          <a:p>
            <a:r>
              <a:rPr lang="en-US" altLang="zh-CN" sz="1900"/>
              <a:t>Subsequently, if you need to run this application on another computer, you just need to run this container without worrying about the application's environment issues.</a:t>
            </a:r>
          </a:p>
          <a:p>
            <a:br>
              <a:rPr lang="en-US" altLang="zh-CN" sz="1900"/>
            </a:br>
            <a:endParaRPr lang="en-US" altLang="zh-CN" sz="1900"/>
          </a:p>
          <a:p>
            <a:r>
              <a:rPr lang="en-US" altLang="zh-CN" sz="1900"/>
              <a:t>Today, we will learn how to use Docker to build a container and how to use this container to run our applications.</a:t>
            </a:r>
          </a:p>
        </p:txBody>
      </p:sp>
    </p:spTree>
    <p:extLst>
      <p:ext uri="{BB962C8B-B14F-4D97-AF65-F5344CB8AC3E}">
        <p14:creationId xmlns:p14="http://schemas.microsoft.com/office/powerpoint/2010/main" val="98530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C5EF1-A6C0-B45C-847F-8AB141A7A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657" y="1778149"/>
            <a:ext cx="9724031" cy="3683358"/>
          </a:xfr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en-US" altLang="zh-CN" sz="5400" dirty="0"/>
              <a:t>Today</a:t>
            </a:r>
            <a:endParaRPr lang="en-US" altLang="zh-CN" sz="2000" dirty="0"/>
          </a:p>
          <a:p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	 </a:t>
            </a:r>
            <a:r>
              <a:rPr lang="en-US" altLang="zh-CN" sz="6000" dirty="0"/>
              <a:t>we are going to create a container through image, and learning how to use them</a:t>
            </a:r>
            <a:r>
              <a:rPr lang="en-US" altLang="zh-CN" sz="2000" dirty="0"/>
              <a:t>.</a:t>
            </a:r>
            <a:r>
              <a:rPr lang="zh-CN" altLang="en-US" sz="6100" dirty="0"/>
              <a:t>❤️</a:t>
            </a:r>
          </a:p>
        </p:txBody>
      </p:sp>
    </p:spTree>
    <p:extLst>
      <p:ext uri="{BB962C8B-B14F-4D97-AF65-F5344CB8AC3E}">
        <p14:creationId xmlns:p14="http://schemas.microsoft.com/office/powerpoint/2010/main" val="2134265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43C37884-1760-A27D-3EE2-C0FEFFE60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2E4CAE86-DC78-53DE-0AD6-A932887F47F5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2.Origin of Docker</a:t>
            </a:r>
          </a:p>
        </p:txBody>
      </p:sp>
    </p:spTree>
    <p:extLst>
      <p:ext uri="{BB962C8B-B14F-4D97-AF65-F5344CB8AC3E}">
        <p14:creationId xmlns:p14="http://schemas.microsoft.com/office/powerpoint/2010/main" val="122335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0AE7D5A-7B89-F153-97AF-B5CDAA27F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469" y="3713960"/>
            <a:ext cx="7357177" cy="2502731"/>
          </a:xfrm>
        </p:spPr>
        <p:txBody>
          <a:bodyPr anchor="ctr" anchorCtr="1">
            <a:noAutofit/>
          </a:bodyPr>
          <a:lstStyle/>
          <a:p>
            <a:r>
              <a:rPr lang="en-US" altLang="zh-CN" sz="3600" dirty="0"/>
              <a:t>dot Cloud is a cloud-based application platform that allows developers to deploy and manage applications in the cloud.</a:t>
            </a:r>
          </a:p>
        </p:txBody>
      </p:sp>
      <p:pic>
        <p:nvPicPr>
          <p:cNvPr id="1030" name="Picture 6" descr="Open PaaS DotCloud Adds Support For WebSockets, Vertical Scaling And ...">
            <a:extLst>
              <a:ext uri="{FF2B5EF4-FFF2-40B4-BE49-F238E27FC236}">
                <a16:creationId xmlns:a16="http://schemas.microsoft.com/office/drawing/2014/main" id="{CA5BBE6F-8DD0-066C-88A2-F0257582CB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9331" y="830508"/>
            <a:ext cx="7531034" cy="2391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164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Docker 公司的七年辛酸史 - 知乎">
            <a:extLst>
              <a:ext uri="{FF2B5EF4-FFF2-40B4-BE49-F238E27FC236}">
                <a16:creationId xmlns:a16="http://schemas.microsoft.com/office/drawing/2014/main" id="{7DC4A07E-41FF-6ED8-0F16-7A47E5038C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585826"/>
            <a:ext cx="2995574" cy="2995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" name="AutoShape 4" descr="Docker 公司的七年辛酸史 - 知乎">
            <a:extLst>
              <a:ext uri="{FF2B5EF4-FFF2-40B4-BE49-F238E27FC236}">
                <a16:creationId xmlns:a16="http://schemas.microsoft.com/office/drawing/2014/main" id="{FF9A4727-A52A-076D-72BD-79441DA9D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95A4B415-5F4E-4476-BFCF-6BA88D8BE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8288" y="181926"/>
            <a:ext cx="7573110" cy="5672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84F7570-B282-82FD-6F1A-FFE05328070C}"/>
              </a:ext>
            </a:extLst>
          </p:cNvPr>
          <p:cNvSpPr txBox="1"/>
          <p:nvPr/>
        </p:nvSpPr>
        <p:spPr>
          <a:xfrm>
            <a:off x="552322" y="932811"/>
            <a:ext cx="3602368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One person called Hykes noticed that </a:t>
            </a:r>
          </a:p>
          <a:p>
            <a:endParaRPr lang="en-US" altLang="zh-CN" sz="2400" dirty="0"/>
          </a:p>
          <a:p>
            <a:r>
              <a:rPr lang="en-US" altLang="zh-CN" sz="2400" dirty="0"/>
              <a:t>when running applications on </a:t>
            </a:r>
            <a:r>
              <a:rPr lang="en-US" altLang="zh-CN" sz="2400" dirty="0" err="1"/>
              <a:t>dotCloud</a:t>
            </a:r>
            <a:r>
              <a:rPr lang="en-US" altLang="zh-CN" sz="2400" dirty="0"/>
              <a:t>, different applications required different dependencies and runtime environments, </a:t>
            </a:r>
          </a:p>
          <a:p>
            <a:endParaRPr lang="en-US" altLang="zh-CN" sz="2400" dirty="0"/>
          </a:p>
          <a:p>
            <a:r>
              <a:rPr lang="en-US" altLang="zh-CN" sz="2400" dirty="0"/>
              <a:t>which were often difficult to coexist in the same system.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4185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049513-54F0-8B7B-AB38-E274D1DD0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054" y="444873"/>
            <a:ext cx="11546091" cy="5968254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This led to environment configuration problems because different applications might require different environments</a:t>
            </a:r>
          </a:p>
          <a:p>
            <a:endParaRPr lang="en-US" altLang="zh-CN" dirty="0"/>
          </a:p>
          <a:p>
            <a:r>
              <a:rPr lang="en-US" altLang="zh-CN" dirty="0"/>
              <a:t>To solve this problem, Hykes began thinking about how to package applications and their environments together so they could run anywhere.</a:t>
            </a:r>
          </a:p>
          <a:p>
            <a:br>
              <a:rPr lang="en-US" altLang="zh-CN" dirty="0"/>
            </a:br>
            <a:endParaRPr lang="en-US" altLang="zh-CN" dirty="0"/>
          </a:p>
          <a:p>
            <a:r>
              <a:rPr lang="en-US" altLang="zh-CN" dirty="0"/>
              <a:t>Furthermore, Hykes decided to create a new tool for packaging applications and their environments.</a:t>
            </a:r>
          </a:p>
          <a:p>
            <a:br>
              <a:rPr lang="en-US" altLang="zh-CN" dirty="0"/>
            </a:br>
            <a:endParaRPr lang="en-US" altLang="zh-CN" dirty="0"/>
          </a:p>
          <a:p>
            <a:r>
              <a:rPr lang="en-US" altLang="zh-CN" dirty="0"/>
              <a:t>And the name of a dock worker is exactly Docker. Hykes thought this name was very appropriate for the tool's functionality, so he named the tool Docker.</a:t>
            </a:r>
          </a:p>
          <a:p>
            <a:br>
              <a:rPr lang="en-US" altLang="zh-CN" dirty="0"/>
            </a:br>
            <a:endParaRPr lang="en-US" altLang="zh-CN" dirty="0"/>
          </a:p>
          <a:p>
            <a:r>
              <a:rPr lang="en-US" altLang="zh-CN" dirty="0"/>
              <a:t>Thus, Docker was born.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04623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卡通人物&#10;&#10;AI 生成的内容可能不正确。">
            <a:extLst>
              <a:ext uri="{FF2B5EF4-FFF2-40B4-BE49-F238E27FC236}">
                <a16:creationId xmlns:a16="http://schemas.microsoft.com/office/drawing/2014/main" id="{E46527FA-D17E-1D56-28DF-B45607ACE5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794" y="640029"/>
            <a:ext cx="4191000" cy="4191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3D49999-93D8-1B2B-4078-5606FA6D61A5}"/>
              </a:ext>
            </a:extLst>
          </p:cNvPr>
          <p:cNvSpPr txBox="1"/>
          <p:nvPr/>
        </p:nvSpPr>
        <p:spPr>
          <a:xfrm>
            <a:off x="7146950" y="1089965"/>
            <a:ext cx="3855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Now , you might have one question: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0CE702-86AE-716F-E774-FE8E1316A00B}"/>
              </a:ext>
            </a:extLst>
          </p:cNvPr>
          <p:cNvSpPr txBox="1"/>
          <p:nvPr/>
        </p:nvSpPr>
        <p:spPr>
          <a:xfrm>
            <a:off x="7146950" y="2706624"/>
            <a:ext cx="35551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Why can't virtual machines solve this problem? Isn't it also a famous containerization technology?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3A1620D-A614-1DCE-81ED-0E31EDEAE5E6}"/>
              </a:ext>
            </a:extLst>
          </p:cNvPr>
          <p:cNvSpPr txBox="1"/>
          <p:nvPr/>
        </p:nvSpPr>
        <p:spPr>
          <a:xfrm>
            <a:off x="7309063" y="4436988"/>
            <a:ext cx="30807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Next, I'll briefly introduce the differences between Docker and virtual machines, as well as Docker's advantages.</a:t>
            </a:r>
          </a:p>
        </p:txBody>
      </p:sp>
    </p:spTree>
    <p:extLst>
      <p:ext uri="{BB962C8B-B14F-4D97-AF65-F5344CB8AC3E}">
        <p14:creationId xmlns:p14="http://schemas.microsoft.com/office/powerpoint/2010/main" val="3447865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!!Rectangle">
            <a:extLst>
              <a:ext uri="{FF2B5EF4-FFF2-40B4-BE49-F238E27FC236}">
                <a16:creationId xmlns:a16="http://schemas.microsoft.com/office/drawing/2014/main" id="{362810D9-2C5A-477D-949C-C19189547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8467"/>
            <a:ext cx="12191999" cy="686646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-9107"/>
            <a:ext cx="121919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Arc 29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CA34E0-3B48-1E7D-AA07-1E734B000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1938" y="3119185"/>
            <a:ext cx="8288122" cy="879188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altLang="zh-CN" sz="6000" dirty="0">
                <a:solidFill>
                  <a:srgbClr val="FFFFFF"/>
                </a:solidFill>
              </a:rPr>
              <a:t>3. Advantages of Docker</a:t>
            </a:r>
            <a:endParaRPr lang="zh-CN" altLang="en-US"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89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C5344E4-68ED-C27D-9F8F-DB9962EDB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zh-CN" sz="3400">
                <a:solidFill>
                  <a:srgbClr val="FFFFFF"/>
                </a:solidFill>
              </a:rPr>
              <a:t>Docker stands out among containerization technologies for several reasons:</a:t>
            </a:r>
            <a:br>
              <a:rPr lang="en-US" altLang="zh-CN" sz="3400">
                <a:solidFill>
                  <a:srgbClr val="FFFFFF"/>
                </a:solidFill>
              </a:rPr>
            </a:br>
            <a:endParaRPr lang="zh-CN" altLang="en-US" sz="3400">
              <a:solidFill>
                <a:srgbClr val="FFFFFF"/>
              </a:solidFill>
            </a:endParaRPr>
          </a:p>
        </p:txBody>
      </p:sp>
      <p:graphicFrame>
        <p:nvGraphicFramePr>
          <p:cNvPr id="5" name="内容占位符 2">
            <a:extLst>
              <a:ext uri="{FF2B5EF4-FFF2-40B4-BE49-F238E27FC236}">
                <a16:creationId xmlns:a16="http://schemas.microsoft.com/office/drawing/2014/main" id="{AE4A73E5-4FDB-51CF-B9A0-ABDAAECE52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59080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4986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58C6DBB-2EF7-BEAA-18A0-F8D85613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8851" y="299387"/>
            <a:ext cx="6614291" cy="1033669"/>
          </a:xfrm>
        </p:spPr>
        <p:txBody>
          <a:bodyPr>
            <a:normAutofit/>
          </a:bodyPr>
          <a:lstStyle/>
          <a:p>
            <a:r>
              <a:rPr lang="en-US" altLang="zh-CN" sz="4000" dirty="0">
                <a:solidFill>
                  <a:srgbClr val="FFFFFF"/>
                </a:solidFill>
              </a:rPr>
              <a:t>Compared to virtual machines</a:t>
            </a:r>
            <a:endParaRPr lang="zh-CN" altLang="en-US" sz="4000" dirty="0">
              <a:solidFill>
                <a:srgbClr val="FFFFFF"/>
              </a:solidFill>
            </a:endParaRP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10CE321C-C13B-E73C-CA93-20350BD332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0618100"/>
              </p:ext>
            </p:extLst>
          </p:nvPr>
        </p:nvGraphicFramePr>
        <p:xfrm>
          <a:off x="838199" y="2102349"/>
          <a:ext cx="10515597" cy="3961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687485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0883734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928402255"/>
                    </a:ext>
                  </a:extLst>
                </a:gridCol>
              </a:tblGrid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Feature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Docker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Virtual Machine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647285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Resource usage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Lightweight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Heavyweight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658307462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Startup speed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Fast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Slow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78971096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Portability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High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Low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36775487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Isolation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Process-level isolation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Complete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6889311"/>
                  </a:ext>
                </a:extLst>
              </a:tr>
              <a:tr h="660261">
                <a:tc>
                  <a:txBody>
                    <a:bodyPr/>
                    <a:lstStyle/>
                    <a:p>
                      <a:r>
                        <a:rPr lang="en-US" altLang="zh-CN" dirty="0"/>
                        <a:t>Scalability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High</a:t>
                      </a:r>
                      <a:endParaRPr lang="zh-CN" altLang="en-US" dirty="0"/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Limited</a:t>
                      </a:r>
                      <a:endParaRPr lang="zh-CN" altLang="en-US" dirty="0"/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487682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2618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D94DC4C-E643-619A-BF4C-05D91B354270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4.Basic structure of Docker</a:t>
            </a:r>
          </a:p>
        </p:txBody>
      </p:sp>
    </p:spTree>
    <p:extLst>
      <p:ext uri="{BB962C8B-B14F-4D97-AF65-F5344CB8AC3E}">
        <p14:creationId xmlns:p14="http://schemas.microsoft.com/office/powerpoint/2010/main" val="35148677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9CCC86E-27A5-49FE-D580-7F7B1C7C7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634" y="294538"/>
            <a:ext cx="4848727" cy="1167214"/>
          </a:xfrm>
        </p:spPr>
        <p:txBody>
          <a:bodyPr>
            <a:normAutofit fontScale="90000"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Docker's Architecture</a:t>
            </a:r>
            <a:br>
              <a:rPr lang="en-US" altLang="zh-CN" dirty="0"/>
            </a:br>
            <a:endParaRPr lang="zh-CN" altLang="en-US" sz="4000" dirty="0">
              <a:solidFill>
                <a:srgbClr val="FFFFFF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851C41-F6E3-3350-EAE4-73EC535B2606}"/>
              </a:ext>
            </a:extLst>
          </p:cNvPr>
          <p:cNvSpPr txBox="1"/>
          <p:nvPr/>
        </p:nvSpPr>
        <p:spPr>
          <a:xfrm>
            <a:off x="3011971" y="2093929"/>
            <a:ext cx="263447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Docker Client</a:t>
            </a:r>
            <a:r>
              <a:rPr lang="en-US" altLang="zh-CN" dirty="0"/>
              <a:t>:</a:t>
            </a:r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r>
              <a:rPr lang="en-US" altLang="zh-CN" dirty="0"/>
              <a:t> A command-line tool for users to interact with Docker, responsible for receiving user commands and sending them to the Docker Daemon for execution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819B0A-DECB-793C-690A-47359AFB4F59}"/>
              </a:ext>
            </a:extLst>
          </p:cNvPr>
          <p:cNvSpPr txBox="1"/>
          <p:nvPr/>
        </p:nvSpPr>
        <p:spPr>
          <a:xfrm>
            <a:off x="6203861" y="2093929"/>
            <a:ext cx="23694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Docker Daemon</a:t>
            </a:r>
            <a:r>
              <a:rPr lang="en-US" altLang="zh-CN" dirty="0"/>
              <a:t>: </a:t>
            </a:r>
          </a:p>
          <a:p>
            <a:endParaRPr lang="en-US" altLang="zh-CN" dirty="0"/>
          </a:p>
          <a:p>
            <a:r>
              <a:rPr lang="en-US" altLang="zh-CN" dirty="0"/>
              <a:t>A background service process responsible for processing Docker Client instructions and managing resources such as images and containers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C35B82B-C1BE-5B93-65F0-FB145BB66BE2}"/>
              </a:ext>
            </a:extLst>
          </p:cNvPr>
          <p:cNvSpPr txBox="1"/>
          <p:nvPr/>
        </p:nvSpPr>
        <p:spPr>
          <a:xfrm>
            <a:off x="9475400" y="2093929"/>
            <a:ext cx="214082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Docker Registry</a:t>
            </a:r>
            <a:r>
              <a:rPr lang="en-US" altLang="zh-CN" dirty="0"/>
              <a:t>: </a:t>
            </a:r>
          </a:p>
          <a:p>
            <a:endParaRPr lang="en-US" altLang="zh-CN" dirty="0"/>
          </a:p>
          <a:p>
            <a:r>
              <a:rPr lang="en-US" altLang="zh-CN" dirty="0"/>
              <a:t>An image repository responsible for storing and distributing Docker images, similar to GitHub, with the most commonly used being the official Docker Hub</a:t>
            </a:r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C33CC7-9B16-3C38-E502-C80EEA1BC0DD}"/>
              </a:ext>
            </a:extLst>
          </p:cNvPr>
          <p:cNvSpPr txBox="1"/>
          <p:nvPr/>
        </p:nvSpPr>
        <p:spPr>
          <a:xfrm>
            <a:off x="637066" y="2093929"/>
            <a:ext cx="17378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Docker Objects</a:t>
            </a:r>
            <a:r>
              <a:rPr lang="en-US" altLang="zh-CN" dirty="0"/>
              <a:t>: </a:t>
            </a:r>
          </a:p>
          <a:p>
            <a:endParaRPr lang="en-US" altLang="zh-CN" dirty="0"/>
          </a:p>
          <a:p>
            <a:r>
              <a:rPr lang="en-US" altLang="zh-CN" dirty="0"/>
              <a:t>Core objects including images, containers, networks, volumes, etc.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7702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干货 | 一文搞定 Docker 容器技术与常用命令 -阿里云开发者社区">
            <a:extLst>
              <a:ext uri="{FF2B5EF4-FFF2-40B4-BE49-F238E27FC236}">
                <a16:creationId xmlns:a16="http://schemas.microsoft.com/office/drawing/2014/main" id="{929527DE-DE60-27FB-EA4B-5EA3E9BE9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59" r="1843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109CBFB-39A0-C495-AE43-B45AC8EBC72B}"/>
              </a:ext>
            </a:extLst>
          </p:cNvPr>
          <p:cNvSpPr txBox="1"/>
          <p:nvPr/>
        </p:nvSpPr>
        <p:spPr>
          <a:xfrm>
            <a:off x="1524000" y="1122362"/>
            <a:ext cx="9144000" cy="29005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zh-CN" sz="60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5.Docker’s workflow</a:t>
            </a:r>
          </a:p>
        </p:txBody>
      </p:sp>
    </p:spTree>
    <p:extLst>
      <p:ext uri="{BB962C8B-B14F-4D97-AF65-F5344CB8AC3E}">
        <p14:creationId xmlns:p14="http://schemas.microsoft.com/office/powerpoint/2010/main" val="29250245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9945686-B6B9-7691-6FC6-922C57A2E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zh-CN" sz="4000">
                <a:solidFill>
                  <a:srgbClr val="FFFFFF"/>
                </a:solidFill>
              </a:rPr>
              <a:t>Docker's workflow is primarily as follows:</a:t>
            </a:r>
            <a:endParaRPr lang="zh-CN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18" name="内容占位符 2">
            <a:extLst>
              <a:ext uri="{FF2B5EF4-FFF2-40B4-BE49-F238E27FC236}">
                <a16:creationId xmlns:a16="http://schemas.microsoft.com/office/drawing/2014/main" id="{07471DF1-9B70-BE31-49DF-0CC7852F27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225498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1472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C2CC32B-C02E-60DB-1A57-8C2A690A0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432" y="2033626"/>
            <a:ext cx="2497656" cy="1940726"/>
          </a:xfrm>
        </p:spPr>
        <p:txBody>
          <a:bodyPr anchor="b">
            <a:normAutofit/>
          </a:bodyPr>
          <a:lstStyle/>
          <a:p>
            <a:pPr algn="r"/>
            <a:r>
              <a:rPr lang="en-US" altLang="zh-CN" sz="4000" b="1" dirty="0">
                <a:solidFill>
                  <a:srgbClr val="FFFFFF"/>
                </a:solidFill>
              </a:rPr>
              <a:t>What is a Container</a:t>
            </a:r>
            <a:endParaRPr lang="zh-CN" altLang="en-US" sz="4000" dirty="0">
              <a:solidFill>
                <a:srgbClr val="FFFFFF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AB0A8F-D2C5-B95E-20C9-B7BE1F32D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altLang="zh-CN" sz="2000" dirty="0"/>
              <a:t>A container is simply a set of processes, but unlike regular processes, these processes have some restrictions:</a:t>
            </a:r>
          </a:p>
          <a:p>
            <a:pPr marL="0" indent="0">
              <a:buNone/>
            </a:pPr>
            <a:br>
              <a:rPr lang="en-US" altLang="zh-CN" sz="2000" dirty="0"/>
            </a:br>
            <a:endParaRPr lang="en-US" altLang="zh-CN" sz="2000" dirty="0"/>
          </a:p>
          <a:p>
            <a:r>
              <a:rPr lang="en-US" altLang="zh-CN" sz="2000" dirty="0"/>
              <a:t>- Cannot see files outside the image (unless you use volumes, which we'll mention later)</a:t>
            </a:r>
          </a:p>
          <a:p>
            <a:endParaRPr lang="en-US" altLang="zh-CN" sz="2000" dirty="0"/>
          </a:p>
          <a:p>
            <a:r>
              <a:rPr lang="en-US" altLang="zh-CN" sz="2000" dirty="0"/>
              <a:t>- Relies on the image's system files to run, using the Linux kernel to execute processes (regardless of the current device's system type)</a:t>
            </a:r>
          </a:p>
          <a:p>
            <a:pPr marL="0" indent="0">
              <a:buNone/>
            </a:pPr>
            <a:endParaRPr lang="en-US" altLang="zh-CN" sz="2000" dirty="0"/>
          </a:p>
          <a:p>
            <a:r>
              <a:rPr lang="en-US" altLang="zh-CN" sz="2000" dirty="0"/>
              <a:t>It is precisely because of these restrictions that containers can run on any device without worrying about environment issues.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29876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DC33EE-833F-FA9C-3879-C679C0CB8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CBCC92C-E46C-0856-23AB-7A93A820B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822" y="1736746"/>
            <a:ext cx="2600265" cy="2237606"/>
          </a:xfrm>
        </p:spPr>
        <p:txBody>
          <a:bodyPr anchor="b">
            <a:norm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What is an Image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7D41FA-D60B-E2A0-2E34-02A81DD81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234086"/>
            <a:ext cx="6555347" cy="6495898"/>
          </a:xfrm>
        </p:spPr>
        <p:txBody>
          <a:bodyPr anchor="ctr">
            <a:normAutofit fontScale="55000" lnSpcReduction="20000"/>
          </a:bodyPr>
          <a:lstStyle/>
          <a:p>
            <a:r>
              <a:rPr lang="en-US" altLang="zh-CN" sz="2900" dirty="0"/>
              <a:t>An image (read-only) consists of multiple layers (recorded in multiple files), each recording different container information</a:t>
            </a:r>
          </a:p>
          <a:p>
            <a:pPr marL="0" indent="0">
              <a:buNone/>
            </a:pPr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Why read-only? Of course, to ensure the image doesn't get modified, otherwise the image would be polluted, which would affect the operation of other containers that depend on this image.</a:t>
            </a:r>
          </a:p>
          <a:p>
            <a:pPr marL="0" indent="0">
              <a:buNone/>
            </a:pPr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For example:</a:t>
            </a:r>
          </a:p>
          <a:p>
            <a:pPr marL="0" indent="0">
              <a:buNone/>
            </a:pPr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- The first layer records the user-space file system (e.g., ubuntu:22.04)</a:t>
            </a:r>
          </a:p>
          <a:p>
            <a:r>
              <a:rPr lang="en-US" altLang="zh-CN" sz="2900" dirty="0"/>
              <a:t>- The second layer records the language environment (e.g., python 3.10)</a:t>
            </a:r>
          </a:p>
          <a:p>
            <a:r>
              <a:rPr lang="en-US" altLang="zh-CN" sz="2900" dirty="0"/>
              <a:t>- The third layer ....</a:t>
            </a:r>
          </a:p>
          <a:p>
            <a:pPr marL="0" indent="0">
              <a:buNone/>
            </a:pPr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Images can be ported to a new device through compression and decompression</a:t>
            </a:r>
          </a:p>
          <a:p>
            <a:pPr marL="0" indent="0">
              <a:buNone/>
            </a:pPr>
            <a:br>
              <a:rPr lang="en-US" altLang="zh-CN" sz="2900" dirty="0"/>
            </a:br>
            <a:endParaRPr lang="en-US" altLang="zh-CN" sz="2900" dirty="0"/>
          </a:p>
          <a:p>
            <a:r>
              <a:rPr lang="en-US" altLang="zh-CN" sz="2900" dirty="0"/>
              <a:t>A container is then created on the new device to run the project's content</a:t>
            </a:r>
          </a:p>
          <a:p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894890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D2F154-A77A-5FF8-5B50-C60D89723965}"/>
              </a:ext>
            </a:extLst>
          </p:cNvPr>
          <p:cNvSpPr txBox="1"/>
          <p:nvPr/>
        </p:nvSpPr>
        <p:spPr>
          <a:xfrm>
            <a:off x="3438717" y="2228671"/>
            <a:ext cx="531456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u="sng" dirty="0"/>
              <a:t>https://github.com/CompPsyUnion/docker-tutorial</a:t>
            </a:r>
            <a:endParaRPr lang="en-US" altLang="zh-CN" sz="4400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4005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电脑萤幕的截图&#10;&#10;AI 生成的内容可能不正确。">
            <a:extLst>
              <a:ext uri="{FF2B5EF4-FFF2-40B4-BE49-F238E27FC236}">
                <a16:creationId xmlns:a16="http://schemas.microsoft.com/office/drawing/2014/main" id="{38EF9661-B0A5-99A3-0D3B-7B6F6672B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55" y="3927625"/>
            <a:ext cx="4520792" cy="247322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D2EFB74-D50E-30C7-AF05-A257FEF122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272" y="49931"/>
            <a:ext cx="5455084" cy="3006300"/>
          </a:xfrm>
          <a:prstGeom prst="rect">
            <a:avLst/>
          </a:prstGeom>
        </p:spPr>
      </p:pic>
      <p:sp>
        <p:nvSpPr>
          <p:cNvPr id="10" name="箭头: 右 9">
            <a:extLst>
              <a:ext uri="{FF2B5EF4-FFF2-40B4-BE49-F238E27FC236}">
                <a16:creationId xmlns:a16="http://schemas.microsoft.com/office/drawing/2014/main" id="{EF6D64F4-FCC4-CBFE-3E46-9C8DB4DC2309}"/>
              </a:ext>
            </a:extLst>
          </p:cNvPr>
          <p:cNvSpPr/>
          <p:nvPr/>
        </p:nvSpPr>
        <p:spPr>
          <a:xfrm rot="19840009">
            <a:off x="3736630" y="1791979"/>
            <a:ext cx="2933444" cy="16140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4646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403</TotalTime>
  <Words>858</Words>
  <Application>Microsoft Office PowerPoint</Application>
  <PresentationFormat>宽屏</PresentationFormat>
  <Paragraphs>115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7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Content</vt:lpstr>
      <vt:lpstr>1.Basic introduction to Docker</vt:lpstr>
      <vt:lpstr>What is Docker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Docker stands out among containerization technologies for several reasons: </vt:lpstr>
      <vt:lpstr>Compared to virtual machines</vt:lpstr>
      <vt:lpstr>PowerPoint 演示文稿</vt:lpstr>
      <vt:lpstr>Docker's Architecture </vt:lpstr>
      <vt:lpstr>PowerPoint 演示文稿</vt:lpstr>
      <vt:lpstr>Docker's workflow is primarily as follows:</vt:lpstr>
      <vt:lpstr>What is a Container</vt:lpstr>
      <vt:lpstr>What is an Image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佳宝 曹</dc:creator>
  <cp:lastModifiedBy>佳宝 曹</cp:lastModifiedBy>
  <cp:revision>10</cp:revision>
  <dcterms:created xsi:type="dcterms:W3CDTF">2026-03-02T02:09:21Z</dcterms:created>
  <dcterms:modified xsi:type="dcterms:W3CDTF">2026-03-03T11:47:57Z</dcterms:modified>
</cp:coreProperties>
</file>