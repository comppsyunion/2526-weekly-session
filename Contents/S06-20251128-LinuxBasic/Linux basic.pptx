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0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6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 autoAdjust="0"/>
    <p:restoredTop sz="94668"/>
  </p:normalViewPr>
  <p:slideViewPr>
    <p:cSldViewPr snapToGrid="0">
      <p:cViewPr varScale="1">
        <p:scale>
          <a:sx n="119" d="100"/>
          <a:sy n="119" d="100"/>
        </p:scale>
        <p:origin x="4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59BE4A-13F8-4805-82B6-6AFE08001890}" type="datetimeFigureOut">
              <a:rPr lang="en-US" smtClean="0"/>
              <a:t>11/28/25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59F61-2B5F-4CD4-BA05-C195BD7C1E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394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59F61-2B5F-4CD4-BA05-C195BD7C1EF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840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dirty="0"/>
              <a:t>The kernel is software that manages communication between the hardware and the system.</a:t>
            </a:r>
          </a:p>
          <a:p>
            <a:pPr fontAlgn="base"/>
            <a:r>
              <a:rPr lang="en-US" dirty="0"/>
              <a:t>It cannot directly interact with directories or files. </a:t>
            </a:r>
          </a:p>
          <a:p>
            <a:pPr fontAlgn="base"/>
            <a:r>
              <a:rPr lang="en-US" dirty="0"/>
              <a:t>Instead, the kernel handles the communication between the computer system and the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59F61-2B5F-4CD4-BA05-C195BD7C1EF6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462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[Also different types and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59F61-2B5F-4CD4-BA05-C195BD7C1EF6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477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Users can just enter the command and using the kernel's function that specific task is performed accordingly.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59F61-2B5F-4CD4-BA05-C195BD7C1EF6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772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 a tree, like windows.</a:t>
            </a:r>
          </a:p>
          <a:p>
            <a:r>
              <a:rPr lang="en-US" dirty="0"/>
              <a:t>VFS (Virtual File System)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59F61-2B5F-4CD4-BA05-C195BD7C1EF6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725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59F61-2B5F-4CD4-BA05-C195BD7C1EF6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4515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Package could be a GUI app, or a </a:t>
            </a:r>
            <a:r>
              <a:rPr lang="en-US" dirty="0" err="1"/>
              <a:t>cmd</a:t>
            </a:r>
            <a:r>
              <a:rPr lang="en-US" dirty="0"/>
              <a:t> tool, or a dependency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59F61-2B5F-4CD4-BA05-C195BD7C1EF6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348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C1A5C-9B0D-0281-B6AA-BA4198F6C2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052E4C-5819-B25F-F8F7-66057100A0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8DD6C-FA16-D55C-007B-55AD3E078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E19C-F6F6-4E30-B21B-DE8ECC4A171A}" type="datetimeFigureOut">
              <a:rPr lang="en-US" smtClean="0"/>
              <a:t>11/28/25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50AF6-7D75-13D8-3848-3F56B3286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AB5E3-D804-49B3-BEEC-4918091ED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AE1DB-DFFE-4D77-8A1E-626AF41736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861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47ADE-7B67-ACB3-6AA7-88B34B768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E26B7-E927-E572-DF52-AE6CF9858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D0A01-FE49-2227-567F-AEEC908D4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E19C-F6F6-4E30-B21B-DE8ECC4A171A}" type="datetimeFigureOut">
              <a:rPr lang="en-US" smtClean="0"/>
              <a:t>11/28/25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1EF79-490E-8621-21DD-84B18288E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B9E04-9E3A-9D5B-97D7-C0BA28053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AE1DB-DFFE-4D77-8A1E-626AF41736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832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F6962-00A8-CD50-C2E7-4DA12EE21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85496A-BA6E-C266-AAB3-72B59DADC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537BA-AE13-CDDC-7A7D-C2290CF67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E19C-F6F6-4E30-B21B-DE8ECC4A171A}" type="datetimeFigureOut">
              <a:rPr lang="en-US" smtClean="0"/>
              <a:t>11/28/25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3A78C-2912-91B6-7E18-2D092E8A8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BA045-71EF-176B-B970-1F5E5DB11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AE1DB-DFFE-4D77-8A1E-626AF41736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171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95004-BD29-0991-0277-D85DAE42E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779DA-C246-9D24-6145-A72D97139F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1239EA-3CFA-5EEC-FB8C-3E603922C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D6429-45FF-D7F9-32C9-91B67A4BE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E19C-F6F6-4E30-B21B-DE8ECC4A171A}" type="datetimeFigureOut">
              <a:rPr lang="en-US" smtClean="0"/>
              <a:t>11/28/25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2F96C-F8C0-87BA-9DC8-C904E9209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DDC1FB-3DFF-4FFF-7C4B-3B7DCF0FD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AE1DB-DFFE-4D77-8A1E-626AF41736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68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C908F-19C0-D2C2-C635-1E309256E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F5AC0-0CFF-2DC1-C394-48ECCE5D3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28F50-C47A-35FB-16BC-AF08A1B0B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2F5873-5F61-BA5F-4EE1-22489617E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6DA5DA-48D5-14AE-0FEE-F8432AC279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828E60-5A68-026E-4F25-77B4A1EA8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E19C-F6F6-4E30-B21B-DE8ECC4A171A}" type="datetimeFigureOut">
              <a:rPr lang="en-US" smtClean="0"/>
              <a:t>11/28/25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089489-B6CB-59EA-D2A3-4A47AA3F3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89B187-1290-80EA-2647-F003285E2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AE1DB-DFFE-4D77-8A1E-626AF41736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13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E54E3-FF9E-7BEA-0B70-FACA5457C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173CA-287F-FBD6-EA53-E9CC46BBA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E19C-F6F6-4E30-B21B-DE8ECC4A171A}" type="datetimeFigureOut">
              <a:rPr lang="en-US" smtClean="0"/>
              <a:t>11/28/25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A7F152-51A7-B054-DF3D-25C6F0F4E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323A4-DB49-F1E3-E1CE-EF23F1B3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AE1DB-DFFE-4D77-8A1E-626AF41736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006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38D70F-926A-E717-109B-982B7280A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E19C-F6F6-4E30-B21B-DE8ECC4A171A}" type="datetimeFigureOut">
              <a:rPr lang="en-US" smtClean="0"/>
              <a:t>11/28/25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700F1D-82E0-7149-CE9B-155C97825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69301-8043-1105-2F4A-ADA8DC423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AE1DB-DFFE-4D77-8A1E-626AF41736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399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9C8F7-2912-2A70-6220-D1278A71D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A1D77-B2E1-0EBA-7833-0F97F054C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F74E9-07B5-2F82-D7B3-B750E7274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8B7B1A-7948-96FE-131E-74322F4DB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E19C-F6F6-4E30-B21B-DE8ECC4A171A}" type="datetimeFigureOut">
              <a:rPr lang="en-US" smtClean="0"/>
              <a:t>11/28/25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6E40D-1E2E-8723-C9E4-CF9CEBA20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1EA62-06C1-F0A2-C17D-168F74258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AE1DB-DFFE-4D77-8A1E-626AF41736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102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75156-D928-57D3-35A5-A7FA65204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3DF08F-744F-0E65-A408-32A473CD09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D04D57-7EA6-98F3-A7D0-8245CC96E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86322-A938-F052-1D66-CD29A70FC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E19C-F6F6-4E30-B21B-DE8ECC4A171A}" type="datetimeFigureOut">
              <a:rPr lang="en-US" smtClean="0"/>
              <a:t>11/28/25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7B882-C966-76AA-2598-40DD2BA1B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23646-D72A-4BD2-E53E-90CBCB922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AE1DB-DFFE-4D77-8A1E-626AF41736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297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EF47F-6BD4-8F2A-0DD4-E309579B2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167A01-E98D-2846-A8F0-30AC7A54A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B3CAF-2448-7C46-436B-899F26D59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E19C-F6F6-4E30-B21B-DE8ECC4A171A}" type="datetimeFigureOut">
              <a:rPr lang="en-US" smtClean="0"/>
              <a:t>11/28/25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B9FBA-97D3-9BAD-6360-337F3870A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BC2E4-62D5-6CC9-234A-99A2E4DEE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AE1DB-DFFE-4D77-8A1E-626AF41736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620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E302F3-7B35-FFAD-1E4E-9AFD7EA07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864A03-12B4-F82C-E6DF-5F8582A974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B1632-8985-0F1B-EEF3-4F3F97EE8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E19C-F6F6-4E30-B21B-DE8ECC4A171A}" type="datetimeFigureOut">
              <a:rPr lang="en-US" smtClean="0"/>
              <a:t>11/28/25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08181-2C54-A992-1079-56C987804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B9B8D-0C43-7A20-7EB5-EFCB641D1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AE1DB-DFFE-4D77-8A1E-626AF41736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779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72AC6B-724D-89D4-9C32-B8E17283D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A987D-5592-5F18-B5E9-3D464C3C4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81492-BB07-C6E6-D739-6519AD8F1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F2E19C-F6F6-4E30-B21B-DE8ECC4A171A}" type="datetimeFigureOut">
              <a:rPr lang="en-US" smtClean="0"/>
              <a:t>11/28/25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0091A-4AE4-A6E8-ECDE-0C3D6D247C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A0B3A-B6F4-7DFA-6CC6-D06B053C69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2AE1DB-DFFE-4D77-8A1E-626AF41736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916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tecadmin.net/filesystem-hierarchy-structure-in-linux/" TargetMode="External"/><Relationship Id="rId2" Type="http://schemas.openxmlformats.org/officeDocument/2006/relationships/hyperlink" Target="https://www.geeksforgeeks.org/linux-unix/architecture-of-linux-operating-syste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abex.io/learn/linux" TargetMode="External"/><Relationship Id="rId5" Type="http://schemas.openxmlformats.org/officeDocument/2006/relationships/hyperlink" Target="https://ubuntu.com/" TargetMode="External"/><Relationship Id="rId4" Type="http://schemas.openxmlformats.org/officeDocument/2006/relationships/hyperlink" Target="https://www.geeksforgeeks.org/linux-unix/linux-file-syste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7259D-3D26-F2EF-6CAA-FFFBA62253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Linux basic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1D2928-EAE0-B6AD-ECC6-7F4A81F14B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2025.11.28 FRI</a:t>
            </a:r>
          </a:p>
        </p:txBody>
      </p:sp>
    </p:spTree>
    <p:extLst>
      <p:ext uri="{BB962C8B-B14F-4D97-AF65-F5344CB8AC3E}">
        <p14:creationId xmlns:p14="http://schemas.microsoft.com/office/powerpoint/2010/main" val="3278382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B471F-2A45-354E-9985-50E4C09AD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33982-E5D4-5E1E-2A32-053A7745C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Intro of Linux (usage, history, founder…)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OS (operating system)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Linux 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Linux installation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Basic Terminal / CLI use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5" name="Picture 4" descr="A cartoon penguin with yellow beak&#10;&#10;AI-generated content may be incorrect.">
            <a:extLst>
              <a:ext uri="{FF2B5EF4-FFF2-40B4-BE49-F238E27FC236}">
                <a16:creationId xmlns:a16="http://schemas.microsoft.com/office/drawing/2014/main" id="{444CDA71-C6A6-C15C-7BEC-3EACBACA2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9573" y="2308335"/>
            <a:ext cx="3453860" cy="409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023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279AE-C359-BA88-FD5D-32F05E595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recommend to learn Linux?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9AA46-8BF2-C0F5-9D86-7FF563CDB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Server engineers</a:t>
            </a:r>
          </a:p>
          <a:p>
            <a:r>
              <a:rPr lang="en-US" dirty="0"/>
              <a:t>Software / backend / OS developer</a:t>
            </a:r>
          </a:p>
          <a:p>
            <a:r>
              <a:rPr lang="en-US" dirty="0"/>
              <a:t>Machine learning / Data science</a:t>
            </a:r>
          </a:p>
          <a:p>
            <a:r>
              <a:rPr lang="en-US" dirty="0"/>
              <a:t>All CS students</a:t>
            </a:r>
          </a:p>
        </p:txBody>
      </p:sp>
    </p:spTree>
    <p:extLst>
      <p:ext uri="{BB962C8B-B14F-4D97-AF65-F5344CB8AC3E}">
        <p14:creationId xmlns:p14="http://schemas.microsoft.com/office/powerpoint/2010/main" val="1950354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A5276-2462-F06F-CD68-1CBB79D5E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and application of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4FE0B-A579-262D-B728-9026708BE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Almost all cloud infrastructure and web servers use Linux as OS (E.g. csubuntu)</a:t>
            </a:r>
          </a:p>
          <a:p>
            <a:r>
              <a:rPr lang="en-US" dirty="0"/>
              <a:t>The premier platform for the software development.</a:t>
            </a:r>
          </a:p>
          <a:p>
            <a:r>
              <a:rPr lang="en-US" dirty="0"/>
              <a:t>Derived other OS [Android / some embedded system.]</a:t>
            </a:r>
          </a:p>
          <a:p>
            <a:endParaRPr lang="en-US" dirty="0"/>
          </a:p>
          <a:p>
            <a:r>
              <a:rPr lang="en-US" dirty="0"/>
              <a:t>Unique Pros:</a:t>
            </a:r>
          </a:p>
          <a:p>
            <a:pPr lvl="1"/>
            <a:r>
              <a:rPr lang="en-US" dirty="0"/>
              <a:t>Open-source</a:t>
            </a:r>
          </a:p>
          <a:p>
            <a:pPr lvl="1"/>
            <a:r>
              <a:rPr lang="en-US" dirty="0"/>
              <a:t>Security-enhanced</a:t>
            </a:r>
          </a:p>
          <a:p>
            <a:pPr lvl="1"/>
            <a:r>
              <a:rPr lang="en-US" dirty="0"/>
              <a:t>Fast</a:t>
            </a:r>
          </a:p>
        </p:txBody>
      </p:sp>
    </p:spTree>
    <p:extLst>
      <p:ext uri="{BB962C8B-B14F-4D97-AF65-F5344CB8AC3E}">
        <p14:creationId xmlns:p14="http://schemas.microsoft.com/office/powerpoint/2010/main" val="2787126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0F971-87D7-77FC-4FC4-CFA66A5B3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Founder and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14684-93EF-30BF-562B-3555B99CE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Linus Torvalds </a:t>
            </a:r>
            <a:r>
              <a:rPr lang="en-US" dirty="0"/>
              <a:t>– Founder of Linux and Git.</a:t>
            </a:r>
          </a:p>
          <a:p>
            <a:r>
              <a:rPr lang="en-US" dirty="0"/>
              <a:t>Unix (1969) and Minix (1984)</a:t>
            </a:r>
          </a:p>
          <a:p>
            <a:r>
              <a:rPr lang="en-US" dirty="0"/>
              <a:t>Linus developed the kernel as a personal project in 1991.</a:t>
            </a:r>
          </a:p>
          <a:p>
            <a:pPr marL="457200" lvl="1" indent="0">
              <a:buNone/>
            </a:pPr>
            <a:r>
              <a:rPr lang="en-US" i="1" dirty="0"/>
              <a:t>"Hello everybody out there using minix - I'm doing a (free) operating system (just a hobby, won't be big and professional like gnu)... It is now ready to be used."</a:t>
            </a:r>
            <a:br>
              <a:rPr lang="en-US" dirty="0"/>
            </a:br>
            <a:r>
              <a:rPr lang="en-US" dirty="0"/>
              <a:t>— Linus Torvalds, October 5, 1991, at the University of Helsinki.</a:t>
            </a:r>
          </a:p>
          <a:p>
            <a:r>
              <a:rPr lang="en-US" dirty="0"/>
              <a:t>Linux kernel released V1.0 under the GPL license in 1992.</a:t>
            </a:r>
          </a:p>
          <a:p>
            <a:r>
              <a:rPr lang="en-US" dirty="0"/>
              <a:t>Global community adopts and improves it, in 1990s.</a:t>
            </a:r>
          </a:p>
          <a:p>
            <a:r>
              <a:rPr lang="en-US" dirty="0"/>
              <a:t>Multiple versions and mainstream OS for developers, 2000s – today.</a:t>
            </a:r>
          </a:p>
        </p:txBody>
      </p:sp>
    </p:spTree>
    <p:extLst>
      <p:ext uri="{BB962C8B-B14F-4D97-AF65-F5344CB8AC3E}">
        <p14:creationId xmlns:p14="http://schemas.microsoft.com/office/powerpoint/2010/main" val="71102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0628D-2D14-A156-ED9E-918FDBAE6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(Operating System)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C16EB-35A5-ED7A-646C-CFB4C0669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Manage and control hardware and software resources within computer systems to facilitate the exchange of information between users and system hardware.</a:t>
            </a:r>
          </a:p>
          <a:p>
            <a:endParaRPr lang="en-US" dirty="0"/>
          </a:p>
        </p:txBody>
      </p:sp>
      <p:pic>
        <p:nvPicPr>
          <p:cNvPr id="5" name="Picture 4" descr="A cartoon penguin with yellow beak&#10;&#10;AI-generated content may be incorrect.">
            <a:extLst>
              <a:ext uri="{FF2B5EF4-FFF2-40B4-BE49-F238E27FC236}">
                <a16:creationId xmlns:a16="http://schemas.microsoft.com/office/drawing/2014/main" id="{1E987B3D-26C1-7B42-E18B-2C19444B2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2327" y="4548001"/>
            <a:ext cx="1487346" cy="1763899"/>
          </a:xfrm>
          <a:prstGeom prst="rect">
            <a:avLst/>
          </a:prstGeom>
        </p:spPr>
      </p:pic>
      <p:pic>
        <p:nvPicPr>
          <p:cNvPr id="7" name="Picture 6" descr="A blue and white face&#10;&#10;AI-generated content may be incorrect.">
            <a:extLst>
              <a:ext uri="{FF2B5EF4-FFF2-40B4-BE49-F238E27FC236}">
                <a16:creationId xmlns:a16="http://schemas.microsoft.com/office/drawing/2014/main" id="{41846620-0E8E-0D6D-F642-AA07EFE579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492" y="4483101"/>
            <a:ext cx="1828799" cy="1828799"/>
          </a:xfrm>
          <a:prstGeom prst="rect">
            <a:avLst/>
          </a:prstGeom>
        </p:spPr>
      </p:pic>
      <p:pic>
        <p:nvPicPr>
          <p:cNvPr id="9" name="Picture 8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12BD0669-0012-ECD9-8CF1-92B5E7CEB5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659" y="3403998"/>
            <a:ext cx="4212236" cy="891809"/>
          </a:xfrm>
          <a:prstGeom prst="rect">
            <a:avLst/>
          </a:prstGeom>
        </p:spPr>
      </p:pic>
      <p:pic>
        <p:nvPicPr>
          <p:cNvPr id="11" name="Picture 10" descr="A black and grey logo&#10;&#10;AI-generated content may be incorrect.">
            <a:extLst>
              <a:ext uri="{FF2B5EF4-FFF2-40B4-BE49-F238E27FC236}">
                <a16:creationId xmlns:a16="http://schemas.microsoft.com/office/drawing/2014/main" id="{038673BB-5E2B-8E55-C5FE-B05F2F0E99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369" y="3522516"/>
            <a:ext cx="4143441" cy="6547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24D91A8-7DCA-79C5-1CF7-902F045063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097" y="5051025"/>
            <a:ext cx="1063270" cy="98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452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108E-E2B8-8631-FDB6-435B91455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(Operating System)</a:t>
            </a:r>
          </a:p>
        </p:txBody>
      </p:sp>
      <p:pic>
        <p:nvPicPr>
          <p:cNvPr id="5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FC3F22FA-8EB2-8A6A-6AAE-EFA319DE44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8866" y="1027906"/>
            <a:ext cx="6235908" cy="560582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CD8AFC-117F-0C35-34E7-15A513CB89D7}"/>
              </a:ext>
            </a:extLst>
          </p:cNvPr>
          <p:cNvSpPr txBox="1"/>
          <p:nvPr/>
        </p:nvSpPr>
        <p:spPr>
          <a:xfrm>
            <a:off x="838200" y="2377104"/>
            <a:ext cx="5368521" cy="38472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Manages Hardware</a:t>
            </a:r>
          </a:p>
          <a:p>
            <a:r>
              <a:rPr lang="en-US" sz="2400" dirty="0"/>
              <a:t>- </a:t>
            </a:r>
            <a:r>
              <a:rPr lang="en-US" dirty="0"/>
              <a:t>Controls the CPU, memory, disk drives, printers, etc.</a:t>
            </a:r>
            <a:endParaRPr lang="en-US" sz="2400" dirty="0"/>
          </a:p>
          <a:p>
            <a:r>
              <a:rPr lang="en-US" sz="2800" dirty="0"/>
              <a:t>Provides a User Interface</a:t>
            </a:r>
          </a:p>
          <a:p>
            <a:pPr marL="285750" indent="-285750">
              <a:buFontTx/>
              <a:buChar char="-"/>
            </a:pPr>
            <a:r>
              <a:rPr lang="en-US" dirty="0"/>
              <a:t>GUI (Graphical User Interface): 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visual desktop with windows, icons, and menus.</a:t>
            </a:r>
          </a:p>
          <a:p>
            <a:pPr marL="285750" indent="-285750">
              <a:buFontTx/>
              <a:buChar char="-"/>
            </a:pPr>
            <a:r>
              <a:rPr lang="en-US" dirty="0"/>
              <a:t>(e.g., Windows, macOS, Ubuntu Desktop).</a:t>
            </a:r>
          </a:p>
          <a:p>
            <a:pPr marL="285750" indent="-285750">
              <a:buFontTx/>
              <a:buChar char="-"/>
            </a:pPr>
            <a:r>
              <a:rPr lang="en-US" dirty="0"/>
              <a:t>CLI (Command Line Interface): </a:t>
            </a:r>
          </a:p>
          <a:p>
            <a:pPr marL="285750" indent="-285750">
              <a:buFontTx/>
              <a:buChar char="-"/>
            </a:pPr>
            <a:r>
              <a:rPr lang="en-US" dirty="0"/>
              <a:t>A text-based interface where you type commands</a:t>
            </a:r>
          </a:p>
          <a:p>
            <a:r>
              <a:rPr lang="en-US" sz="2800" dirty="0"/>
              <a:t>Runs Applications</a:t>
            </a:r>
          </a:p>
          <a:p>
            <a:r>
              <a:rPr lang="en-US" dirty="0"/>
              <a:t>-    Support web browsers, games, and word processors.</a:t>
            </a:r>
            <a:endParaRPr lang="en-US" sz="2800" dirty="0"/>
          </a:p>
          <a:p>
            <a:r>
              <a:rPr lang="en-US" sz="2800" dirty="0"/>
              <a:t>Manages Files and Folders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274139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C1752-C19D-2A75-CF98-AB705D1D7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40F12-58B9-92BD-3027-49ECAF9B8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Linux Version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Linux OS System Components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File System / Structure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Multiple user management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Application</a:t>
            </a:r>
          </a:p>
        </p:txBody>
      </p:sp>
    </p:spTree>
    <p:extLst>
      <p:ext uri="{BB962C8B-B14F-4D97-AF65-F5344CB8AC3E}">
        <p14:creationId xmlns:p14="http://schemas.microsoft.com/office/powerpoint/2010/main" val="408107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14180-804A-8CDC-E3FC-015B0A85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Linux Version</a:t>
            </a:r>
          </a:p>
        </p:txBody>
      </p:sp>
      <p:pic>
        <p:nvPicPr>
          <p:cNvPr id="5" name="Content Placeholder 4" descr="A diagram of a computer server&#10;&#10;AI-generated content may be incorrect.">
            <a:extLst>
              <a:ext uri="{FF2B5EF4-FFF2-40B4-BE49-F238E27FC236}">
                <a16:creationId xmlns:a16="http://schemas.microsoft.com/office/drawing/2014/main" id="{6D932495-B05A-A9DD-A96B-ADCA8AA479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211" y="1932583"/>
            <a:ext cx="7034048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43E802-C997-7774-D252-75F116569E90}"/>
              </a:ext>
            </a:extLst>
          </p:cNvPr>
          <p:cNvSpPr txBox="1"/>
          <p:nvPr/>
        </p:nvSpPr>
        <p:spPr>
          <a:xfrm>
            <a:off x="838200" y="2215426"/>
            <a:ext cx="398654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Linux kernel with its distribution</a:t>
            </a:r>
          </a:p>
          <a:p>
            <a:endParaRPr lang="en-US" sz="2000" dirty="0"/>
          </a:p>
          <a:p>
            <a:r>
              <a:rPr lang="en-US" sz="2000" dirty="0"/>
              <a:t>Linux kernel + commonly used apps</a:t>
            </a:r>
          </a:p>
          <a:p>
            <a:r>
              <a:rPr lang="en-US" sz="2000" dirty="0"/>
              <a:t>-&gt; Linux Release Ver.</a:t>
            </a:r>
          </a:p>
          <a:p>
            <a:endParaRPr lang="en-US" sz="2000" dirty="0"/>
          </a:p>
          <a:p>
            <a:r>
              <a:rPr lang="en-US" sz="2000" dirty="0"/>
              <a:t>Debian (Ubuntu) &amp; RHEL are the</a:t>
            </a:r>
          </a:p>
          <a:p>
            <a:r>
              <a:rPr lang="en-US" sz="2000" dirty="0"/>
              <a:t>most popular release version.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For example, ubuntu provides a GUI.</a:t>
            </a:r>
          </a:p>
          <a:p>
            <a:r>
              <a:rPr lang="en-US" sz="2000" dirty="0"/>
              <a:t>That’s one of the reasons that makes</a:t>
            </a:r>
          </a:p>
          <a:p>
            <a:r>
              <a:rPr lang="en-US" sz="2000" dirty="0"/>
              <a:t>Ubuntu a beginner-friendly Linux.</a:t>
            </a:r>
          </a:p>
        </p:txBody>
      </p:sp>
    </p:spTree>
    <p:extLst>
      <p:ext uri="{BB962C8B-B14F-4D97-AF65-F5344CB8AC3E}">
        <p14:creationId xmlns:p14="http://schemas.microsoft.com/office/powerpoint/2010/main" val="1834305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76D24-21E9-79EF-0106-6B80B6E9D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Linux OS System Components</a:t>
            </a:r>
          </a:p>
        </p:txBody>
      </p:sp>
      <p:pic>
        <p:nvPicPr>
          <p:cNvPr id="5" name="Content Placeholder 4" descr="A diagram of a circular diagram&#10;&#10;AI-generated content may be incorrect.">
            <a:extLst>
              <a:ext uri="{FF2B5EF4-FFF2-40B4-BE49-F238E27FC236}">
                <a16:creationId xmlns:a16="http://schemas.microsoft.com/office/drawing/2014/main" id="{DF9051A8-0365-4DA0-08BA-2BD824F732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462" y="1584725"/>
            <a:ext cx="4351338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53F339-FBC1-A5C9-354E-516D6B03ACD9}"/>
              </a:ext>
            </a:extLst>
          </p:cNvPr>
          <p:cNvSpPr txBox="1"/>
          <p:nvPr/>
        </p:nvSpPr>
        <p:spPr>
          <a:xfrm>
            <a:off x="7723085" y="5996056"/>
            <a:ext cx="2910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Components of Linux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299B64-CDA8-E0E4-434E-9699FF107CBC}"/>
              </a:ext>
            </a:extLst>
          </p:cNvPr>
          <p:cNvSpPr txBox="1"/>
          <p:nvPr/>
        </p:nvSpPr>
        <p:spPr>
          <a:xfrm>
            <a:off x="777075" y="2503574"/>
            <a:ext cx="62253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Like any operating system, Linux consists of software, computer programs, documentation, and hardware.</a:t>
            </a:r>
          </a:p>
          <a:p>
            <a:pPr fontAlgn="base"/>
            <a:r>
              <a:rPr lang="en-US" sz="2400" dirty="0"/>
              <a:t>The main components of Linux operating system are:</a:t>
            </a:r>
          </a:p>
          <a:p>
            <a:pPr fontAlgn="base"/>
            <a:r>
              <a:rPr lang="en-US" sz="2400" dirty="0"/>
              <a:t>Application, Shell, Kernel, Hardware, Utilities</a:t>
            </a:r>
          </a:p>
        </p:txBody>
      </p:sp>
    </p:spTree>
    <p:extLst>
      <p:ext uri="{BB962C8B-B14F-4D97-AF65-F5344CB8AC3E}">
        <p14:creationId xmlns:p14="http://schemas.microsoft.com/office/powerpoint/2010/main" val="147743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A18CC-4AC3-622A-8458-57B8B416E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 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713F9-4D45-B8CB-1E13-24146BDC7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1C806A-CBBA-F015-532E-CBDDAAD237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669" y="1449862"/>
            <a:ext cx="5062863" cy="5102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5EB2F9-5DFD-B6C8-83FC-276486A144B6}"/>
              </a:ext>
            </a:extLst>
          </p:cNvPr>
          <p:cNvSpPr txBox="1"/>
          <p:nvPr/>
        </p:nvSpPr>
        <p:spPr>
          <a:xfrm>
            <a:off x="6096000" y="1449862"/>
            <a:ext cx="537784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Kernel is the main core component it is lies </a:t>
            </a:r>
            <a:r>
              <a:rPr lang="en-US" sz="2400" b="1" dirty="0"/>
              <a:t>between the shell and the hardware</a:t>
            </a:r>
            <a:r>
              <a:rPr lang="en-US" sz="2400" dirty="0"/>
              <a:t>. </a:t>
            </a:r>
          </a:p>
          <a:p>
            <a:endParaRPr lang="en-US" sz="2400" dirty="0"/>
          </a:p>
          <a:p>
            <a:r>
              <a:rPr lang="en-US" sz="2400" dirty="0"/>
              <a:t>It controls the activity of other hardware components. </a:t>
            </a:r>
          </a:p>
          <a:p>
            <a:endParaRPr lang="en-US" sz="2400" dirty="0"/>
          </a:p>
          <a:p>
            <a:r>
              <a:rPr lang="en-US" sz="2400" dirty="0"/>
              <a:t>It visualizes the common hardware resources and provide each process with necessary virtual resources. </a:t>
            </a:r>
          </a:p>
          <a:p>
            <a:endParaRPr lang="en-US" sz="2400" dirty="0"/>
          </a:p>
          <a:p>
            <a:r>
              <a:rPr lang="en-US" sz="2400" dirty="0"/>
              <a:t>It makes the process to wait in the ready queue and execute in consequently to avoid any kind of conflict.</a:t>
            </a:r>
          </a:p>
        </p:txBody>
      </p:sp>
    </p:spTree>
    <p:extLst>
      <p:ext uri="{BB962C8B-B14F-4D97-AF65-F5344CB8AC3E}">
        <p14:creationId xmlns:p14="http://schemas.microsoft.com/office/powerpoint/2010/main" val="1336088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D6E86-8A28-020C-05A2-268DAAF77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is responsible for: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0E04899-6737-3AC9-E644-AD6B66355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Memory management</a:t>
            </a:r>
            <a:r>
              <a:rPr lang="en-US" dirty="0"/>
              <a:t>: Manages and allocates memory efficiently.</a:t>
            </a:r>
          </a:p>
          <a:p>
            <a:pPr fontAlgn="base"/>
            <a:r>
              <a:rPr lang="en-US" b="1" dirty="0"/>
              <a:t>Resource allocation</a:t>
            </a:r>
            <a:r>
              <a:rPr lang="en-US" dirty="0"/>
              <a:t>: Distributes system resources to different processes.</a:t>
            </a:r>
          </a:p>
          <a:p>
            <a:pPr fontAlgn="base"/>
            <a:r>
              <a:rPr lang="en-US" b="1" dirty="0"/>
              <a:t>Device management</a:t>
            </a:r>
            <a:r>
              <a:rPr lang="en-US" dirty="0"/>
              <a:t>: Controls input/output devices like printers and scanners.</a:t>
            </a:r>
          </a:p>
          <a:p>
            <a:pPr fontAlgn="base"/>
            <a:r>
              <a:rPr lang="en-US" b="1" dirty="0"/>
              <a:t>Process management</a:t>
            </a:r>
            <a:r>
              <a:rPr lang="en-US" dirty="0"/>
              <a:t>: Manages process execution and scheduling.</a:t>
            </a:r>
          </a:p>
          <a:p>
            <a:pPr fontAlgn="base"/>
            <a:r>
              <a:rPr lang="en-US" b="1" dirty="0"/>
              <a:t>Application interaction</a:t>
            </a:r>
            <a:r>
              <a:rPr lang="en-US" dirty="0"/>
              <a:t>: Bridges applications with system-level functions.</a:t>
            </a:r>
          </a:p>
          <a:p>
            <a:pPr fontAlgn="base"/>
            <a:r>
              <a:rPr lang="en-US" b="1" dirty="0"/>
              <a:t>Security</a:t>
            </a:r>
            <a:r>
              <a:rPr lang="en-US" dirty="0"/>
              <a:t>: Provides essential system-level security.</a:t>
            </a:r>
          </a:p>
        </p:txBody>
      </p:sp>
    </p:spTree>
    <p:extLst>
      <p:ext uri="{BB962C8B-B14F-4D97-AF65-F5344CB8AC3E}">
        <p14:creationId xmlns:p14="http://schemas.microsoft.com/office/powerpoint/2010/main" val="3271469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F9019-5696-A900-8314-747E1098D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2.2 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5A5F5-AB4C-BCAA-DB8A-741E85148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The Shell is also software or it can be determined as the interface to the kernel. </a:t>
            </a:r>
          </a:p>
          <a:p>
            <a:pPr fontAlgn="base"/>
            <a:r>
              <a:rPr lang="en-US" dirty="0"/>
              <a:t>It takes </a:t>
            </a:r>
            <a:r>
              <a:rPr lang="en-US" b="1" dirty="0"/>
              <a:t>commands</a:t>
            </a:r>
            <a:r>
              <a:rPr lang="en-US" dirty="0"/>
              <a:t> from the user and </a:t>
            </a:r>
            <a:r>
              <a:rPr lang="en-US" b="1" dirty="0"/>
              <a:t>interprets</a:t>
            </a:r>
            <a:r>
              <a:rPr lang="en-US" dirty="0"/>
              <a:t> them. </a:t>
            </a:r>
          </a:p>
          <a:p>
            <a:pPr fontAlgn="base"/>
            <a:r>
              <a:rPr lang="en-US" dirty="0"/>
              <a:t>The shell </a:t>
            </a:r>
            <a:r>
              <a:rPr lang="en-US" b="1" dirty="0"/>
              <a:t>transmits</a:t>
            </a:r>
            <a:r>
              <a:rPr lang="en-US" dirty="0"/>
              <a:t> these commands to the </a:t>
            </a:r>
            <a:r>
              <a:rPr lang="en-US" b="1" dirty="0"/>
              <a:t>kernel</a:t>
            </a:r>
            <a:r>
              <a:rPr lang="en-US" dirty="0"/>
              <a:t>, which then performs the requested operations.</a:t>
            </a:r>
          </a:p>
        </p:txBody>
      </p:sp>
    </p:spTree>
    <p:extLst>
      <p:ext uri="{BB962C8B-B14F-4D97-AF65-F5344CB8AC3E}">
        <p14:creationId xmlns:p14="http://schemas.microsoft.com/office/powerpoint/2010/main" val="3054946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093E2-41D3-8D10-2625-2312386C8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2.x Others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EB3D8-5D75-4F25-903A-7472CDFC6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 Library</a:t>
            </a:r>
          </a:p>
          <a:p>
            <a:pPr lvl="1"/>
            <a:r>
              <a:rPr lang="en-US" dirty="0"/>
              <a:t>GNU C library / libstdc++</a:t>
            </a:r>
          </a:p>
          <a:p>
            <a:pPr lvl="1"/>
            <a:r>
              <a:rPr lang="en-US" dirty="0"/>
              <a:t>Math library</a:t>
            </a:r>
          </a:p>
          <a:p>
            <a:pPr lvl="1"/>
            <a:r>
              <a:rPr lang="en-US" dirty="0"/>
              <a:t>Dynamic Linker</a:t>
            </a:r>
          </a:p>
          <a:p>
            <a:r>
              <a:rPr lang="en-US" dirty="0"/>
              <a:t>Hardware Layer</a:t>
            </a:r>
          </a:p>
          <a:p>
            <a:pPr lvl="1"/>
            <a:r>
              <a:rPr lang="en-US" dirty="0"/>
              <a:t>The lowest level of operating system track.</a:t>
            </a:r>
          </a:p>
          <a:p>
            <a:pPr lvl="1"/>
            <a:r>
              <a:rPr lang="en-US" dirty="0"/>
              <a:t>Device drivers, memory management, CPU control, I/O operations.</a:t>
            </a:r>
          </a:p>
          <a:p>
            <a:r>
              <a:rPr lang="en-US" dirty="0"/>
              <a:t>System utility</a:t>
            </a:r>
          </a:p>
          <a:p>
            <a:pPr lvl="1"/>
            <a:r>
              <a:rPr lang="en-US" dirty="0"/>
              <a:t>The command line tools that preforms various tasks provided by user.</a:t>
            </a:r>
          </a:p>
          <a:p>
            <a:pPr lvl="1"/>
            <a:r>
              <a:rPr lang="en-US" dirty="0"/>
              <a:t>To make system management and administration better.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971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A5753-E924-B3D9-5977-F61B9C1D7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File system / structure</a:t>
            </a:r>
          </a:p>
        </p:txBody>
      </p:sp>
      <p:pic>
        <p:nvPicPr>
          <p:cNvPr id="5" name="Content Placeholder 4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313CAF22-E795-BA72-8621-39A165301F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952" y="1825625"/>
            <a:ext cx="7672095" cy="4351338"/>
          </a:xfrm>
        </p:spPr>
      </p:pic>
    </p:spTree>
    <p:extLst>
      <p:ext uri="{BB962C8B-B14F-4D97-AF65-F5344CB8AC3E}">
        <p14:creationId xmlns:p14="http://schemas.microsoft.com/office/powerpoint/2010/main" val="804833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7672D-5F4C-5171-1466-9A0B6F951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Multiple user &amp; permissions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50698-7D52-EFCC-F16E-F86CD2065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OS allows multiple user exists on the same device.</a:t>
            </a:r>
          </a:p>
          <a:p>
            <a:r>
              <a:rPr lang="en-US" dirty="0"/>
              <a:t>Users can be divided into:</a:t>
            </a:r>
          </a:p>
          <a:p>
            <a:pPr lvl="1"/>
            <a:r>
              <a:rPr lang="en-US" dirty="0"/>
              <a:t>Regular users</a:t>
            </a:r>
          </a:p>
          <a:p>
            <a:pPr lvl="1"/>
            <a:r>
              <a:rPr lang="en-US" dirty="0"/>
              <a:t>Root user (Superuser)</a:t>
            </a:r>
          </a:p>
          <a:p>
            <a:pPr lvl="1"/>
            <a:r>
              <a:rPr lang="en-US" dirty="0"/>
              <a:t>User groups (groups of users)</a:t>
            </a:r>
          </a:p>
          <a:p>
            <a:pPr lvl="1"/>
            <a:endParaRPr lang="en-US" dirty="0"/>
          </a:p>
          <a:p>
            <a:r>
              <a:rPr lang="en-US" dirty="0"/>
              <a:t>Why?</a:t>
            </a:r>
          </a:p>
          <a:p>
            <a:pPr lvl="1"/>
            <a:r>
              <a:rPr lang="en-US" dirty="0"/>
              <a:t>For cooperation</a:t>
            </a:r>
          </a:p>
          <a:p>
            <a:pPr lvl="1"/>
            <a:r>
              <a:rPr lang="en-US" dirty="0"/>
              <a:t>For security</a:t>
            </a:r>
          </a:p>
        </p:txBody>
      </p:sp>
    </p:spTree>
    <p:extLst>
      <p:ext uri="{BB962C8B-B14F-4D97-AF65-F5344CB8AC3E}">
        <p14:creationId xmlns:p14="http://schemas.microsoft.com/office/powerpoint/2010/main" val="396599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FA5F9-85BB-A309-91B5-7BFD9BC7D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Permission of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794B0-CA5A-F6AC-DCBF-42A5B3E49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Owner</a:t>
            </a:r>
          </a:p>
          <a:p>
            <a:r>
              <a:rPr lang="en-US" dirty="0"/>
              <a:t>Owner group</a:t>
            </a:r>
          </a:p>
          <a:p>
            <a:r>
              <a:rPr lang="en-US" dirty="0"/>
              <a:t>Others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d-rwx-rwx-rwx</a:t>
            </a:r>
          </a:p>
          <a:p>
            <a:r>
              <a:rPr lang="en-US" dirty="0"/>
              <a:t>Read - R</a:t>
            </a:r>
          </a:p>
          <a:p>
            <a:r>
              <a:rPr lang="en-US" dirty="0"/>
              <a:t>Write - W</a:t>
            </a:r>
          </a:p>
          <a:p>
            <a:r>
              <a:rPr lang="en-US" dirty="0"/>
              <a:t>Execute – X</a:t>
            </a:r>
          </a:p>
        </p:txBody>
      </p:sp>
    </p:spTree>
    <p:extLst>
      <p:ext uri="{BB962C8B-B14F-4D97-AF65-F5344CB8AC3E}">
        <p14:creationId xmlns:p14="http://schemas.microsoft.com/office/powerpoint/2010/main" val="457249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0A1ED06-4733-4020-9C60-81D4D8014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CA3509-3AF9-45FE-93ED-57BB5D5E8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9E11DD-E609-96E5-9B12-8B3FFCEB73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95"/>
          <a:stretch>
            <a:fillRect/>
          </a:stretch>
        </p:blipFill>
        <p:spPr>
          <a:xfrm>
            <a:off x="180975" y="182880"/>
            <a:ext cx="11823637" cy="64997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113E44-4252-474F-2B29-9AD08BD2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1773"/>
            <a:ext cx="10165218" cy="1027444"/>
          </a:xfrm>
        </p:spPr>
        <p:txBody>
          <a:bodyPr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  About Linux OS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BFE55-20C7-FDBA-7393-E8342E179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4693"/>
            <a:ext cx="10165218" cy="447006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Directly set Linux as your OS.	-- Not recommended</a:t>
            </a:r>
          </a:p>
          <a:p>
            <a:r>
              <a:rPr lang="en-US" sz="2000" dirty="0">
                <a:solidFill>
                  <a:srgbClr val="FFFFFF"/>
                </a:solidFill>
              </a:rPr>
              <a:t>Using virtual machine</a:t>
            </a:r>
          </a:p>
          <a:p>
            <a:endParaRPr lang="en-US" sz="2000" dirty="0">
              <a:solidFill>
                <a:srgbClr val="FFFFFF"/>
              </a:solidFill>
            </a:endParaRPr>
          </a:p>
          <a:p>
            <a:r>
              <a:rPr lang="en-US" sz="2000" dirty="0">
                <a:solidFill>
                  <a:srgbClr val="FFFFFF"/>
                </a:solidFill>
              </a:rPr>
              <a:t>For windows, WSL is a</a:t>
            </a:r>
            <a:r>
              <a:rPr lang="en-US" altLang="zh-CN" sz="2000" dirty="0">
                <a:solidFill>
                  <a:srgbClr val="FFFFFF"/>
                </a:solidFill>
              </a:rPr>
              <a:t>lso a</a:t>
            </a:r>
            <a:r>
              <a:rPr lang="en-US" sz="2000" dirty="0">
                <a:solidFill>
                  <a:srgbClr val="FFFFFF"/>
                </a:solidFill>
              </a:rPr>
              <a:t> good choice (Windows Subsystem for Linux.)</a:t>
            </a:r>
          </a:p>
          <a:p>
            <a:endParaRPr lang="en-US" sz="2000" dirty="0">
              <a:solidFill>
                <a:srgbClr val="FFFFFF"/>
              </a:solidFill>
            </a:endParaRPr>
          </a:p>
          <a:p>
            <a:r>
              <a:rPr lang="en-US" sz="2000" dirty="0">
                <a:solidFill>
                  <a:srgbClr val="FFFFFF"/>
                </a:solidFill>
              </a:rPr>
              <a:t>For study only, connect to school’s server (csubuntu) or use some online simulation project.</a:t>
            </a:r>
          </a:p>
          <a:p>
            <a:endParaRPr lang="en-US" sz="2000" dirty="0">
              <a:solidFill>
                <a:srgbClr val="FFFFFF"/>
              </a:solidFill>
            </a:endParaRPr>
          </a:p>
          <a:p>
            <a:r>
              <a:rPr lang="en-US" sz="2000" dirty="0">
                <a:solidFill>
                  <a:srgbClr val="FFFFFF"/>
                </a:solidFill>
              </a:rPr>
              <a:t>Version selection: Ubuntu LTS / latest ver.</a:t>
            </a:r>
          </a:p>
        </p:txBody>
      </p:sp>
    </p:spTree>
    <p:extLst>
      <p:ext uri="{BB962C8B-B14F-4D97-AF65-F5344CB8AC3E}">
        <p14:creationId xmlns:p14="http://schemas.microsoft.com/office/powerpoint/2010/main" val="3199560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D8FF5-53D8-7B9C-CCE5-3AA6FEB59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Software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FA3FD-0B12-BB49-D38F-9E445DE77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windows, people search for the .exe file</a:t>
            </a:r>
          </a:p>
          <a:p>
            <a:r>
              <a:rPr lang="en-US" dirty="0"/>
              <a:t>This will cause the problem of dependency.</a:t>
            </a:r>
          </a:p>
          <a:p>
            <a:pPr lvl="1"/>
            <a:r>
              <a:rPr lang="en-US" dirty="0"/>
              <a:t>E.g. Video games -&gt; DirectX;	Java apps -&gt; JDK</a:t>
            </a:r>
          </a:p>
          <a:p>
            <a:endParaRPr lang="en-US" dirty="0"/>
          </a:p>
          <a:p>
            <a:r>
              <a:rPr lang="en-US" dirty="0"/>
              <a:t>Linux provides a powerful tool called Package Managers.</a:t>
            </a:r>
          </a:p>
          <a:p>
            <a:pPr lvl="1"/>
            <a:r>
              <a:rPr lang="en-US" dirty="0"/>
              <a:t>The dependency will be automatically fetched and installed</a:t>
            </a:r>
          </a:p>
          <a:p>
            <a:pPr lvl="1"/>
            <a:r>
              <a:rPr lang="en-US" dirty="0"/>
              <a:t>Just like what the ‘pip’ or ‘conda’ did.</a:t>
            </a:r>
          </a:p>
          <a:p>
            <a:pPr lvl="1"/>
            <a:r>
              <a:rPr lang="en-US" dirty="0"/>
              <a:t>pip install torch / conda create –n name python = 3.10</a:t>
            </a:r>
          </a:p>
          <a:p>
            <a:r>
              <a:rPr lang="en-US" dirty="0"/>
              <a:t>A CLI tools on installing, updating or removing.</a:t>
            </a:r>
          </a:p>
        </p:txBody>
      </p:sp>
    </p:spTree>
    <p:extLst>
      <p:ext uri="{BB962C8B-B14F-4D97-AF65-F5344CB8AC3E}">
        <p14:creationId xmlns:p14="http://schemas.microsoft.com/office/powerpoint/2010/main" val="1920893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9B637-24C0-8516-DBE7-CDCD3A82E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and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997A3-D4FF-9859-1236-306CCC490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Package</a:t>
            </a:r>
          </a:p>
          <a:p>
            <a:pPr lvl="1"/>
            <a:r>
              <a:rPr lang="en-US" dirty="0"/>
              <a:t>The compiled software program</a:t>
            </a:r>
          </a:p>
          <a:p>
            <a:pPr lvl="1"/>
            <a:r>
              <a:rPr lang="en-US" dirty="0"/>
              <a:t>Metadata (name, version, description)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A list of its dependencies</a:t>
            </a:r>
          </a:p>
          <a:p>
            <a:pPr lvl="1"/>
            <a:r>
              <a:rPr lang="en-US" dirty="0"/>
              <a:t>Installation scripts</a:t>
            </a:r>
          </a:p>
          <a:p>
            <a:r>
              <a:rPr lang="en-US" dirty="0"/>
              <a:t>Package manager</a:t>
            </a:r>
          </a:p>
          <a:p>
            <a:pPr lvl="1"/>
            <a:r>
              <a:rPr lang="en-US" dirty="0"/>
              <a:t>It is an app so it’s not in the kernel.</a:t>
            </a:r>
          </a:p>
          <a:p>
            <a:pPr lvl="1"/>
            <a:r>
              <a:rPr lang="en-US" dirty="0"/>
              <a:t>For Debian / Ubuntu, it is consists of DPKG &amp; apt.</a:t>
            </a:r>
          </a:p>
          <a:p>
            <a:pPr lvl="1"/>
            <a:r>
              <a:rPr lang="en-US" dirty="0"/>
              <a:t>The usage of apt will be shown later at the CLI part.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073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015A-B30E-F6A2-3E7E-9FC13A732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terminal / CLI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85203-A3D0-C464-7EB1-D4513BE4F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GUI vs. CLI</a:t>
            </a:r>
          </a:p>
          <a:p>
            <a:pPr lvl="1"/>
            <a:r>
              <a:rPr lang="en-US" dirty="0"/>
              <a:t>Windows, Icons, Menus, Pointer (WIMP) vs. text-based comments</a:t>
            </a:r>
          </a:p>
          <a:p>
            <a:pPr lvl="1"/>
            <a:r>
              <a:rPr lang="en-US" dirty="0"/>
              <a:t>Friendly to users vs. extremely fast processing &amp; less resource occupy.</a:t>
            </a:r>
          </a:p>
          <a:p>
            <a:endParaRPr lang="en-US" dirty="0"/>
          </a:p>
          <a:p>
            <a:r>
              <a:rPr lang="en-US" dirty="0"/>
              <a:t>Although common OS provides GUI, CLI is preserved for its pros.</a:t>
            </a:r>
          </a:p>
          <a:p>
            <a:pPr lvl="1"/>
            <a:r>
              <a:rPr lang="en-US" dirty="0"/>
              <a:t>Windows: Search for CMD / PowerShell / Terminal</a:t>
            </a:r>
          </a:p>
          <a:p>
            <a:pPr lvl="1"/>
            <a:r>
              <a:rPr lang="en-US" dirty="0"/>
              <a:t>MacOS / Linux: Terminal</a:t>
            </a:r>
          </a:p>
          <a:p>
            <a:pPr lvl="1"/>
            <a:endParaRPr lang="en-US" dirty="0"/>
          </a:p>
          <a:p>
            <a:r>
              <a:rPr lang="en-US" dirty="0"/>
              <a:t>Now try to open the Terminal on your Linux.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5925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0502-3E3C-C89C-B1D3-B3A80C6E6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Terminal Use 1: Directory related </a:t>
            </a:r>
            <a:r>
              <a:rPr lang="en-US" dirty="0" err="1"/>
              <a:t>cmd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D4768-2B33-EF46-0384-49D40BF26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cd</a:t>
            </a:r>
          </a:p>
          <a:p>
            <a:r>
              <a:rPr lang="en-US" dirty="0"/>
              <a:t>ls</a:t>
            </a:r>
          </a:p>
          <a:p>
            <a:r>
              <a:rPr lang="en-US" dirty="0" err="1"/>
              <a:t>mkdir</a:t>
            </a:r>
            <a:endParaRPr lang="en-US" dirty="0"/>
          </a:p>
          <a:p>
            <a:r>
              <a:rPr lang="en-US" dirty="0" err="1"/>
              <a:t>pwd</a:t>
            </a:r>
            <a:endParaRPr lang="en-US" dirty="0"/>
          </a:p>
          <a:p>
            <a:r>
              <a:rPr lang="en-US" dirty="0"/>
              <a:t>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801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7DCC3-E6C0-284E-4211-E29C5FF81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Terminal Use: format and advice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A8F35-38DF-446E-D723-BC0711633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All the commands keep a format like this:</a:t>
            </a:r>
          </a:p>
          <a:p>
            <a:r>
              <a:rPr lang="en-US" dirty="0"/>
              <a:t>command [options] [arguments]</a:t>
            </a:r>
          </a:p>
          <a:p>
            <a:pPr lvl="1"/>
            <a:r>
              <a:rPr lang="en-US" dirty="0"/>
              <a:t>command –h, --help</a:t>
            </a:r>
          </a:p>
          <a:p>
            <a:pPr lvl="1"/>
            <a:r>
              <a:rPr lang="en-US" dirty="0"/>
              <a:t>rm –d --directory.</a:t>
            </a:r>
          </a:p>
          <a:p>
            <a:pPr lvl="1"/>
            <a:r>
              <a:rPr lang="en-US" dirty="0"/>
              <a:t>cd ~</a:t>
            </a:r>
          </a:p>
          <a:p>
            <a:r>
              <a:rPr lang="en-US" dirty="0"/>
              <a:t>Quick operations:</a:t>
            </a:r>
          </a:p>
          <a:p>
            <a:pPr lvl="1"/>
            <a:r>
              <a:rPr lang="en-US" dirty="0"/>
              <a:t>Tab – auto implement</a:t>
            </a:r>
          </a:p>
          <a:p>
            <a:pPr lvl="1"/>
            <a:r>
              <a:rPr lang="en-US" dirty="0"/>
              <a:t>Up/down – previous / next command</a:t>
            </a:r>
          </a:p>
          <a:p>
            <a:pPr lvl="1"/>
            <a:r>
              <a:rPr lang="en-US" dirty="0"/>
              <a:t>ctrl + c – Force end command / program</a:t>
            </a:r>
          </a:p>
          <a:p>
            <a:r>
              <a:rPr lang="en-US" dirty="0"/>
              <a:t>No need to memorize all; but learn the rules and search for wiki.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900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7FCA6-EE26-859C-E409-58EB55CF4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Terminal Use 2: File and other common </a:t>
            </a:r>
            <a:r>
              <a:rPr lang="en-US" dirty="0" err="1"/>
              <a:t>cmd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4CDAF-6618-0ED1-8EF2-D05B7CDD2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clear</a:t>
            </a:r>
          </a:p>
          <a:p>
            <a:r>
              <a:rPr lang="en-US" dirty="0"/>
              <a:t>./file</a:t>
            </a:r>
          </a:p>
          <a:p>
            <a:r>
              <a:rPr lang="en-US" dirty="0"/>
              <a:t>cat</a:t>
            </a:r>
          </a:p>
          <a:p>
            <a:r>
              <a:rPr lang="en-US" dirty="0"/>
              <a:t>touch</a:t>
            </a:r>
          </a:p>
          <a:p>
            <a:r>
              <a:rPr lang="en-US" dirty="0"/>
              <a:t>mv</a:t>
            </a:r>
          </a:p>
          <a:p>
            <a:r>
              <a:rPr lang="en-US" dirty="0"/>
              <a:t>cp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312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04B44-D4C2-6D3B-8664-65744DA6E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Terminal Use 3: Permission related </a:t>
            </a:r>
            <a:r>
              <a:rPr lang="en-US" dirty="0" err="1"/>
              <a:t>cmd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1BCC0-8443-A69B-9D78-92442951F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sudo</a:t>
            </a:r>
            <a:endParaRPr lang="en-US" dirty="0"/>
          </a:p>
          <a:p>
            <a:pPr lvl="1"/>
            <a:r>
              <a:rPr lang="en-US" dirty="0"/>
              <a:t>Use this for every </a:t>
            </a:r>
            <a:r>
              <a:rPr lang="en-US" dirty="0" err="1"/>
              <a:t>cmd</a:t>
            </a:r>
            <a:r>
              <a:rPr lang="en-US" dirty="0"/>
              <a:t> that requires super / root user permissions.</a:t>
            </a:r>
          </a:p>
          <a:p>
            <a:endParaRPr lang="en-US" dirty="0"/>
          </a:p>
          <a:p>
            <a:r>
              <a:rPr lang="en-US" dirty="0"/>
              <a:t>Any op that may damage the system security / violence policy.</a:t>
            </a:r>
          </a:p>
          <a:p>
            <a:pPr lvl="1"/>
            <a:r>
              <a:rPr lang="en-US" dirty="0"/>
              <a:t>cd to other user’s directory</a:t>
            </a:r>
          </a:p>
          <a:p>
            <a:pPr lvl="1"/>
            <a:r>
              <a:rPr lang="en-US" dirty="0"/>
              <a:t>Install apps (because app is installed for all users)</a:t>
            </a:r>
          </a:p>
          <a:p>
            <a:pPr lvl="1"/>
            <a:r>
              <a:rPr lang="en-US" dirty="0"/>
              <a:t>Operation with user management</a:t>
            </a:r>
          </a:p>
          <a:p>
            <a:pPr lvl="1"/>
            <a:endParaRPr lang="en-US" dirty="0"/>
          </a:p>
          <a:p>
            <a:r>
              <a:rPr lang="en-US" dirty="0" err="1"/>
              <a:t>useradd</a:t>
            </a:r>
            <a:r>
              <a:rPr lang="en-US" dirty="0"/>
              <a:t> -&gt;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useradd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6261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98FE1-4787-20C6-F3F5-21B091EA2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Terminal Use 4: File permission </a:t>
            </a:r>
            <a:r>
              <a:rPr lang="en-US" dirty="0" err="1"/>
              <a:t>cmd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74667-AE94-FCDA-D8D3-88B449A3B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chmod</a:t>
            </a:r>
            <a:r>
              <a:rPr lang="en-US" dirty="0"/>
              <a:t> [</a:t>
            </a:r>
            <a:r>
              <a:rPr lang="en-US" dirty="0" err="1"/>
              <a:t>ugoa</a:t>
            </a:r>
            <a:r>
              <a:rPr lang="en-US" dirty="0"/>
              <a:t>][+-=][target]</a:t>
            </a:r>
          </a:p>
          <a:p>
            <a:endParaRPr lang="en-US" dirty="0"/>
          </a:p>
          <a:p>
            <a:r>
              <a:rPr lang="en-US" dirty="0"/>
              <a:t>Others share a file with you. But you cannot execute it.</a:t>
            </a:r>
          </a:p>
          <a:p>
            <a:endParaRPr lang="en-US" dirty="0"/>
          </a:p>
          <a:p>
            <a:r>
              <a:rPr lang="en-US" dirty="0" err="1"/>
              <a:t>chmod</a:t>
            </a:r>
            <a:r>
              <a:rPr lang="en-US" dirty="0"/>
              <a:t> </a:t>
            </a:r>
            <a:r>
              <a:rPr lang="en-US" dirty="0" err="1"/>
              <a:t>u+x</a:t>
            </a:r>
            <a:r>
              <a:rPr lang="en-US" dirty="0"/>
              <a:t> filename</a:t>
            </a:r>
          </a:p>
          <a:p>
            <a:endParaRPr lang="en-US" dirty="0"/>
          </a:p>
          <a:p>
            <a:r>
              <a:rPr lang="en-US" dirty="0" err="1"/>
              <a:t>chmod</a:t>
            </a:r>
            <a:r>
              <a:rPr lang="en-US" dirty="0"/>
              <a:t> a-w filename</a:t>
            </a:r>
          </a:p>
        </p:txBody>
      </p:sp>
    </p:spTree>
    <p:extLst>
      <p:ext uri="{BB962C8B-B14F-4D97-AF65-F5344CB8AC3E}">
        <p14:creationId xmlns:p14="http://schemas.microsoft.com/office/powerpoint/2010/main" val="1362995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E77C0-070A-B397-61EF-30B74B5EA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Terminal Use 5: Installation </a:t>
            </a:r>
            <a:r>
              <a:rPr lang="en-US" dirty="0" err="1"/>
              <a:t>cmd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F95F9-78CA-EB6A-9007-2B936C21A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 that using official package manager: DPKG &amp; apt requires </a:t>
            </a:r>
            <a:r>
              <a:rPr lang="en-US" dirty="0" err="1"/>
              <a:t>sudo</a:t>
            </a:r>
            <a:endParaRPr lang="en-US" dirty="0"/>
          </a:p>
          <a:p>
            <a:pPr lvl="1"/>
            <a:r>
              <a:rPr lang="en-US" dirty="0"/>
              <a:t>apt install &lt;package_name1&gt; &lt;package_name2&gt;</a:t>
            </a:r>
          </a:p>
          <a:p>
            <a:pPr lvl="1"/>
            <a:r>
              <a:rPr lang="en-US" dirty="0"/>
              <a:t>apt update &lt;</a:t>
            </a:r>
            <a:r>
              <a:rPr lang="en-US" dirty="0" err="1"/>
              <a:t>package_name</a:t>
            </a:r>
            <a:r>
              <a:rPr lang="en-US" dirty="0"/>
              <a:t>&gt;</a:t>
            </a:r>
          </a:p>
          <a:p>
            <a:pPr lvl="1"/>
            <a:r>
              <a:rPr lang="en-US" dirty="0"/>
              <a:t>apt remove &lt;</a:t>
            </a:r>
            <a:r>
              <a:rPr lang="en-US" dirty="0" err="1"/>
              <a:t>package_name</a:t>
            </a:r>
            <a:r>
              <a:rPr lang="en-US" dirty="0"/>
              <a:t>&gt;</a:t>
            </a:r>
          </a:p>
          <a:p>
            <a:pPr lvl="1"/>
            <a:r>
              <a:rPr lang="en-US" dirty="0"/>
              <a:t>apt search &lt;keyword&gt;</a:t>
            </a:r>
          </a:p>
          <a:p>
            <a:pPr lvl="1"/>
            <a:r>
              <a:rPr lang="en-US" dirty="0"/>
              <a:t>apt list –installed</a:t>
            </a:r>
          </a:p>
          <a:p>
            <a:endParaRPr lang="en-US" dirty="0"/>
          </a:p>
          <a:p>
            <a:r>
              <a:rPr lang="en-US" dirty="0"/>
              <a:t>brew as a third-party package manager tool </a:t>
            </a:r>
          </a:p>
          <a:p>
            <a:pPr lvl="1"/>
            <a:r>
              <a:rPr lang="en-US" dirty="0"/>
              <a:t>brew install &lt;</a:t>
            </a:r>
            <a:r>
              <a:rPr lang="en-US" dirty="0" err="1"/>
              <a:t>package_name</a:t>
            </a:r>
            <a:r>
              <a:rPr lang="en-US" dirty="0"/>
              <a:t>&gt;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1644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9B903-303D-8740-9F8A-9D7EF9F492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Thanks for listening.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1C1EB6-E968-C640-3938-2550CD69DA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1643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39A63-DEF9-E20A-06C8-39E0555E2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27A-B462-FBE2-3356-E0B609CBC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https://www.geeksforgeeks.org/linux-unix/architecture-of-linux-operating-system/</a:t>
            </a:r>
            <a:endParaRPr lang="en-US" dirty="0"/>
          </a:p>
          <a:p>
            <a:r>
              <a:rPr lang="en-US" dirty="0">
                <a:hlinkClick r:id="rId3"/>
              </a:rPr>
              <a:t>https://tecadmin.net/filesystem-hierarchy-structure-in-linux/</a:t>
            </a:r>
            <a:endParaRPr lang="en-US" dirty="0"/>
          </a:p>
          <a:p>
            <a:r>
              <a:rPr lang="en-US" dirty="0">
                <a:hlinkClick r:id="rId4"/>
              </a:rPr>
              <a:t>https://www.geeksforgeeks.org/linux-unix/linux-file-system/</a:t>
            </a:r>
            <a:endParaRPr lang="en-US" dirty="0"/>
          </a:p>
          <a:p>
            <a:r>
              <a:rPr lang="en-US" dirty="0">
                <a:hlinkClick r:id="rId5"/>
              </a:rPr>
              <a:t>https://ubuntu.com/</a:t>
            </a:r>
            <a:endParaRPr lang="en-US" dirty="0"/>
          </a:p>
          <a:p>
            <a:r>
              <a:rPr lang="en-US" dirty="0">
                <a:hlinkClick r:id="rId6"/>
              </a:rPr>
              <a:t>https://labex.io/learn/linux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756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Calibri"/>
        <a:ea typeface="Yu Gothic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1437</Words>
  <Application>Microsoft Macintosh PowerPoint</Application>
  <PresentationFormat>宽屏</PresentationFormat>
  <Paragraphs>237</Paragraphs>
  <Slides>29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3" baseType="lpstr">
      <vt:lpstr>Aptos</vt:lpstr>
      <vt:lpstr>Arial</vt:lpstr>
      <vt:lpstr>Calibri</vt:lpstr>
      <vt:lpstr>Office Theme</vt:lpstr>
      <vt:lpstr>Linux basic</vt:lpstr>
      <vt:lpstr>Outline</vt:lpstr>
      <vt:lpstr>Who is recommend to learn Linux?</vt:lpstr>
      <vt:lpstr>Value and application of Linux</vt:lpstr>
      <vt:lpstr>Founder and History</vt:lpstr>
      <vt:lpstr>OS (Operating System)</vt:lpstr>
      <vt:lpstr>OS (Operating System)</vt:lpstr>
      <vt:lpstr>Linux System Architecture</vt:lpstr>
      <vt:lpstr>1. Linux Version</vt:lpstr>
      <vt:lpstr>2. Linux OS System Components</vt:lpstr>
      <vt:lpstr>2.1 Kernel</vt:lpstr>
      <vt:lpstr>Kernel is responsible for:</vt:lpstr>
      <vt:lpstr>2.2 Shell</vt:lpstr>
      <vt:lpstr>2.x Others</vt:lpstr>
      <vt:lpstr>3. File system / structure</vt:lpstr>
      <vt:lpstr>4. Multiple user &amp; permissions</vt:lpstr>
      <vt:lpstr>Permission of files</vt:lpstr>
      <vt:lpstr>  About Linux OS installation</vt:lpstr>
      <vt:lpstr>Linux Software Installation</vt:lpstr>
      <vt:lpstr>Package and Manager</vt:lpstr>
      <vt:lpstr>Basic terminal / CLI use</vt:lpstr>
      <vt:lpstr>Terminal Use 1: Directory related cmd</vt:lpstr>
      <vt:lpstr>Terminal Use: format and advice</vt:lpstr>
      <vt:lpstr>Terminal Use 2: File and other common cmd</vt:lpstr>
      <vt:lpstr>Terminal Use 3: Permission related cmd</vt:lpstr>
      <vt:lpstr>Terminal Use 4: File permission cmd</vt:lpstr>
      <vt:lpstr>Terminal Use 5: Installation cmd</vt:lpstr>
      <vt:lpstr>Thanks for listening.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Hongxi Lv</dc:creator>
  <cp:lastModifiedBy>Baicen LIU (20617384)</cp:lastModifiedBy>
  <cp:revision>43</cp:revision>
  <dcterms:created xsi:type="dcterms:W3CDTF">2025-11-27T02:58:00Z</dcterms:created>
  <dcterms:modified xsi:type="dcterms:W3CDTF">2025-11-28T05:31:31Z</dcterms:modified>
</cp:coreProperties>
</file>