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大家好，欢迎参加本次分享。今天我们将用大约50分钟的时间，一起梳理电脑从按下电源到进入桌面的完整链路。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我们会聊到硬盘、BIOS、PE工具和系统镜像这些核心概念，并学习如何用一套逻辑来定位和解决常见的启动故障。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这次分享的目标是让大家都能听懂，并且能带走实用的技能。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是我们今天分享的整体框架。我们将从一个宏观的开机链路地图开始，然后逐层深入到硬盘、分区、BIOS、PE工具和系统镜像这些具体环节。最后，我们会总结出一套实用的故障排查方法。希望通过这个结构，能让大家对电脑启动有一个清晰、系统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好，让我们进入第一部分：开机链路总地图。在深入细节之前，我们先从宏观上理解一下，当我们按下电源键后，电脑内部都发生了些什么。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听完今天的分享，希望大家能带走三个核心能力：第一，能根据自己的需求，选对硬件和软件格式；第二，当电脑出问题时，能大致判断问题出在哪一层；第三，知道PE这个急救工具该怎么用，以及使用的先后顺序。这三个能力将帮助大家解决大部分常见的电脑启动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接下来，我们进入第二部分，聊聊电脑的“仓库”——硬盘。了解硬盘的基础知识，是做出正确选择的前提。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看市面上主流的四种存储设备。从左到右分别是机械硬盘、SATA固态硬盘、NVMe固态硬盘和U盘。它们各自有不同的特点和适用场景。下面的表格简单对比了它们的核心参数。下一页我们会对这个对比进行更详细的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这一页我们对四种存储设备进行详细的对比。大家可以看到，从接口协议、速度到用途，它们都有明显的区别。简单来说，HDD适合存大量数据，SATA SSD是性价比之选，NVMe SSD追求极致性能，而U盘则主打便携性。选择哪种，完全取决于您的具体需求。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硬盘参数时，我们不需要记住所有专业术语。只需要理解几个核心指标和我们日常使用的“体感”对应关系。顺序读写速度，决定了你拷贝大文件有多快。而随机读写和延迟，直接影响你开机、开软件的快慢。至于TBW，你可以把它理解为SSD的“总写入寿命”，数值越大，理论上越耐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这里要特别提醒一个常见的坑：M.2接口不等于速度快。M.2只是一种硬盘的外形，它内部走的通道才是关键。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有些M.2硬盘走的是传统的SATA通道，速度和普通的2.5寸SSD差不多。只有走PCIe通道并支持NVMe协议的M.2硬盘，才是真正的高速硬盘。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所以购买时一定要看清协议，不要被外形迷惑。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常见问题是，为什么新买的硬盘，实际容量总比标称的小？这并不是厂商偷工减料，而是因为计算单位不同。厂商为了方便，用的是十进制，1TB等于1000GB。而电脑系统内部用的是二进制，1TiB等于1024GiB。经过换算，1TB的硬盘在系统里显示约931GB是完全正常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简单总结一下硬盘的选择策略：存资料，选HDD；旧电脑升级，选SATA SSD；新电脑追求极致性能，选NVMe SSD。根据自己的需求和预算，做出最合适的选择。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我们来做个小互动。大家觉得，日常使用中电脑卡顿，最可能是哪个指标不行了？是拷贝文件的速度，还是开机开软件的速度？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答案是B，随机读写和延迟。这也是为什么升级SSD是提升老电脑体验最有效的方法。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好的，了解了硬盘这个“仓库”，我们接下来看看如何划分这个仓库，也就是第三部分：分区与文件系统。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分区，就像是把一个大仓库分成几个小隔间，比如一个隔间放系统，一个隔间放数据。而分区表，就是记录这些隔间位置和大小的目录。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主要有两种分区表：MBR是老标准，有很多限制，比如最大只支持2TB硬盘；GPT是新标准，支持大容量硬盘，分区数量也几乎没有限制，更加稳定。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所以，现在我们在给新平台装机时，都推荐大家优先使用GPT分区表。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文件系统，可以理解为给隔间里的货物贴标签、方便查找的规则。在Windows系统中，系统盘首选NTFS，因为它功能最全，最稳定。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如果你需要一个能在Windows和Mac之间通用的U盘，那么exFAT是最佳选择，它既兼容两个系统，又没有单个文件4GB的限制。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对于其他操作系统，选择也很明确。Linux服务器上，ext4是绝对的主流，稳定可靠。而在苹果的Mac电脑上，推荐使用苹果自家的APFS文件系统，它对固态硬盘做了特别优化，能更好地发挥硬件性能。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在新的GPT分区表下，硬盘里通常会有几个核心分区。ESP分区是存放启动文件的专用抽屉，非常重要。C盘就是我们日常使用的系统盘。还有一个恢复分区，相当于系统的急救箱，当系统出问题时可以用它来恢复。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关于分区和文件系统，总结三点：新电脑用GPT分区表；系统盘根据你的操作系统选择对应的文件系统；需要在不同电脑间传文件的U盘，格式化时选择exFAT。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现在我们来到第四部分，聊聊电脑启动的“第一道关卡”——BIOS/UEFI。理解它，是解决启动问题的关键。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IOS和UEFI都是电脑启动时最先运行的程序，相当于大楼的门卫。BIOS是老门卫，朴实简单。UEFI是新的智能门禁，功能强大，界面友好。最关键的一点是，它们必须和分区表匹配才能工作：UEFI对应GPT，BIOS对应MBR。这就像钥匙和锁，必须配对才能打开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的电脑一开机就直接进入BIOS或UEFI设置界面，无法进入系统，可以按这三步来排查。首先，检查硬件，看看BIOS里是否能识别到硬盘。其次，检查引导项，看看系统盘是否在启动列表里，并且顺序正确。最后，检查匹配关系，确认启动模式和分区表是否对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在BIOS/UEFI界面里，我们经常会看到这些关键词。POST就是开机自检。Boot Order是设置启动顺序。Secure Boot是安全启动，建议开启。CSM是兼容模式，如果你需要安装一些特别老的系统，可能需要开启它。了解这些词的含义，能帮助我们更好地设置BIOS。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当系统彻底崩溃，连BIOS都解决不了问题时，我们就需要一个强大的急救工具——PE。接下来第五部分，我们就来聊聊通用PE的核心用途。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E，简单来说，就是一个可以从U盘启动的迷你Windows系统。它的核心用途有四个：第一，当系统崩溃时，进去抢救重要数据。第二，修复启动相关的问题。第三，制作系统安装U盘。第四，进行一些离线的硬盘维护操作。它是我们处理电脑故障的瑞士军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PE后，不要慌乱，按照优先级来操作。第一步，用DiskGenius这样的工具确认硬盘是否正常。第二步，也是最重要的一步，立刻把重要数据拷贝出来。第三步，如果决定重装系统，就先把安装U盘做好。最后，才是尝试修复引导。记住，数据永远是第一位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总结一下PE的使用要点：首先，PE不是万能的，它只是一个工具集。其次，进入PE后，永远把抢救数据放在第一位。最后，制作系统安装U盘时，要考虑好它是用于新机器还是旧机器，因为启动模式不同。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我们常说的“装系统”，装的其实就是系统镜像。第六部分，我们来看看不同格式的系统镜像有什么区别，以及如何选择。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系统镜像主要有这几种格式。ISO是最常见的，我们下载的官方系统、制作安装U盘，几乎都是用它。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IMG或RAW格式是对整个磁盘的完整复制，适合做底层备份。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而VHD/VHDX是虚拟硬盘格式，主要用在虚拟机或者Windows系统的一些高级功能里。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根据你的用途选择合适的格式，可以避免很多兼容性问题。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学了这么多知识点，最终要落到实战上。第七部分，我们就来学习一套系统化的故障按层定位法。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电脑无法启动时，我们可以把问题分为四个层次来排查。从最底层的硬件开始，检查硬盘是否被识别。然后是分区层，检查分区表是否完好。接着是引导层，检查启动项和引导文件。最后才是系统层，检查系统文件本身。按照这个顺序，由简到繁，通常能快速定位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分享的所有核心知识点。硬盘选型看场景；新电脑用UEFI加GPT，旧电脑用Legacy加MBR；进PE先救数据；恢复系统镜像后不一定能启动，要检查链路；排错要遵循从硬件到系统的顺序。记住这五点，你就能解决大部分电脑启动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我的分享到此结束，现在是问答环节。大家有任何关于电脑启动的问题，都可以提出来。记住我们今天讲的链路逻辑，很多问题拆解开来，答案就清晰了。谢谢大家！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1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2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12.svg"/><Relationship Id="rId4" Type="http://schemas.openxmlformats.org/officeDocument/2006/relationships/image" Target="../media/image5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12.svg"/><Relationship Id="rId4" Type="http://schemas.openxmlformats.org/officeDocument/2006/relationships/image" Target="../media/image5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2.jpe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5.svg"/><Relationship Id="rId4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核心模块：硬盘 · BIOS/UEFI · PE · 系统镜像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977457" y="2286000"/>
            <a:ext cx="5706543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开机链路与故障排查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0" y="342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0" y="3937000"/>
            <a:ext cx="3556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0" y="4089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演讲者：</a:t>
            </a:r>
            <a:r>
              <a:rPr lang="en-US" sz="1800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Zhirui</a:t>
            </a:r>
            <a:r>
              <a:rPr lang="en-US" sz="18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 Shen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18415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03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184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开场：开机链路总地图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286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了解电脑启动的完整流程，建立“启动流水线”的核心比喻。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92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1115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70000" y="330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311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硬盘与存储基础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86000" y="349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区分机械与固态硬盘特性，学习根据实际使用场景选择硬件。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19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43815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70000" y="457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438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分区与文件系统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86000" y="476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理解硬盘的逻辑划分原理，掌握NTFS等主流文件管理规则。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46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270000" y="56515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70000" y="584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86000" y="565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BIOS / UEFI 启动机制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286000" y="603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掌握电脑启动的“第一道关卡”，理解固件如何引导操作系统。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65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18415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203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184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通用 PE 的核心用途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93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学会使用 PE 这个强大的急救工具箱，解决系统无法启动的问题。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292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7000" y="31115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330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93000" y="311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系统镜像：按目标选格式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349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 ISO、GHO、WIM 等不同镜像文件的用途、区别与适用场景。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419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477000" y="43815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477000" y="457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493000" y="438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故障按层定位法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493000" y="476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建立一套从底层硬件到上层系统的系统化故障排查思路与流程。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223000" y="546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477000" y="56515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477000" y="5842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493000" y="5651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总结与问答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493000" y="603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回顾本章节的核心知识点，并针对大家在实操中遇到的疑问进行解答。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开场：开机链路总地图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BOOT SEQUENCE OVERVIEW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核心一句话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电脑开机，是一整条链路都要正常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电源 → 主板固件（BIOS/UEFI）→ 启动设备 → 引导程序 → 操作系统内核 → 登录桌面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任何一步故障，最终都表现为‘进不去系统’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本次分享，你能带走的3个核心能力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3175000" cy="3556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330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按需求选型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3937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学会根据实际业务与使用场景，精准选择合适的硬盘类型、文件系统协议和系统镜像格式。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905000"/>
            <a:ext cx="3175000" cy="3556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5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889500" y="330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识别故障层级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89500" y="3937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建立系统的故障排查思维，能够快速判断启动故障发生在硬件、分区、引导程序还是系统层面。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905000"/>
            <a:ext cx="3175000" cy="3556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13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330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掌握PE用法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937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透彻理解PE工具的核心急救用途，并清晰掌握进入PE环境后，诊断与修复工作的优先执行顺序。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硬盘与存储基础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STORAGE BASICS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深入了解电脑的「数字仓库」与数据管理核心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为后续的硬件选型与性能优化打下坚实基础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存储选型：4个核心场景与建议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" y="1079500"/>
            <a:ext cx="266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580" r="580"/>
          <a:stretch>
            <a:fillRect/>
          </a:stretch>
        </p:blipFill>
        <p:spPr>
          <a:xfrm>
            <a:off x="381000" y="1206500"/>
            <a:ext cx="2413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81000" y="2921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HDD 机械硬盘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传统存储 · 容量大 · 价格低</a:t>
            </a:r>
          </a:p>
        </p:txBody>
      </p:sp>
      <p:sp>
        <p:nvSpPr>
          <p:cNvPr id="6" name="AutoShape 6"/>
          <p:cNvSpPr/>
          <p:nvPr/>
        </p:nvSpPr>
        <p:spPr>
          <a:xfrm>
            <a:off x="3175000" y="1079500"/>
            <a:ext cx="266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t="15789" b="15789"/>
          <a:stretch>
            <a:fillRect/>
          </a:stretch>
        </p:blipFill>
        <p:spPr>
          <a:xfrm>
            <a:off x="3302000" y="1206500"/>
            <a:ext cx="2413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302000" y="2921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SATA SSD 固态硬盘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入门级固态 · 高性价比 · 低功耗</a:t>
            </a:r>
          </a:p>
        </p:txBody>
      </p:sp>
      <p:sp>
        <p:nvSpPr>
          <p:cNvPr id="9" name="AutoShape 9"/>
          <p:cNvSpPr/>
          <p:nvPr/>
        </p:nvSpPr>
        <p:spPr>
          <a:xfrm>
            <a:off x="6096000" y="1079500"/>
            <a:ext cx="266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 l="5155" r="5155"/>
          <a:stretch>
            <a:fillRect/>
          </a:stretch>
        </p:blipFill>
        <p:spPr>
          <a:xfrm>
            <a:off x="6223000" y="1206500"/>
            <a:ext cx="2413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223000" y="2921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NVMe M.2 SSD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性能旗舰 · 极速读写 · 体积小巧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17000" y="1079500"/>
            <a:ext cx="266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0" y="12065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2500" y="1587500"/>
            <a:ext cx="1016000" cy="1016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2921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U盘 (USB Flash)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极致便携 · 即插即用 · 适合小文件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254000" y="3810000"/>
          <a:ext cx="11430000" cy="2603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HDD 机械硬盘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SATA SSD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NVMe M.2 SSD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 / 协议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SATA 3.0 / AHCI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SATA 3.0 / AHCI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PCIe 3.0/4.0 / NVMe 1.4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USB 3.0 / 3.2 / Type-C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持续读写速度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~150 MB/s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~500 - 550 MB/s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3000 - 7000+ MB/s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~100 - 300 MB/s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核心适用场景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海量资料备份 / 仓库盘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日常办公 / 主流网游 / 系统盘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4K视频剪辑 / 3A大作 / 高速缓存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小文件传输 / 临时携带 / 装机系统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存储设备详细对比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270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413000" y="1270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HDD 机械硬盘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0" y="1270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SATA SSD 固态硬盘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85000" y="1270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NVMe M.2 SSD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271000" y="1270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U盘 (USB Flash)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032000"/>
            <a:ext cx="1778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 / 协议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13000" y="203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SATA 3.0 物理接口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AHCI 传统传输协议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03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SATA 3.0 物理接口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AHCI 传统传输协议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0" y="203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PCIe 3.0/4.0 高速通道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NVMe 1.4 新一代协议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71000" y="203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USB 3.0/3.2 Type-A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USB Mass Storage 协议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302000"/>
            <a:ext cx="1778000" cy="114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持续读写性能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13000" y="330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顺序读取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~</a:t>
            </a:r>
            <a:r>
              <a:rPr lang="en-US" sz="1200" b="1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150 MB/s</a:t>
            </a:r>
            <a:b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随机性能较弱，有延迟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4699000" y="330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顺序读取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~</a:t>
            </a:r>
            <a:r>
              <a:rPr lang="en-US" sz="1200" b="1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500-550 MB/s</a:t>
            </a:r>
            <a:b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4K性能中等，无机械延迟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985000" y="330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顺序读取</a:t>
            </a:r>
            <a:r>
              <a:rPr lang="en-US" sz="12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3000-7000+ MB/s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4K性能极致，毫秒级响应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9271000" y="330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顺序读取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~</a:t>
            </a:r>
            <a:r>
              <a:rPr lang="en-US" sz="1200" b="1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100-300 MB/s</a:t>
            </a:r>
            <a:b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速度受USB接口带宽限制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08000" y="4572000"/>
            <a:ext cx="1778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形态 / 安装方式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413000" y="457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3.5寸/2.5寸 金属/塑料盘体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需连接 数据线 + 电源线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9000" y="457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标准 2.5寸 笔记本硬盘规格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需连接 数据线 + 电源线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457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M.2 长条状 (2280规格为主)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直插主板 M.2 插槽，免走线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4572000"/>
            <a:ext cx="2159000" cy="1143000"/>
          </a:xfrm>
          <a:prstGeom prst="roundRect">
            <a:avLst>
              <a:gd name="adj" fmla="val 4444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超便携 闪存盘/伸缩式设计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即插即用，无需额外供电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" y="5842000"/>
            <a:ext cx="17780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核心适用场景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13000" y="5842000"/>
            <a:ext cx="21590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大容量冷数据存储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备份归档</a:t>
            </a:r>
            <a:endParaRPr lang="en-US" sz="11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仓库盘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4699000" y="5842000"/>
            <a:ext cx="21590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老电脑性能升级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日常办公</a:t>
            </a:r>
            <a:endParaRPr lang="en-US" sz="11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主流网游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6985000" y="5842000"/>
            <a:ext cx="21590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4K高清视频剪辑</a:t>
            </a: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3A大作</a:t>
            </a: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虚拟机开发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9271000" y="5842000"/>
            <a:ext cx="21590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临时文件互传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移动便携存储</a:t>
            </a:r>
            <a:endParaRPr lang="en-US" sz="11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应急使用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存储核心指标：不用背参数，只看“体感对应关系”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1700" y="21590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06500" y="3238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顺序读写 / 吞吐量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95500" y="3873500"/>
            <a:ext cx="1016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4191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对应日常体感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699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拷贝大文件（如高清电影、设计素材）时的传输速度快慢。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159000"/>
            <a:ext cx="863600" cy="863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3238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随机读写 / IOPS / 延迟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3873500"/>
            <a:ext cx="1016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9000" y="4191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对应日常体感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62500" y="4699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电脑开机速度、打开大型软件的响应顺滑度、多任务频繁切换时的流畅度。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6700" y="2159000"/>
            <a:ext cx="863600" cy="863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91500" y="3238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TBW (总写入字节数)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80500" y="3873500"/>
            <a:ext cx="1016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91500" y="4191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对应日常体感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55000" y="4699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硬盘的“耐用性”与“理论寿命”。数值越大，代表SSD能承受的总写入数据量越多，寿命越长。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避坑指南：M.2 ≠ 一定快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很多人认为M.2接口的硬盘就一定快，这是一个常见的误区。要理解速度差异，需拆解四个核心维度：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476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349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存储本体 · 设备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HDD (机械硬盘) / SSD (固态硬盘)，决定了读写的物理基础。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159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76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349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传输道路 · 接口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SATA (窄路) / PCIe (高速路)，是数据在设备间流动的物理通道。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000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3873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交通规则 · 协议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AHCI (通用规则) / NVMe (专为SSD优化的高速规则)，决定传输效率。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3683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000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3873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物理外壳 · 形态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M.2 (长条状) / 2.5寸 (方形)，仅代表硬盘的外观尺寸标准。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10160000" cy="1143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473700"/>
            <a:ext cx="584200" cy="584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032000" y="5397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避坑核心结论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M.2只是一种外形标准，它内部既可以走SATA协议，也可以走更快的NVMe协议。购买时不要被“M.2”的标签迷惑，一定要确认协议类型。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容量“缩水”的真相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新买的1TB硬盘，在系统里显示只有931GB，是被厂商“偷”了吗？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413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41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厂商的计算标准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92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十进制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进行标注，方便生产与统计。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 TB (兆字节) = 1000 GB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13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241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系统的计算标准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92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二进制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进行寻址，是计算机的底层逻辑。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 TiB (吉比特) = 1024 GiB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10160000" cy="1143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70000" y="438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厂商换算 (Bytes)：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1000 × 1000 × 1000 = 10^12 B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42709">
            <a:off x="5715000" y="475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50000" y="438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系统换算 (Bytes)：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1024 × 1024 × 1024 = 1.0737 × 10^12 B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588000"/>
            <a:ext cx="10160000" cy="762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57531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5715000"/>
            <a:ext cx="901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结论：这并非厂商“偷工减料”，而是计量单位标准不同导致的正常现象。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硬盘选型总结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97000" y="2095500"/>
            <a:ext cx="762000" cy="762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500" y="2286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413000" y="2159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HDD 机械盘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13000" y="2667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存资料 · 求容量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8093">
            <a:off x="1397017" y="3295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397000" y="355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核心优势是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成本低廉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且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容量超大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，非常适合用于冷数据归档，存放海量的照片、视频、备份文件等。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889500" y="2095500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2860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05500" y="2159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SATA 固态盘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05500" y="2667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旧机升 · 高性价比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093">
            <a:off x="4889517" y="3295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889500" y="355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平衡了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价格与性能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，能显著提升旧电脑的系统开机、软件加载速度，是老平台升级体验最明显的选择。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82000" y="2095500"/>
            <a:ext cx="762000" cy="762000"/>
          </a:xfrm>
          <a:prstGeom prst="ellipse">
            <a:avLst/>
          </a:prstGeom>
          <a:solidFill>
            <a:srgbClr val="FEF3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0" y="2286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398000" y="2159000"/>
            <a:ext cx="166974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NVMe 高速盘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98000" y="2667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 · 低延迟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8093">
            <a:off x="8382017" y="3295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82000" y="355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极低延迟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超高并发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能力，读写速度远超SATA协议，专为专业设计、3A游戏等高负载场景打造。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核心原则：根据使用场景与预算，选择最适合自己的存储方案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互动小问题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你的电脑感觉卡顿，大概率是哪类指标拖后腿？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317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603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603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顺序读写速度</a:t>
            </a:r>
          </a:p>
        </p:txBody>
      </p:sp>
      <p:sp>
        <p:nvSpPr>
          <p:cNvPr id="8" name="AutoShape 8"/>
          <p:cNvSpPr/>
          <p:nvPr/>
        </p:nvSpPr>
        <p:spPr>
          <a:xfrm>
            <a:off x="4508500" y="2286000"/>
            <a:ext cx="317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F2937">
                <a:alpha val="20000"/>
              </a:srgbClr>
            </a:solidFill>
            <a:prstDash val="solid"/>
            <a:round/>
          </a:ln>
          <a:effectLst>
            <a:outerShdw blurRad="254000" dist="762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2603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24500" y="2603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B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随机读写 / 延迟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2286000"/>
            <a:ext cx="317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603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017000" y="2603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选项 C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硬盘总容量大小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16000" y="4064000"/>
            <a:ext cx="10160000" cy="1143000"/>
          </a:xfrm>
          <a:prstGeom prst="roundRect">
            <a:avLst>
              <a:gd name="adj" fmla="val 1777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1F293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43307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286000" y="4191000"/>
            <a:ext cx="850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正确答案：B. 随机读写 / 延迟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这是导致系统响应慢、软件启动卡顿的“幕后真凶”。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461000"/>
            <a:ext cx="10160000" cy="889000"/>
          </a:xfrm>
          <a:prstGeom prst="roundRect">
            <a:avLst>
              <a:gd name="adj" fmla="val 17142"/>
            </a:avLst>
          </a:prstGeom>
          <a:solidFill>
            <a:srgbClr val="F3F4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70000" y="5524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日常使用中的卡顿（如开机慢、打开浏览器/Office响应慢）主要取决于硬盘的随机读写性能。这也是为什么将机械硬盘(HDD)更换为固态硬盘(SSD)能带来立竿见影流畅度提升的根本原因。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分区与文件系统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AND FILE SYSTEM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分区与分区表：给仓库划隔间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05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55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 (Partition)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硬盘的“逻辑隔间”，将物理存储空间逻辑化，用于隔离系统文件、用户数据、备份恢复区等不同用途的内容。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1905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1955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分区表 (Table)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266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硬盘的“目录索引”。它记录了硬盘上所有“逻辑隔间”的起始位置、大小、类型等关键元数据，是操作系统识别分区的依据。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048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19558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方案对比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09000" y="2743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MBR (传统)：</a:t>
            </a: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限2TB / 4主分区 / BIOS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429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09000" y="3505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GPT (现代)：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容量无限制 / 分区更多 / UEFI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572000"/>
            <a:ext cx="10160000" cy="1397000"/>
          </a:xfrm>
          <a:prstGeom prst="roundRect">
            <a:avLst>
              <a:gd name="adj" fmla="val 10909"/>
            </a:avLst>
          </a:prstGeom>
          <a:solidFill>
            <a:srgbClr val="F0FDF4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953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159000" y="48895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装机核心建议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159000" y="5334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针对当下的新平台（Intel 10代+/AMD Ryzen）装机，强烈建议直接选择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GPT 分区表 + UEFI 启动模式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，以获得更好的稳定性和对大容量硬盘的支持。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文件系统选型：Windows场景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826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97000" y="2159000"/>
            <a:ext cx="889000" cy="889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500" y="2349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540000" y="2286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 · Windows 系统盘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540000" y="2794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NTFS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810000"/>
            <a:ext cx="4064000" cy="127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397000" y="419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核心选型优势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469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专为Windows系统深度定制，提供完善的文件权限管理与事务日志功能，是系统盘场景下兼容性与稳定性最好的选择。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4826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159000"/>
            <a:ext cx="889000" cy="889000"/>
          </a:xfrm>
          <a:prstGeom prst="ellipse">
            <a:avLst/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349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747000" y="2286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 · Win/Mac 通用 U 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47000" y="2794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exFAT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810000"/>
            <a:ext cx="4064000" cy="127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419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核心选型优势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69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具备优秀的跨平台兼容性，完美适配 Windows 与 macOS 系统。同时突破了 FAT32 的单个文件 4GB 大小限制，使用更自由。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文件系统选型：其他场景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3635" b="3635"/>
          <a:stretch>
            <a:fillRect/>
          </a:stretch>
        </p:blipFill>
        <p:spPr>
          <a:xfrm>
            <a:off x="1016000" y="1651000"/>
            <a:ext cx="4953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270000" y="4572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适用场景：Linux 服务器长期稳定运行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953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推荐选型：ext4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546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Linux生态中普及度最高的文件系统，维护成本极低，且在海量小文件读写场景下性能表现依然稳定可靠。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4953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7712" b="7712"/>
          <a:stretch>
            <a:fillRect/>
          </a:stretch>
        </p:blipFill>
        <p:spPr>
          <a:xfrm>
            <a:off x="6223000" y="1651000"/>
            <a:ext cx="4953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4572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适用场景：苹果全家桶生态（Mac/iOS）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953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推荐选型：APFS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546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苹果原厂深度定制的文件系统，专为SSD等闪存存储优化，支持加密、快照等高级特性，生态兼容性最佳。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核心分区白话解释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048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32000" y="2159000"/>
            <a:ext cx="1016000" cy="1016000"/>
          </a:xfrm>
          <a:prstGeom prst="ellipse">
            <a:avLst/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ESP 分区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937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EFI 系统分区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44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397000" y="4635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启动文件的“专用抽屉”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UEFI固件会从这里读取启动程序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1778000"/>
            <a:ext cx="3048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588000" y="2159000"/>
            <a:ext cx="1016000" cy="1016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413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826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 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3937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444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0" y="4635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操作系统和软件的“工作区”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存放系统内核与日常应用软件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048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144000" y="2159000"/>
            <a:ext cx="1016000" cy="1016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2413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382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恢复分区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3937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Recovery Partition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444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09000" y="4635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系统的“急救箱”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用于系统故障时的恢复或重置操作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分区/文件系统总结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3175000" cy="3937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70100" y="2286000"/>
            <a:ext cx="1066800" cy="1066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4100" y="25400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新平台优先 GPT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191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摒弃老旧的MBR格式，GPT在兼容性、安全性及磁盘容量支持上具有压倒性优势。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905000"/>
            <a:ext cx="3175000" cy="3937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562600" y="2286000"/>
            <a:ext cx="1066800" cy="1066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600" y="25400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按系统生态选择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62500" y="4191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环境首选 NTFS，支持文件加密与权限管理；Mac 环境首选 APFS，优化固态硬盘性能。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175000" cy="3937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55100" y="2286000"/>
            <a:ext cx="1066800" cy="1066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9100" y="25400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915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U盘首选 exFAT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4191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兼顾 Windows 与 Mac 的完美跨平台格式，且支持超过4GB的单个大文件传输。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70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BIOS/UEFI 启动机制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BOOT MECHANISM OF BIOS / UEFI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BIOS vs UEFI (白话版)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9685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BIOS：老门卫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2603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界面简单且全为文字，功能基础，主要用于兼容旧设备。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通常与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MBR 分区表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搭配使用，是传统的主板启动模式。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4953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685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UEFI：智能门禁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2603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图形化界面现代美观，支持鼠标操作，功能强大且支持安全启动。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必须搭配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GPT 分区表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，才能完全发挥其高性能优势。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10160000" cy="1397000"/>
          </a:xfrm>
          <a:prstGeom prst="roundRect">
            <a:avLst>
              <a:gd name="adj" fmla="val 10909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5016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159000" y="4953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核心逻辑：钥匙与锁必须一一配对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54610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“门禁再高级，钥匙插错孔也进不去”。UEFI 模式必须配合 GPT 分区表，BIOS 模式必须配合 MBR 分区表，二者不可混用。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电脑只进BIOS？按这3步查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3175000" cy="4064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175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3238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硬件层：硬盘识别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370">
            <a:off x="1270015" y="3930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在BIOS/UEFI界面中查看，硬盘是否被正确列出。如果没看到，请优先检查硬盘的电源线和数据线连接。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778000"/>
            <a:ext cx="3175000" cy="4064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762500" y="2032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3175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97500" y="3238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引导层：启动项顺序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6370">
            <a:off x="4762515" y="3930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7625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检查启动项列表，确认系统盘是否存在。若存在，请确保它的启动顺序位于第一位，否则电脑会尝试从其他设备启动。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175000" cy="4064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55000" y="2032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175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3238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匹配层：模式与分区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6370">
            <a:off x="8255015" y="3930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确认启动模式与分区表是否匹配：UEFI模式需搭配GPT分区表，而传统BIOS/Legacy模式则需搭配MBR分区表。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BIOS/UEFI核心关键词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2095500"/>
            <a:ext cx="762000" cy="762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7800" y="2273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2095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POST (加电自检)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667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电脑开机后的“体检”过程，自动检查CPU、内存、硬盘等关键硬件是否处于正常工作状态。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95500"/>
            <a:ext cx="762000" cy="762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2273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2095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Boot Order (启动顺序)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493000" y="2667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设置电脑通电后优先尝试的启动设备顺序，常见选项包括固态硬盘、U盘、光驱或网络启动。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937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4254500"/>
            <a:ext cx="762000" cy="762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7800" y="4432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286000" y="425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Secure Boot (安全启动)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86000" y="4826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UEFI的核心安全机制，仅允许加载带有信任数字签名的启动程序，有效防止恶意软件感染引导区。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762000" cy="7620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44323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425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CSM (兼容性支持模块)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93000" y="4826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在UEFI模式下提供的兼容性层，用于模拟传统的Legacy BIOS环境，从而支持老旧操作系统或硬件设备。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通用PE的核心用途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CORE USAGE OF UNIVERSAL PE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为什么要进PE？核心目标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2095500"/>
            <a:ext cx="914400" cy="9144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22987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413000" y="215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系统挂了，先救数据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667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当系统无法正常启动时，通过PE访问本地硬盘，将重要的个人文件、工作文档快速拷贝出来。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095500"/>
            <a:ext cx="914400" cy="9144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22987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620000" y="215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离线检查/修复启动链路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0" y="2667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利用PE工具箱中的专用软件，对系统的引导记录(MBR/EFI)、分区表进行诊断和一键修复。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064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70000" y="4381500"/>
            <a:ext cx="914400" cy="9144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3200" y="45847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413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制作系统安装U盘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13000" y="4953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将官方的Windows ISO镜像文件，通过PE工具写入到U盘，制作成具有引导功能的系统安装介质。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4381500"/>
            <a:ext cx="914400" cy="914400"/>
          </a:xfrm>
          <a:prstGeom prst="ellipse">
            <a:avLst/>
          </a:prstGeom>
          <a:solidFill>
            <a:srgbClr val="FA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0200" y="45847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20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调整分区/离线维护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4953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在系统未运行的状态下，安全地对硬盘进行分区调整、重新格式化、4K对齐等底层维护操作。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PE里先做这4件事（优先级）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8051" r="18051"/>
          <a:stretch>
            <a:fillRect/>
          </a:stretch>
        </p:blipFill>
        <p:spPr>
          <a:xfrm>
            <a:off x="1016000" y="1651000"/>
            <a:ext cx="4318000" cy="4572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588000" y="1651000"/>
            <a:ext cx="558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842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190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493000" y="1803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查盘 · Check Disk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493000" y="22098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DiskGenius 等专业工具，检查硬盘硬件及分区表是否能被系统正常识别。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2984500"/>
            <a:ext cx="558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842000" y="3175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3238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31369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救数据 · Rescue Data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93000" y="3543300"/>
            <a:ext cx="342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优先将C盘或桌面的关键数据拷贝至移动存储。</a:t>
            </a:r>
            <a:r>
              <a:rPr lang="en-US" sz="1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数据永远比系统重要！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4318000"/>
            <a:ext cx="558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842000" y="450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572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93000" y="4470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烧系统 · Burn ISO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48768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若确定需要重装系统，请提前准备好镜像文件，并制作可引导的系统安装U盘。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5651500"/>
            <a:ext cx="5588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842000" y="577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5842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5740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修引导 · Fix Boot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61214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尝试使用引导修复工具（如Bootice），自动重建MBR或EFI引导项。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PE总结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1700" y="21590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30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非“万能修复工具”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3810000"/>
            <a:ext cx="2413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PE本质是一个“离线操作环境”，它提供了丰富的软件工具，但无法保证解决计算机的所有故障问题。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159000"/>
            <a:ext cx="863600" cy="863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先救数据，后修系统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89500" y="3810000"/>
            <a:ext cx="2413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625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数据无价是核心原则。进入PE环境后，请务必优先对重要数据进行备份，确认数据安全后再进行系统修复。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6700" y="2159000"/>
            <a:ext cx="863600" cy="863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280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匹配启动模式制作U盘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810000"/>
            <a:ext cx="2413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0" y="4191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制作系统U盘前需确认目标机型：新机器通常为UEFI+GPT模式，旧机器多为BIOS+MBR模式，需按需选择制作。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系统镜像：按目标选格式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IMAGE SELECTION GUIDE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镜像格式按目标选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95500" y="2159000"/>
            <a:ext cx="1016000" cy="1016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8700" y="23622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批量分发 / 制作安装U盘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75149" y="4064000"/>
            <a:ext cx="1980851" cy="457200"/>
          </a:xfrm>
          <a:prstGeom prst="roundRect">
            <a:avLst>
              <a:gd name="adj" fmla="val 5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推荐：ISO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826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国际通用标准格式，硬件与软件兼容性最佳，支持的启动盘制作工具最丰富。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588000" y="2159000"/>
            <a:ext cx="1016000" cy="1016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3622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625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原样复制磁盘 / 分区备份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105574" y="4064000"/>
            <a:ext cx="1980851" cy="457200"/>
          </a:xfrm>
          <a:prstGeom prst="roundRect">
            <a:avLst>
              <a:gd name="adj" fmla="val 5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推荐：IMG/RAW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62500" y="4826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按扇区进行逐位完整复制，最忠实于原始数据，是底层数据恢复与全盘备份的首选。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080500" y="2159000"/>
            <a:ext cx="1016000" cy="1016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700" y="23622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2550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虚拟机系统 / 系统动态迁移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98074" y="4064000"/>
            <a:ext cx="1980851" cy="457200"/>
          </a:xfrm>
          <a:prstGeom prst="roundRect">
            <a:avLst>
              <a:gd name="adj" fmla="val 5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推荐：VHD/VHDX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4826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微软原生虚拟硬盘格式，支持动态扩展与快照功能，在Hyper-V等虚拟化场景下极其便利。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397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故障按层定位法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FAULT LOCATION BY LAYER METHOD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故障四层定位框架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2413000" cy="3302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05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955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硬件层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1905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921000"/>
            <a:ext cx="190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排查硬盘物理连接状态，确认硬盘是否被主板识别；检查数据线、电源线是否插紧，SATA/M.2接口是否正常。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83000" y="1651000"/>
            <a:ext cx="2413000" cy="3302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000" y="190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1955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分区层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37000" y="2667000"/>
            <a:ext cx="1905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937000" y="2921000"/>
            <a:ext cx="190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验证分区表(MBR/GPT)是否损坏；检查分区结构合理性；重点确认ESP/EFI引导分区是否存在且处于正常状态。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651000"/>
            <a:ext cx="2413000" cy="3302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1955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引导层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667000"/>
            <a:ext cx="1905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2921000"/>
            <a:ext cx="190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检查BIOS/UEFI启动项顺序；扫描引导文件(BCD/GRUB)完整性；确认启动模式与分区表类型是否匹配(GPT-UEFI)。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0" y="1651000"/>
            <a:ext cx="2159000" cy="3302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905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906000" y="1955800"/>
            <a:ext cx="114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2667000"/>
            <a:ext cx="1651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271000" y="29210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扫描并修复损坏的系统核心文件；排查硬件驱动冲突；检查关键系统服务是否正常加载。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334000"/>
            <a:ext cx="10160000" cy="762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排查原则：从底层到上层，由硬件到系统，严格遵循「从简单到复杂」的顺序逐步定位故障。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全场核心总结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19200" y="19685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1209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82800" y="1968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硬盘选型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82800" y="241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按场景选择：存资料首选HDD，追求读写速度则选择SSD。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48200" y="19685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0600" y="2120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11800" y="1968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启动组合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11800" y="241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新平台推荐UEFI+GPT组合，旧平台兼容Legacy+MBR模式。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077200" y="19685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1209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40800" y="1968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PE用法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40800" y="241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核心操作原则：进入PE环境后，优先抢救重要数据，再进行系统修复。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810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219200" y="41910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1600" y="43434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82800" y="4191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镜像恢复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82800" y="4699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恢复成功 ≠ 系统能启动。需确保硬盘分区格式、引导模式与系统镜像的整个链路完全匹配。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810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26200" y="4191000"/>
            <a:ext cx="711200" cy="7112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8600" y="43434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89800" y="4191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排错逻辑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89800" y="4699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遵循标准化排查顺序：硬件物理连接 → 分区表格式 → 引导文件完整性 → 系统核心文件。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任何问题，按“链路”拆解都能找到答案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2471</Words>
  <Application>Microsoft Office PowerPoint</Application>
  <PresentationFormat>宽屏</PresentationFormat>
  <Paragraphs>418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毒 蓝</cp:lastModifiedBy>
  <cp:revision>3</cp:revision>
  <dcterms:modified xsi:type="dcterms:W3CDTF">2026-04-13T08:04:27Z</dcterms:modified>
</cp:coreProperties>
</file>