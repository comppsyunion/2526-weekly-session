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33"/>
  </p:notesMasterIdLst>
  <p:handoutMasterIdLst>
    <p:handoutMasterId r:id="rId34"/>
  </p:handoutMasterIdLst>
  <p:sldIdLst>
    <p:sldId id="333" r:id="rId5"/>
    <p:sldId id="332" r:id="rId6"/>
    <p:sldId id="345" r:id="rId7"/>
    <p:sldId id="282" r:id="rId8"/>
    <p:sldId id="329" r:id="rId9"/>
    <p:sldId id="343" r:id="rId10"/>
    <p:sldId id="344" r:id="rId11"/>
    <p:sldId id="337" r:id="rId12"/>
    <p:sldId id="335" r:id="rId13"/>
    <p:sldId id="346" r:id="rId14"/>
    <p:sldId id="348" r:id="rId15"/>
    <p:sldId id="364" r:id="rId16"/>
    <p:sldId id="363" r:id="rId17"/>
    <p:sldId id="351" r:id="rId18"/>
    <p:sldId id="349" r:id="rId19"/>
    <p:sldId id="350" r:id="rId20"/>
    <p:sldId id="362" r:id="rId21"/>
    <p:sldId id="347" r:id="rId22"/>
    <p:sldId id="355" r:id="rId23"/>
    <p:sldId id="366" r:id="rId24"/>
    <p:sldId id="365" r:id="rId25"/>
    <p:sldId id="356" r:id="rId26"/>
    <p:sldId id="361" r:id="rId27"/>
    <p:sldId id="359" r:id="rId28"/>
    <p:sldId id="367" r:id="rId29"/>
    <p:sldId id="368" r:id="rId30"/>
    <p:sldId id="360" r:id="rId31"/>
    <p:sldId id="342" r:id="rId32"/>
  </p:sldIdLst>
  <p:sldSz cx="12192000" cy="6858000"/>
  <p:notesSz cx="6808788" cy="9942513"/>
  <p:custDataLst>
    <p:tags r:id="rId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8" userDrawn="1">
          <p15:clr>
            <a:srgbClr val="A4A3A4"/>
          </p15:clr>
        </p15:guide>
        <p15:guide id="2" pos="756" userDrawn="1">
          <p15:clr>
            <a:srgbClr val="A4A3A4"/>
          </p15:clr>
        </p15:guide>
        <p15:guide id="3" orient="horz" pos="138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5D9D"/>
    <a:srgbClr val="777777"/>
    <a:srgbClr val="808080"/>
    <a:srgbClr val="B2B2B2"/>
    <a:srgbClr val="404040"/>
    <a:srgbClr val="696B6C"/>
    <a:srgbClr val="000000"/>
    <a:srgbClr val="F3FCFF"/>
    <a:srgbClr val="EBFC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EDD7D9-802A-514C-AFB4-6565556CF030}" v="4" dt="2025-04-14T07:39:42.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72" y="84"/>
      </p:cViewPr>
      <p:guideLst>
        <p:guide orient="horz" pos="1888"/>
        <p:guide pos="756"/>
        <p:guide orient="horz" pos="1389"/>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912C7E6-BFEE-E52A-090C-079B1E036BEF}"/>
              </a:ext>
            </a:extLst>
          </p:cNvPr>
          <p:cNvSpPr>
            <a:spLocks noGrp="1"/>
          </p:cNvSpPr>
          <p:nvPr>
            <p:ph type="hdr" sz="quarter"/>
          </p:nvPr>
        </p:nvSpPr>
        <p:spPr>
          <a:xfrm>
            <a:off x="0" y="0"/>
            <a:ext cx="2950475"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5E757C1-17B2-D27F-4621-E5056425A41F}"/>
              </a:ext>
            </a:extLst>
          </p:cNvPr>
          <p:cNvSpPr>
            <a:spLocks noGrp="1"/>
          </p:cNvSpPr>
          <p:nvPr>
            <p:ph type="dt" sz="quarter" idx="1"/>
          </p:nvPr>
        </p:nvSpPr>
        <p:spPr>
          <a:xfrm>
            <a:off x="3856737" y="0"/>
            <a:ext cx="2950475" cy="498852"/>
          </a:xfrm>
          <a:prstGeom prst="rect">
            <a:avLst/>
          </a:prstGeom>
        </p:spPr>
        <p:txBody>
          <a:bodyPr vert="horz" lIns="91440" tIns="45720" rIns="91440" bIns="45720" rtlCol="0"/>
          <a:lstStyle>
            <a:lvl1pPr algn="r">
              <a:defRPr sz="1200"/>
            </a:lvl1pPr>
          </a:lstStyle>
          <a:p>
            <a:fld id="{57ADCDBF-EA6B-42BD-B83F-554F622B8452}" type="datetimeFigureOut">
              <a:rPr lang="zh-CN" altLang="en-US" smtClean="0"/>
              <a:t>2025/12/12</a:t>
            </a:fld>
            <a:endParaRPr lang="zh-CN" altLang="en-US"/>
          </a:p>
        </p:txBody>
      </p:sp>
      <p:sp>
        <p:nvSpPr>
          <p:cNvPr id="4" name="页脚占位符 3">
            <a:extLst>
              <a:ext uri="{FF2B5EF4-FFF2-40B4-BE49-F238E27FC236}">
                <a16:creationId xmlns:a16="http://schemas.microsoft.com/office/drawing/2014/main" id="{E1C11C99-767E-0B31-1143-4679CB6F6A86}"/>
              </a:ext>
            </a:extLst>
          </p:cNvPr>
          <p:cNvSpPr>
            <a:spLocks noGrp="1"/>
          </p:cNvSpPr>
          <p:nvPr>
            <p:ph type="ftr" sz="quarter" idx="2"/>
          </p:nvPr>
        </p:nvSpPr>
        <p:spPr>
          <a:xfrm>
            <a:off x="0" y="9443662"/>
            <a:ext cx="2950475" cy="49885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B4E252C9-E903-4BAC-B83B-53AECC0F0314}"/>
              </a:ext>
            </a:extLst>
          </p:cNvPr>
          <p:cNvSpPr>
            <a:spLocks noGrp="1"/>
          </p:cNvSpPr>
          <p:nvPr>
            <p:ph type="sldNum" sz="quarter" idx="3"/>
          </p:nvPr>
        </p:nvSpPr>
        <p:spPr>
          <a:xfrm>
            <a:off x="3856737" y="9443662"/>
            <a:ext cx="2950475" cy="498851"/>
          </a:xfrm>
          <a:prstGeom prst="rect">
            <a:avLst/>
          </a:prstGeom>
        </p:spPr>
        <p:txBody>
          <a:bodyPr vert="horz" lIns="91440" tIns="45720" rIns="91440" bIns="45720" rtlCol="0" anchor="b"/>
          <a:lstStyle>
            <a:lvl1pPr algn="r">
              <a:defRPr sz="1200"/>
            </a:lvl1pPr>
          </a:lstStyle>
          <a:p>
            <a:fld id="{4E331FD4-BDC2-4D53-B667-BF68509999C0}" type="slidenum">
              <a:rPr lang="zh-CN" altLang="en-US" smtClean="0"/>
              <a:t>‹#›</a:t>
            </a:fld>
            <a:endParaRPr lang="zh-CN" altLang="en-US"/>
          </a:p>
        </p:txBody>
      </p:sp>
    </p:spTree>
    <p:extLst>
      <p:ext uri="{BB962C8B-B14F-4D97-AF65-F5344CB8AC3E}">
        <p14:creationId xmlns:p14="http://schemas.microsoft.com/office/powerpoint/2010/main" val="3389763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50475"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6737" y="0"/>
            <a:ext cx="2950475" cy="498852"/>
          </a:xfrm>
          <a:prstGeom prst="rect">
            <a:avLst/>
          </a:prstGeom>
        </p:spPr>
        <p:txBody>
          <a:bodyPr vert="horz" lIns="91440" tIns="45720" rIns="91440" bIns="45720" rtlCol="0"/>
          <a:lstStyle>
            <a:lvl1pPr algn="r">
              <a:defRPr sz="1200"/>
            </a:lvl1pPr>
          </a:lstStyle>
          <a:p>
            <a:fld id="{72C11328-E932-4978-B593-20E892005615}" type="datetimeFigureOut">
              <a:rPr lang="zh-CN" altLang="en-US" smtClean="0"/>
              <a:t>2025/12/12</a:t>
            </a:fld>
            <a:endParaRPr lang="zh-CN" altLang="en-US"/>
          </a:p>
        </p:txBody>
      </p:sp>
      <p:sp>
        <p:nvSpPr>
          <p:cNvPr id="4" name="幻灯片图像占位符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879" y="4784835"/>
            <a:ext cx="5447030" cy="391486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3662"/>
            <a:ext cx="2950475" cy="49885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6737" y="9443662"/>
            <a:ext cx="2950475" cy="498851"/>
          </a:xfrm>
          <a:prstGeom prst="rect">
            <a:avLst/>
          </a:prstGeom>
        </p:spPr>
        <p:txBody>
          <a:bodyPr vert="horz" lIns="91440" tIns="45720" rIns="91440" bIns="45720" rtlCol="0" anchor="b"/>
          <a:lstStyle>
            <a:lvl1pPr algn="r">
              <a:defRPr sz="1200"/>
            </a:lvl1pPr>
          </a:lstStyle>
          <a:p>
            <a:fld id="{F2E81C92-FB04-4531-AA7B-867E9634CAD9}" type="slidenum">
              <a:rPr lang="zh-CN" altLang="en-US" smtClean="0"/>
              <a:t>‹#›</a:t>
            </a:fld>
            <a:endParaRPr lang="zh-CN" altLang="en-US"/>
          </a:p>
        </p:txBody>
      </p:sp>
    </p:spTree>
    <p:extLst>
      <p:ext uri="{BB962C8B-B14F-4D97-AF65-F5344CB8AC3E}">
        <p14:creationId xmlns:p14="http://schemas.microsoft.com/office/powerpoint/2010/main" val="2902464118"/>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369F-A237-EA55-9CE3-6E62FF86E0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D94205-C19C-FFCB-1A0B-34F3B5051F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3E0489-DC23-0C37-F969-F69FC66545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018A0DD-6EE9-E572-8A12-7EC4F7BFAE60}"/>
              </a:ext>
            </a:extLst>
          </p:cNvPr>
          <p:cNvSpPr>
            <a:spLocks noGrp="1"/>
          </p:cNvSpPr>
          <p:nvPr>
            <p:ph type="sldNum" sz="quarter" idx="10"/>
          </p:nvPr>
        </p:nvSpPr>
        <p:spPr/>
        <p:txBody>
          <a:bodyPr/>
          <a:lstStyle/>
          <a:p>
            <a:fld id="{1E4125A3-77AE-496B-B04C-07CB24D2E360}" type="slidenum">
              <a:rPr lang="zh-CN" altLang="en-US" smtClean="0"/>
              <a:t>1</a:t>
            </a:fld>
            <a:endParaRPr lang="zh-CN" altLang="en-US"/>
          </a:p>
        </p:txBody>
      </p:sp>
    </p:spTree>
    <p:extLst>
      <p:ext uri="{BB962C8B-B14F-4D97-AF65-F5344CB8AC3E}">
        <p14:creationId xmlns:p14="http://schemas.microsoft.com/office/powerpoint/2010/main" val="3849652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6B60-42CA-DFA0-B620-39A4234790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BC5E15-AA39-BF6D-545A-0D77DF98E0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367E71-2D5F-2643-0B17-2124425C4C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C85E318-132B-488F-E13A-5EF8A8F63038}"/>
              </a:ext>
            </a:extLst>
          </p:cNvPr>
          <p:cNvSpPr>
            <a:spLocks noGrp="1"/>
          </p:cNvSpPr>
          <p:nvPr>
            <p:ph type="sldNum" sz="quarter" idx="10"/>
          </p:nvPr>
        </p:nvSpPr>
        <p:spPr/>
        <p:txBody>
          <a:bodyPr/>
          <a:lstStyle/>
          <a:p>
            <a:fld id="{F2E81C92-FB04-4531-AA7B-867E9634CAD9}" type="slidenum">
              <a:rPr lang="zh-CN" altLang="en-US" smtClean="0"/>
              <a:t>2</a:t>
            </a:fld>
            <a:endParaRPr lang="zh-CN" altLang="en-US"/>
          </a:p>
        </p:txBody>
      </p:sp>
    </p:spTree>
    <p:extLst>
      <p:ext uri="{BB962C8B-B14F-4D97-AF65-F5344CB8AC3E}">
        <p14:creationId xmlns:p14="http://schemas.microsoft.com/office/powerpoint/2010/main" val="4073556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E45C-A895-3FF4-A8F4-18E98AA043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AEB980-8C61-F62F-49B1-F8E531E4FD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2A4E6D-4BE8-2DD0-20A3-BB40F2A9356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74059E6-C5EF-96C7-B2D1-98E3EA375333}"/>
              </a:ext>
            </a:extLst>
          </p:cNvPr>
          <p:cNvSpPr>
            <a:spLocks noGrp="1"/>
          </p:cNvSpPr>
          <p:nvPr>
            <p:ph type="sldNum" sz="quarter" idx="10"/>
          </p:nvPr>
        </p:nvSpPr>
        <p:spPr/>
        <p:txBody>
          <a:bodyPr/>
          <a:lstStyle/>
          <a:p>
            <a:fld id="{F2E81C92-FB04-4531-AA7B-867E9634CAD9}" type="slidenum">
              <a:rPr lang="zh-CN" altLang="en-US" smtClean="0"/>
              <a:t>3</a:t>
            </a:fld>
            <a:endParaRPr lang="zh-CN" altLang="en-US"/>
          </a:p>
        </p:txBody>
      </p:sp>
    </p:spTree>
    <p:extLst>
      <p:ext uri="{BB962C8B-B14F-4D97-AF65-F5344CB8AC3E}">
        <p14:creationId xmlns:p14="http://schemas.microsoft.com/office/powerpoint/2010/main" val="1844905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E81C92-FB04-4531-AA7B-867E9634CAD9}" type="slidenum">
              <a:rPr lang="zh-CN" altLang="en-US" smtClean="0"/>
              <a:t>4</a:t>
            </a:fld>
            <a:endParaRPr lang="zh-CN" altLang="en-US"/>
          </a:p>
        </p:txBody>
      </p:sp>
    </p:spTree>
    <p:extLst>
      <p:ext uri="{BB962C8B-B14F-4D97-AF65-F5344CB8AC3E}">
        <p14:creationId xmlns:p14="http://schemas.microsoft.com/office/powerpoint/2010/main" val="1582425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E7120-25A2-CF99-324C-560CF8230B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EBCF45-10F7-CBCA-5DED-974D6F5DA8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637459-8711-D90C-B049-3C0059ADA64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18CC9F-89A1-DF80-0D76-E914C073333D}"/>
              </a:ext>
            </a:extLst>
          </p:cNvPr>
          <p:cNvSpPr>
            <a:spLocks noGrp="1"/>
          </p:cNvSpPr>
          <p:nvPr>
            <p:ph type="sldNum" sz="quarter" idx="10"/>
          </p:nvPr>
        </p:nvSpPr>
        <p:spPr/>
        <p:txBody>
          <a:bodyPr/>
          <a:lstStyle/>
          <a:p>
            <a:fld id="{F2E81C92-FB04-4531-AA7B-867E9634CAD9}" type="slidenum">
              <a:rPr lang="zh-CN" altLang="en-US" smtClean="0"/>
              <a:t>5</a:t>
            </a:fld>
            <a:endParaRPr lang="zh-CN" altLang="en-US"/>
          </a:p>
        </p:txBody>
      </p:sp>
    </p:spTree>
    <p:extLst>
      <p:ext uri="{BB962C8B-B14F-4D97-AF65-F5344CB8AC3E}">
        <p14:creationId xmlns:p14="http://schemas.microsoft.com/office/powerpoint/2010/main" val="968121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C2AA3-BFFD-8748-7B1D-6A5003A0F5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A45A24-D4B5-2C2A-8699-B74A9ABD70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FBDBC1-53FF-43EC-9822-3FC029369CE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35999E0-1A93-2DF4-C51C-5B58498300A3}"/>
              </a:ext>
            </a:extLst>
          </p:cNvPr>
          <p:cNvSpPr>
            <a:spLocks noGrp="1"/>
          </p:cNvSpPr>
          <p:nvPr>
            <p:ph type="sldNum" sz="quarter" idx="10"/>
          </p:nvPr>
        </p:nvSpPr>
        <p:spPr/>
        <p:txBody>
          <a:bodyPr/>
          <a:lstStyle/>
          <a:p>
            <a:fld id="{F2E81C92-FB04-4531-AA7B-867E9634CAD9}" type="slidenum">
              <a:rPr lang="zh-CN" altLang="en-US" smtClean="0"/>
              <a:t>6</a:t>
            </a:fld>
            <a:endParaRPr lang="zh-CN" altLang="en-US"/>
          </a:p>
        </p:txBody>
      </p:sp>
    </p:spTree>
    <p:extLst>
      <p:ext uri="{BB962C8B-B14F-4D97-AF65-F5344CB8AC3E}">
        <p14:creationId xmlns:p14="http://schemas.microsoft.com/office/powerpoint/2010/main" val="1310863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CED5-42AF-C031-BC3F-2FBEE42E0D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EB6DB8-088B-4054-ECFE-6209EA935F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7EC811-74C9-8EFD-DB4E-1875BBA74EC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A949AB6-90E7-58C0-124B-6275862F5E69}"/>
              </a:ext>
            </a:extLst>
          </p:cNvPr>
          <p:cNvSpPr>
            <a:spLocks noGrp="1"/>
          </p:cNvSpPr>
          <p:nvPr>
            <p:ph type="sldNum" sz="quarter" idx="10"/>
          </p:nvPr>
        </p:nvSpPr>
        <p:spPr/>
        <p:txBody>
          <a:bodyPr/>
          <a:lstStyle/>
          <a:p>
            <a:fld id="{F2E81C92-FB04-4531-AA7B-867E9634CAD9}" type="slidenum">
              <a:rPr lang="zh-CN" altLang="en-US" smtClean="0"/>
              <a:t>7</a:t>
            </a:fld>
            <a:endParaRPr lang="zh-CN" altLang="en-US"/>
          </a:p>
        </p:txBody>
      </p:sp>
    </p:spTree>
    <p:extLst>
      <p:ext uri="{BB962C8B-B14F-4D97-AF65-F5344CB8AC3E}">
        <p14:creationId xmlns:p14="http://schemas.microsoft.com/office/powerpoint/2010/main" val="1360158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EA112-8BA9-702C-8E10-E1198F7CBA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F394D8-B38A-6142-8CF6-146BDDB993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4BB284-5916-D73A-D218-BEE99B88658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BCD4804-7CAE-018F-7379-00021BBE5064}"/>
              </a:ext>
            </a:extLst>
          </p:cNvPr>
          <p:cNvSpPr>
            <a:spLocks noGrp="1"/>
          </p:cNvSpPr>
          <p:nvPr>
            <p:ph type="sldNum" sz="quarter" idx="10"/>
          </p:nvPr>
        </p:nvSpPr>
        <p:spPr/>
        <p:txBody>
          <a:bodyPr/>
          <a:lstStyle/>
          <a:p>
            <a:fld id="{F2E81C92-FB04-4531-AA7B-867E9634CAD9}" type="slidenum">
              <a:rPr lang="zh-CN" altLang="en-US" smtClean="0"/>
              <a:t>8</a:t>
            </a:fld>
            <a:endParaRPr lang="zh-CN" altLang="en-US"/>
          </a:p>
        </p:txBody>
      </p:sp>
    </p:spTree>
    <p:extLst>
      <p:ext uri="{BB962C8B-B14F-4D97-AF65-F5344CB8AC3E}">
        <p14:creationId xmlns:p14="http://schemas.microsoft.com/office/powerpoint/2010/main" val="1298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2E595-A6F5-17D2-1D8C-8137CD3AFC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1AEDCE-FDE1-464B-8500-4AC30817F2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E1FF9A-B1F1-4387-81A2-DD382ADA0E1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4351922-E20E-99C7-AC51-8A6B31E4721F}"/>
              </a:ext>
            </a:extLst>
          </p:cNvPr>
          <p:cNvSpPr>
            <a:spLocks noGrp="1"/>
          </p:cNvSpPr>
          <p:nvPr>
            <p:ph type="sldNum" sz="quarter" idx="10"/>
          </p:nvPr>
        </p:nvSpPr>
        <p:spPr/>
        <p:txBody>
          <a:bodyPr/>
          <a:lstStyle/>
          <a:p>
            <a:fld id="{F2E81C92-FB04-4531-AA7B-867E9634CAD9}" type="slidenum">
              <a:rPr lang="zh-CN" altLang="en-US" smtClean="0"/>
              <a:t>9</a:t>
            </a:fld>
            <a:endParaRPr lang="zh-CN" altLang="en-US"/>
          </a:p>
        </p:txBody>
      </p:sp>
    </p:spTree>
    <p:extLst>
      <p:ext uri="{BB962C8B-B14F-4D97-AF65-F5344CB8AC3E}">
        <p14:creationId xmlns:p14="http://schemas.microsoft.com/office/powerpoint/2010/main" val="1905686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66A5-56D0-9F94-71BB-52FBF8ACFF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AF1379-BEBD-22D3-BF86-ADED6F690E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5B6EAA-3CCE-8B32-7973-2E15EA2D4E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8988D03-3525-EE53-001A-47714002E70C}"/>
              </a:ext>
            </a:extLst>
          </p:cNvPr>
          <p:cNvSpPr>
            <a:spLocks noGrp="1"/>
          </p:cNvSpPr>
          <p:nvPr>
            <p:ph type="sldNum" sz="quarter" idx="10"/>
          </p:nvPr>
        </p:nvSpPr>
        <p:spPr/>
        <p:txBody>
          <a:bodyPr/>
          <a:lstStyle/>
          <a:p>
            <a:fld id="{F2E81C92-FB04-4531-AA7B-867E9634CAD9}" type="slidenum">
              <a:rPr lang="zh-CN" altLang="en-US" smtClean="0"/>
              <a:t>10</a:t>
            </a:fld>
            <a:endParaRPr lang="zh-CN" altLang="en-US"/>
          </a:p>
        </p:txBody>
      </p:sp>
    </p:spTree>
    <p:extLst>
      <p:ext uri="{BB962C8B-B14F-4D97-AF65-F5344CB8AC3E}">
        <p14:creationId xmlns:p14="http://schemas.microsoft.com/office/powerpoint/2010/main" val="3663312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CECA-1E28-CD9F-71A2-5E71B6010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7C894D-E09E-2FAF-9AD4-81B2863284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63473A-32A1-2179-D790-BF0F5F78CC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ABC7F3B-EFD0-48B0-CBDE-AC6511019AEC}"/>
              </a:ext>
            </a:extLst>
          </p:cNvPr>
          <p:cNvSpPr>
            <a:spLocks noGrp="1"/>
          </p:cNvSpPr>
          <p:nvPr>
            <p:ph type="sldNum" sz="quarter" idx="10"/>
          </p:nvPr>
        </p:nvSpPr>
        <p:spPr/>
        <p:txBody>
          <a:bodyPr/>
          <a:lstStyle/>
          <a:p>
            <a:fld id="{F2E81C92-FB04-4531-AA7B-867E9634CAD9}" type="slidenum">
              <a:rPr lang="zh-CN" altLang="en-US" smtClean="0"/>
              <a:t>11</a:t>
            </a:fld>
            <a:endParaRPr lang="zh-CN" altLang="en-US"/>
          </a:p>
        </p:txBody>
      </p:sp>
    </p:spTree>
    <p:extLst>
      <p:ext uri="{BB962C8B-B14F-4D97-AF65-F5344CB8AC3E}">
        <p14:creationId xmlns:p14="http://schemas.microsoft.com/office/powerpoint/2010/main" val="3374995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31911-4A15-FEC3-4913-86012986EF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91B9DD-E79F-E1B8-40BB-11B09AFD3C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78961A-390B-E38C-AFD9-8718861F37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0337BC-B96F-C125-EE33-461E62541EE6}"/>
              </a:ext>
            </a:extLst>
          </p:cNvPr>
          <p:cNvSpPr>
            <a:spLocks noGrp="1"/>
          </p:cNvSpPr>
          <p:nvPr>
            <p:ph type="sldNum" sz="quarter" idx="10"/>
          </p:nvPr>
        </p:nvSpPr>
        <p:spPr/>
        <p:txBody>
          <a:bodyPr/>
          <a:lstStyle/>
          <a:p>
            <a:fld id="{F2E81C92-FB04-4531-AA7B-867E9634CAD9}" type="slidenum">
              <a:rPr lang="zh-CN" altLang="en-US" smtClean="0"/>
              <a:t>12</a:t>
            </a:fld>
            <a:endParaRPr lang="zh-CN" altLang="en-US"/>
          </a:p>
        </p:txBody>
      </p:sp>
    </p:spTree>
    <p:extLst>
      <p:ext uri="{BB962C8B-B14F-4D97-AF65-F5344CB8AC3E}">
        <p14:creationId xmlns:p14="http://schemas.microsoft.com/office/powerpoint/2010/main" val="1638241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1C9C1-B2AA-AF57-57DF-49FC9CD980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73EBED-150F-B7FD-6FDD-A1CD89FD65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CC67CD-61D7-E67D-72DD-9E6226592D3B}"/>
              </a:ext>
            </a:extLst>
          </p:cNvPr>
          <p:cNvSpPr>
            <a:spLocks noGrp="1"/>
          </p:cNvSpPr>
          <p:nvPr>
            <p:ph type="body" idx="1"/>
          </p:nvPr>
        </p:nvSpPr>
        <p:spPr/>
        <p:txBody>
          <a:bodyPr/>
          <a:lstStyle/>
          <a:p>
            <a:r>
              <a:rPr lang="en-GB" altLang="zh-CN"/>
              <a:t>disrupting traffic flow</a:t>
            </a:r>
            <a:endParaRPr lang="zh-CN" altLang="en-US"/>
          </a:p>
        </p:txBody>
      </p:sp>
      <p:sp>
        <p:nvSpPr>
          <p:cNvPr id="4" name="灯片编号占位符 3">
            <a:extLst>
              <a:ext uri="{FF2B5EF4-FFF2-40B4-BE49-F238E27FC236}">
                <a16:creationId xmlns:a16="http://schemas.microsoft.com/office/drawing/2014/main" id="{F704BA3D-533D-618F-A1F2-05ECA4056381}"/>
              </a:ext>
            </a:extLst>
          </p:cNvPr>
          <p:cNvSpPr>
            <a:spLocks noGrp="1"/>
          </p:cNvSpPr>
          <p:nvPr>
            <p:ph type="sldNum" sz="quarter" idx="10"/>
          </p:nvPr>
        </p:nvSpPr>
        <p:spPr/>
        <p:txBody>
          <a:bodyPr/>
          <a:lstStyle/>
          <a:p>
            <a:fld id="{F2E81C92-FB04-4531-AA7B-867E9634CAD9}" type="slidenum">
              <a:rPr lang="zh-CN" altLang="en-US" smtClean="0"/>
              <a:t>13</a:t>
            </a:fld>
            <a:endParaRPr lang="zh-CN" altLang="en-US"/>
          </a:p>
        </p:txBody>
      </p:sp>
    </p:spTree>
    <p:extLst>
      <p:ext uri="{BB962C8B-B14F-4D97-AF65-F5344CB8AC3E}">
        <p14:creationId xmlns:p14="http://schemas.microsoft.com/office/powerpoint/2010/main" val="682133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B18B3-95D5-5CA2-2CC7-AEB39D77BE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B8895E-CAB1-4E6F-E77B-BF9A6C0817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553E46-5DA4-9DED-79DB-EEF841D2CB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0819D1-E94D-C2F3-5482-0FE12CA565FA}"/>
              </a:ext>
            </a:extLst>
          </p:cNvPr>
          <p:cNvSpPr>
            <a:spLocks noGrp="1"/>
          </p:cNvSpPr>
          <p:nvPr>
            <p:ph type="sldNum" sz="quarter" idx="10"/>
          </p:nvPr>
        </p:nvSpPr>
        <p:spPr/>
        <p:txBody>
          <a:bodyPr/>
          <a:lstStyle/>
          <a:p>
            <a:fld id="{F2E81C92-FB04-4531-AA7B-867E9634CAD9}" type="slidenum">
              <a:rPr lang="zh-CN" altLang="en-US" smtClean="0"/>
              <a:t>14</a:t>
            </a:fld>
            <a:endParaRPr lang="zh-CN" altLang="en-US"/>
          </a:p>
        </p:txBody>
      </p:sp>
    </p:spTree>
    <p:extLst>
      <p:ext uri="{BB962C8B-B14F-4D97-AF65-F5344CB8AC3E}">
        <p14:creationId xmlns:p14="http://schemas.microsoft.com/office/powerpoint/2010/main" val="3011354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A0F7-C626-F3DA-6D70-6BCDF97E48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0BB7C3-4FF4-F05B-1440-7F9BB73C5A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4E69D3-79D3-3826-EE67-366F5B901C55}"/>
              </a:ext>
            </a:extLst>
          </p:cNvPr>
          <p:cNvSpPr>
            <a:spLocks noGrp="1"/>
          </p:cNvSpPr>
          <p:nvPr>
            <p:ph type="body" idx="1"/>
          </p:nvPr>
        </p:nvSpPr>
        <p:spPr/>
        <p:txBody>
          <a:bodyPr/>
          <a:lstStyle/>
          <a:p>
            <a:r>
              <a:rPr lang="en-GB" altLang="zh-CN"/>
              <a:t>disrupting traffic flow</a:t>
            </a:r>
            <a:endParaRPr lang="zh-CN" altLang="en-US"/>
          </a:p>
        </p:txBody>
      </p:sp>
      <p:sp>
        <p:nvSpPr>
          <p:cNvPr id="4" name="灯片编号占位符 3">
            <a:extLst>
              <a:ext uri="{FF2B5EF4-FFF2-40B4-BE49-F238E27FC236}">
                <a16:creationId xmlns:a16="http://schemas.microsoft.com/office/drawing/2014/main" id="{166A8CDB-0C32-6547-A9A2-5876419DCA1A}"/>
              </a:ext>
            </a:extLst>
          </p:cNvPr>
          <p:cNvSpPr>
            <a:spLocks noGrp="1"/>
          </p:cNvSpPr>
          <p:nvPr>
            <p:ph type="sldNum" sz="quarter" idx="10"/>
          </p:nvPr>
        </p:nvSpPr>
        <p:spPr/>
        <p:txBody>
          <a:bodyPr/>
          <a:lstStyle/>
          <a:p>
            <a:fld id="{F2E81C92-FB04-4531-AA7B-867E9634CAD9}" type="slidenum">
              <a:rPr lang="zh-CN" altLang="en-US" smtClean="0"/>
              <a:t>15</a:t>
            </a:fld>
            <a:endParaRPr lang="zh-CN" altLang="en-US"/>
          </a:p>
        </p:txBody>
      </p:sp>
    </p:spTree>
    <p:extLst>
      <p:ext uri="{BB962C8B-B14F-4D97-AF65-F5344CB8AC3E}">
        <p14:creationId xmlns:p14="http://schemas.microsoft.com/office/powerpoint/2010/main" val="1527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F9BB-BAB9-7C13-189A-3366C521C2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285A4F-4EB7-284E-2638-D2E58BB7A6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12F3BF-B58B-7458-F397-E58C194D928D}"/>
              </a:ext>
            </a:extLst>
          </p:cNvPr>
          <p:cNvSpPr>
            <a:spLocks noGrp="1"/>
          </p:cNvSpPr>
          <p:nvPr>
            <p:ph type="body" idx="1"/>
          </p:nvPr>
        </p:nvSpPr>
        <p:spPr/>
        <p:txBody>
          <a:bodyPr/>
          <a:lstStyle/>
          <a:p>
            <a:r>
              <a:rPr lang="en-GB" altLang="zh-CN"/>
              <a:t>disrupting traffic flow</a:t>
            </a:r>
            <a:endParaRPr lang="zh-CN" altLang="en-US"/>
          </a:p>
        </p:txBody>
      </p:sp>
      <p:sp>
        <p:nvSpPr>
          <p:cNvPr id="4" name="灯片编号占位符 3">
            <a:extLst>
              <a:ext uri="{FF2B5EF4-FFF2-40B4-BE49-F238E27FC236}">
                <a16:creationId xmlns:a16="http://schemas.microsoft.com/office/drawing/2014/main" id="{98170F86-5C86-279E-6CCA-73CBD6BF31B0}"/>
              </a:ext>
            </a:extLst>
          </p:cNvPr>
          <p:cNvSpPr>
            <a:spLocks noGrp="1"/>
          </p:cNvSpPr>
          <p:nvPr>
            <p:ph type="sldNum" sz="quarter" idx="10"/>
          </p:nvPr>
        </p:nvSpPr>
        <p:spPr/>
        <p:txBody>
          <a:bodyPr/>
          <a:lstStyle/>
          <a:p>
            <a:fld id="{F2E81C92-FB04-4531-AA7B-867E9634CAD9}" type="slidenum">
              <a:rPr lang="zh-CN" altLang="en-US" smtClean="0"/>
              <a:t>16</a:t>
            </a:fld>
            <a:endParaRPr lang="zh-CN" altLang="en-US"/>
          </a:p>
        </p:txBody>
      </p:sp>
    </p:spTree>
    <p:extLst>
      <p:ext uri="{BB962C8B-B14F-4D97-AF65-F5344CB8AC3E}">
        <p14:creationId xmlns:p14="http://schemas.microsoft.com/office/powerpoint/2010/main" val="1019888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285EA-15BC-4BAD-DFAE-F2B38CEDE5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DED244-A6D0-E2FE-F7E6-89CB72386C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D25D3F-FC6D-0AFD-B520-099BF59C453C}"/>
              </a:ext>
            </a:extLst>
          </p:cNvPr>
          <p:cNvSpPr>
            <a:spLocks noGrp="1"/>
          </p:cNvSpPr>
          <p:nvPr>
            <p:ph type="body" idx="1"/>
          </p:nvPr>
        </p:nvSpPr>
        <p:spPr/>
        <p:txBody>
          <a:bodyPr/>
          <a:lstStyle/>
          <a:p>
            <a:r>
              <a:rPr lang="en-GB" altLang="zh-CN"/>
              <a:t>disrupting traffic flow</a:t>
            </a:r>
            <a:endParaRPr lang="zh-CN" altLang="en-US"/>
          </a:p>
        </p:txBody>
      </p:sp>
      <p:sp>
        <p:nvSpPr>
          <p:cNvPr id="4" name="灯片编号占位符 3">
            <a:extLst>
              <a:ext uri="{FF2B5EF4-FFF2-40B4-BE49-F238E27FC236}">
                <a16:creationId xmlns:a16="http://schemas.microsoft.com/office/drawing/2014/main" id="{E146A9D9-02CA-D516-8943-C8F000E7516A}"/>
              </a:ext>
            </a:extLst>
          </p:cNvPr>
          <p:cNvSpPr>
            <a:spLocks noGrp="1"/>
          </p:cNvSpPr>
          <p:nvPr>
            <p:ph type="sldNum" sz="quarter" idx="10"/>
          </p:nvPr>
        </p:nvSpPr>
        <p:spPr/>
        <p:txBody>
          <a:bodyPr/>
          <a:lstStyle/>
          <a:p>
            <a:fld id="{F2E81C92-FB04-4531-AA7B-867E9634CAD9}" type="slidenum">
              <a:rPr lang="zh-CN" altLang="en-US" smtClean="0"/>
              <a:t>17</a:t>
            </a:fld>
            <a:endParaRPr lang="zh-CN" altLang="en-US"/>
          </a:p>
        </p:txBody>
      </p:sp>
    </p:spTree>
    <p:extLst>
      <p:ext uri="{BB962C8B-B14F-4D97-AF65-F5344CB8AC3E}">
        <p14:creationId xmlns:p14="http://schemas.microsoft.com/office/powerpoint/2010/main" val="1269843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D912D-A9FC-2268-6033-CCD2ED2AA8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FA959C-6C30-2C6C-B402-50E0CD94E2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37849D-314A-A00D-822A-2D197D1133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83F2A06-24C2-18CE-680F-C3B4BEC08399}"/>
              </a:ext>
            </a:extLst>
          </p:cNvPr>
          <p:cNvSpPr>
            <a:spLocks noGrp="1"/>
          </p:cNvSpPr>
          <p:nvPr>
            <p:ph type="sldNum" sz="quarter" idx="10"/>
          </p:nvPr>
        </p:nvSpPr>
        <p:spPr/>
        <p:txBody>
          <a:bodyPr/>
          <a:lstStyle/>
          <a:p>
            <a:fld id="{F2E81C92-FB04-4531-AA7B-867E9634CAD9}" type="slidenum">
              <a:rPr lang="zh-CN" altLang="en-US" smtClean="0"/>
              <a:t>18</a:t>
            </a:fld>
            <a:endParaRPr lang="zh-CN" altLang="en-US"/>
          </a:p>
        </p:txBody>
      </p:sp>
    </p:spTree>
    <p:extLst>
      <p:ext uri="{BB962C8B-B14F-4D97-AF65-F5344CB8AC3E}">
        <p14:creationId xmlns:p14="http://schemas.microsoft.com/office/powerpoint/2010/main" val="2601594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62BDA-840D-D365-B86A-0E2E8F0482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8A6906-B150-788C-2BC7-546823BEED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499786-4F95-4BC7-4286-ADE1DBFC11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995995-0961-9E2F-D55A-DE319C94BA33}"/>
              </a:ext>
            </a:extLst>
          </p:cNvPr>
          <p:cNvSpPr>
            <a:spLocks noGrp="1"/>
          </p:cNvSpPr>
          <p:nvPr>
            <p:ph type="sldNum" sz="quarter" idx="10"/>
          </p:nvPr>
        </p:nvSpPr>
        <p:spPr/>
        <p:txBody>
          <a:bodyPr/>
          <a:lstStyle/>
          <a:p>
            <a:fld id="{F2E81C92-FB04-4531-AA7B-867E9634CAD9}" type="slidenum">
              <a:rPr lang="zh-CN" altLang="en-US" smtClean="0"/>
              <a:t>19</a:t>
            </a:fld>
            <a:endParaRPr lang="zh-CN" altLang="en-US"/>
          </a:p>
        </p:txBody>
      </p:sp>
    </p:spTree>
    <p:extLst>
      <p:ext uri="{BB962C8B-B14F-4D97-AF65-F5344CB8AC3E}">
        <p14:creationId xmlns:p14="http://schemas.microsoft.com/office/powerpoint/2010/main" val="4279918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D889-B950-66E3-1DB8-BD9CAD9F96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2CEE1D-7CB1-3C74-4025-B9AD15F0B4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C9905F-5667-F1B4-4D01-AFFD6C570CA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0A98B1-79C0-9882-C94C-6C477F946E27}"/>
              </a:ext>
            </a:extLst>
          </p:cNvPr>
          <p:cNvSpPr>
            <a:spLocks noGrp="1"/>
          </p:cNvSpPr>
          <p:nvPr>
            <p:ph type="sldNum" sz="quarter" idx="10"/>
          </p:nvPr>
        </p:nvSpPr>
        <p:spPr/>
        <p:txBody>
          <a:bodyPr/>
          <a:lstStyle/>
          <a:p>
            <a:fld id="{F2E81C92-FB04-4531-AA7B-867E9634CAD9}" type="slidenum">
              <a:rPr lang="zh-CN" altLang="en-US" smtClean="0"/>
              <a:t>20</a:t>
            </a:fld>
            <a:endParaRPr lang="zh-CN" altLang="en-US"/>
          </a:p>
        </p:txBody>
      </p:sp>
    </p:spTree>
    <p:extLst>
      <p:ext uri="{BB962C8B-B14F-4D97-AF65-F5344CB8AC3E}">
        <p14:creationId xmlns:p14="http://schemas.microsoft.com/office/powerpoint/2010/main" val="1683449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55398-AA78-CEC0-1F34-5F11E52F0C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9751E1-0C29-2FC3-3622-F27B24F1C7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8DD3ED-6835-CAA1-F4F7-92B7F2A6B9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7095504-72DC-83BB-4B11-EA3E02C1F202}"/>
              </a:ext>
            </a:extLst>
          </p:cNvPr>
          <p:cNvSpPr>
            <a:spLocks noGrp="1"/>
          </p:cNvSpPr>
          <p:nvPr>
            <p:ph type="sldNum" sz="quarter" idx="10"/>
          </p:nvPr>
        </p:nvSpPr>
        <p:spPr/>
        <p:txBody>
          <a:bodyPr/>
          <a:lstStyle/>
          <a:p>
            <a:fld id="{F2E81C92-FB04-4531-AA7B-867E9634CAD9}" type="slidenum">
              <a:rPr lang="zh-CN" altLang="en-US" smtClean="0"/>
              <a:t>21</a:t>
            </a:fld>
            <a:endParaRPr lang="zh-CN" altLang="en-US"/>
          </a:p>
        </p:txBody>
      </p:sp>
    </p:spTree>
    <p:extLst>
      <p:ext uri="{BB962C8B-B14F-4D97-AF65-F5344CB8AC3E}">
        <p14:creationId xmlns:p14="http://schemas.microsoft.com/office/powerpoint/2010/main" val="24512627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2C10-FA28-6583-D845-D607E40E22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48820D-CF6A-4B32-CB28-537111C199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7D265E-9A0A-5BEE-214A-22ED44436F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BCA5DB3-FEBB-FCC6-4171-012AA58554FA}"/>
              </a:ext>
            </a:extLst>
          </p:cNvPr>
          <p:cNvSpPr>
            <a:spLocks noGrp="1"/>
          </p:cNvSpPr>
          <p:nvPr>
            <p:ph type="sldNum" sz="quarter" idx="10"/>
          </p:nvPr>
        </p:nvSpPr>
        <p:spPr/>
        <p:txBody>
          <a:bodyPr/>
          <a:lstStyle/>
          <a:p>
            <a:fld id="{F2E81C92-FB04-4531-AA7B-867E9634CAD9}" type="slidenum">
              <a:rPr lang="zh-CN" altLang="en-US" smtClean="0"/>
              <a:t>22</a:t>
            </a:fld>
            <a:endParaRPr lang="zh-CN" altLang="en-US"/>
          </a:p>
        </p:txBody>
      </p:sp>
    </p:spTree>
    <p:extLst>
      <p:ext uri="{BB962C8B-B14F-4D97-AF65-F5344CB8AC3E}">
        <p14:creationId xmlns:p14="http://schemas.microsoft.com/office/powerpoint/2010/main" val="3529820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C7566-2566-2F03-542D-DDDE58EDCA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0D1BAE-9FDE-B4B4-DBE7-EE0A9FC345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3F3DBE-4871-EF66-1082-0F363AC19FD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21F715-5AF4-933B-7BE3-2D447BAB12CC}"/>
              </a:ext>
            </a:extLst>
          </p:cNvPr>
          <p:cNvSpPr>
            <a:spLocks noGrp="1"/>
          </p:cNvSpPr>
          <p:nvPr>
            <p:ph type="sldNum" sz="quarter" idx="10"/>
          </p:nvPr>
        </p:nvSpPr>
        <p:spPr/>
        <p:txBody>
          <a:bodyPr/>
          <a:lstStyle/>
          <a:p>
            <a:fld id="{F2E81C92-FB04-4531-AA7B-867E9634CAD9}" type="slidenum">
              <a:rPr lang="zh-CN" altLang="en-US" smtClean="0"/>
              <a:t>23</a:t>
            </a:fld>
            <a:endParaRPr lang="zh-CN" altLang="en-US"/>
          </a:p>
        </p:txBody>
      </p:sp>
    </p:spTree>
    <p:extLst>
      <p:ext uri="{BB962C8B-B14F-4D97-AF65-F5344CB8AC3E}">
        <p14:creationId xmlns:p14="http://schemas.microsoft.com/office/powerpoint/2010/main" val="3144601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3FFC-F62B-25E0-F911-51B86DA649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EB78C6-C89D-B40B-DF24-7A000AFF75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C39789-9D29-0D65-CC9C-51A8E4A0210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CDC7BB3-4095-F26F-D9C2-4F9847DCC435}"/>
              </a:ext>
            </a:extLst>
          </p:cNvPr>
          <p:cNvSpPr>
            <a:spLocks noGrp="1"/>
          </p:cNvSpPr>
          <p:nvPr>
            <p:ph type="sldNum" sz="quarter" idx="10"/>
          </p:nvPr>
        </p:nvSpPr>
        <p:spPr/>
        <p:txBody>
          <a:bodyPr/>
          <a:lstStyle/>
          <a:p>
            <a:fld id="{F2E81C92-FB04-4531-AA7B-867E9634CAD9}" type="slidenum">
              <a:rPr lang="zh-CN" altLang="en-US" smtClean="0"/>
              <a:t>24</a:t>
            </a:fld>
            <a:endParaRPr lang="zh-CN" altLang="en-US"/>
          </a:p>
        </p:txBody>
      </p:sp>
    </p:spTree>
    <p:extLst>
      <p:ext uri="{BB962C8B-B14F-4D97-AF65-F5344CB8AC3E}">
        <p14:creationId xmlns:p14="http://schemas.microsoft.com/office/powerpoint/2010/main" val="528494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E251A-7FD5-26D6-263E-2626C4C5A6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611792-01D8-06C3-66FC-4DD1639FB6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7BB8DE-E80C-92B2-D55B-4AC96CC04B1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AACBEB2-8CFF-4DCD-8381-BE2544446D9E}"/>
              </a:ext>
            </a:extLst>
          </p:cNvPr>
          <p:cNvSpPr>
            <a:spLocks noGrp="1"/>
          </p:cNvSpPr>
          <p:nvPr>
            <p:ph type="sldNum" sz="quarter" idx="10"/>
          </p:nvPr>
        </p:nvSpPr>
        <p:spPr/>
        <p:txBody>
          <a:bodyPr/>
          <a:lstStyle/>
          <a:p>
            <a:fld id="{F2E81C92-FB04-4531-AA7B-867E9634CAD9}" type="slidenum">
              <a:rPr lang="zh-CN" altLang="en-US" smtClean="0"/>
              <a:t>25</a:t>
            </a:fld>
            <a:endParaRPr lang="zh-CN" altLang="en-US"/>
          </a:p>
        </p:txBody>
      </p:sp>
    </p:spTree>
    <p:extLst>
      <p:ext uri="{BB962C8B-B14F-4D97-AF65-F5344CB8AC3E}">
        <p14:creationId xmlns:p14="http://schemas.microsoft.com/office/powerpoint/2010/main" val="2020050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FAFF-8483-CF47-A532-AAFCDF7481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81CA44-BB37-06A4-C976-79EDA10D5F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FEDB88-F242-15D5-F88D-BC32E8CD91F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227BE2-49AE-3616-1811-EB4354E044F7}"/>
              </a:ext>
            </a:extLst>
          </p:cNvPr>
          <p:cNvSpPr>
            <a:spLocks noGrp="1"/>
          </p:cNvSpPr>
          <p:nvPr>
            <p:ph type="sldNum" sz="quarter" idx="10"/>
          </p:nvPr>
        </p:nvSpPr>
        <p:spPr/>
        <p:txBody>
          <a:bodyPr/>
          <a:lstStyle/>
          <a:p>
            <a:fld id="{F2E81C92-FB04-4531-AA7B-867E9634CAD9}" type="slidenum">
              <a:rPr lang="zh-CN" altLang="en-US" smtClean="0"/>
              <a:t>26</a:t>
            </a:fld>
            <a:endParaRPr lang="zh-CN" altLang="en-US"/>
          </a:p>
        </p:txBody>
      </p:sp>
    </p:spTree>
    <p:extLst>
      <p:ext uri="{BB962C8B-B14F-4D97-AF65-F5344CB8AC3E}">
        <p14:creationId xmlns:p14="http://schemas.microsoft.com/office/powerpoint/2010/main" val="14984475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54DBA-CBC1-DA97-6262-8C7D377A04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92E2E6-24A5-E8DE-233D-2DBFB97FF1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466885-CEAC-D950-B88F-0E0B975C734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F2F7A17-A0C2-5416-CD95-4F4BAB55A01F}"/>
              </a:ext>
            </a:extLst>
          </p:cNvPr>
          <p:cNvSpPr>
            <a:spLocks noGrp="1"/>
          </p:cNvSpPr>
          <p:nvPr>
            <p:ph type="sldNum" sz="quarter" idx="10"/>
          </p:nvPr>
        </p:nvSpPr>
        <p:spPr/>
        <p:txBody>
          <a:bodyPr/>
          <a:lstStyle/>
          <a:p>
            <a:fld id="{F2E81C92-FB04-4531-AA7B-867E9634CAD9}" type="slidenum">
              <a:rPr lang="zh-CN" altLang="en-US" smtClean="0"/>
              <a:t>27</a:t>
            </a:fld>
            <a:endParaRPr lang="zh-CN" altLang="en-US"/>
          </a:p>
        </p:txBody>
      </p:sp>
    </p:spTree>
    <p:extLst>
      <p:ext uri="{BB962C8B-B14F-4D97-AF65-F5344CB8AC3E}">
        <p14:creationId xmlns:p14="http://schemas.microsoft.com/office/powerpoint/2010/main" val="23307161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44FA-EB88-F210-CBD0-733078A0C3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E41857-9F07-0850-1290-AC9CD071C3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983AAF-6516-7C6B-E1C9-8A7E318B495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7CDB650-E11F-CE48-E61E-7EFC772BECC7}"/>
              </a:ext>
            </a:extLst>
          </p:cNvPr>
          <p:cNvSpPr>
            <a:spLocks noGrp="1"/>
          </p:cNvSpPr>
          <p:nvPr>
            <p:ph type="sldNum" sz="quarter" idx="10"/>
          </p:nvPr>
        </p:nvSpPr>
        <p:spPr/>
        <p:txBody>
          <a:bodyPr/>
          <a:lstStyle/>
          <a:p>
            <a:fld id="{F2E81C92-FB04-4531-AA7B-867E9634CAD9}" type="slidenum">
              <a:rPr lang="zh-CN" altLang="en-US" smtClean="0"/>
              <a:t>28</a:t>
            </a:fld>
            <a:endParaRPr lang="zh-CN" altLang="en-US"/>
          </a:p>
        </p:txBody>
      </p:sp>
    </p:spTree>
    <p:extLst>
      <p:ext uri="{BB962C8B-B14F-4D97-AF65-F5344CB8AC3E}">
        <p14:creationId xmlns:p14="http://schemas.microsoft.com/office/powerpoint/2010/main" val="2266867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8" name="箭头: V 形 17">
            <a:extLst>
              <a:ext uri="{FF2B5EF4-FFF2-40B4-BE49-F238E27FC236}">
                <a16:creationId xmlns:a16="http://schemas.microsoft.com/office/drawing/2014/main" id="{ECE152CB-7CE0-0C2F-EE01-497BF371AEDD}"/>
              </a:ext>
            </a:extLst>
          </p:cNvPr>
          <p:cNvSpPr/>
          <p:nvPr userDrawn="1"/>
        </p:nvSpPr>
        <p:spPr>
          <a:xfrm>
            <a:off x="827669" y="455207"/>
            <a:ext cx="378750" cy="421268"/>
          </a:xfrm>
          <a:prstGeom prst="chevron">
            <a:avLst/>
          </a:prstGeom>
          <a:solidFill>
            <a:schemeClr val="accent1"/>
          </a:solidFill>
          <a:ln>
            <a:noFill/>
          </a:ln>
          <a:effectLst>
            <a:outerShdw blurRad="190500" dist="50800" dir="540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lvl="0" algn="ctr"/>
            <a:endParaRPr lang="zh-CN" altLang="en-US" sz="2800">
              <a:solidFill>
                <a:schemeClr val="bg1"/>
              </a:solidFill>
              <a:latin typeface="思源宋体 CN Heavy" panose="02020900000000000000" pitchFamily="18" charset="-122"/>
              <a:ea typeface="思源宋体 CN Heavy" panose="02020900000000000000" pitchFamily="18" charset="-122"/>
            </a:endParaRPr>
          </a:p>
        </p:txBody>
      </p:sp>
      <p:sp>
        <p:nvSpPr>
          <p:cNvPr id="19" name="箭头: V 形 18">
            <a:extLst>
              <a:ext uri="{FF2B5EF4-FFF2-40B4-BE49-F238E27FC236}">
                <a16:creationId xmlns:a16="http://schemas.microsoft.com/office/drawing/2014/main" id="{69E39D34-3063-D47A-8F07-5DE588D9F0A7}"/>
              </a:ext>
            </a:extLst>
          </p:cNvPr>
          <p:cNvSpPr/>
          <p:nvPr userDrawn="1"/>
        </p:nvSpPr>
        <p:spPr>
          <a:xfrm>
            <a:off x="588182" y="459707"/>
            <a:ext cx="378750" cy="421268"/>
          </a:xfrm>
          <a:prstGeom prst="chevr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箭头: 五边形 2">
            <a:extLst>
              <a:ext uri="{FF2B5EF4-FFF2-40B4-BE49-F238E27FC236}">
                <a16:creationId xmlns:a16="http://schemas.microsoft.com/office/drawing/2014/main" id="{262C54C0-B84F-581B-3BE8-03E7C2BB2EE4}"/>
              </a:ext>
            </a:extLst>
          </p:cNvPr>
          <p:cNvSpPr/>
          <p:nvPr userDrawn="1"/>
        </p:nvSpPr>
        <p:spPr>
          <a:xfrm flipH="1">
            <a:off x="5231506" y="6678000"/>
            <a:ext cx="6960494" cy="180000"/>
          </a:xfrm>
          <a:prstGeom prst="homePlate">
            <a:avLst/>
          </a:prstGeom>
          <a:solidFill>
            <a:schemeClr val="accent2"/>
          </a:solidFill>
          <a:ln>
            <a:noFill/>
          </a:ln>
          <a:effectLst>
            <a:outerShdw blurRad="254000" dist="50800" dir="5400000" algn="ctr"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5" name="直接连接符 4">
            <a:extLst>
              <a:ext uri="{FF2B5EF4-FFF2-40B4-BE49-F238E27FC236}">
                <a16:creationId xmlns:a16="http://schemas.microsoft.com/office/drawing/2014/main" id="{2AE34341-ECC8-1A70-4056-BAB6029AA14A}"/>
              </a:ext>
            </a:extLst>
          </p:cNvPr>
          <p:cNvCxnSpPr/>
          <p:nvPr userDrawn="1"/>
        </p:nvCxnSpPr>
        <p:spPr>
          <a:xfrm>
            <a:off x="1278613" y="937560"/>
            <a:ext cx="1091338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0003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840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C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042832"/>
      </p:ext>
    </p:extLst>
  </p:cSld>
  <p:clrMap bg1="lt1" tx1="dk1" bg2="lt2" tx2="dk2" accent1="accent1" accent2="accent2" accent3="accent3" accent4="accent4" accent5="accent5" accent6="accent6" hlink="hlink" folHlink="folHlink"/>
  <p:sldLayoutIdLst>
    <p:sldLayoutId id="2147483676" r:id="rId1"/>
    <p:sldLayoutId id="2147483682" r:id="rId2"/>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gi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www.luogu.com.cn/problem/P1337" TargetMode="External"/><Relationship Id="rId5" Type="http://schemas.openxmlformats.org/officeDocument/2006/relationships/hyperlink" Target="file:///E:\UpupooSave\work\CPU\&#21608;&#24120;\P1337%20%5bJSOI2004%5d%20&#24179;&#34913;&#28857;%20%20&#21514;&#25171;XXX.cpp" TargetMode="Externa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B203-8B55-B440-9659-3554D4EDD502}"/>
            </a:ext>
          </a:extLst>
        </p:cNvPr>
        <p:cNvGrpSpPr/>
        <p:nvPr/>
      </p:nvGrpSpPr>
      <p:grpSpPr>
        <a:xfrm>
          <a:off x="0" y="0"/>
          <a:ext cx="0" cy="0"/>
          <a:chOff x="0" y="0"/>
          <a:chExt cx="0" cy="0"/>
        </a:xfrm>
      </p:grpSpPr>
      <p:sp>
        <p:nvSpPr>
          <p:cNvPr id="54" name="文本框 53">
            <a:extLst>
              <a:ext uri="{FF2B5EF4-FFF2-40B4-BE49-F238E27FC236}">
                <a16:creationId xmlns:a16="http://schemas.microsoft.com/office/drawing/2014/main" id="{5200A6EA-92DE-622F-E4B7-BC4C2900CA76}"/>
              </a:ext>
            </a:extLst>
          </p:cNvPr>
          <p:cNvSpPr txBox="1"/>
          <p:nvPr/>
        </p:nvSpPr>
        <p:spPr>
          <a:xfrm>
            <a:off x="1088792" y="2702646"/>
            <a:ext cx="10127905" cy="584775"/>
          </a:xfrm>
          <a:prstGeom prst="rect">
            <a:avLst/>
          </a:prstGeom>
          <a:noFill/>
        </p:spPr>
        <p:txBody>
          <a:bodyPr wrap="square" rtlCol="0">
            <a:spAutoFit/>
          </a:bodyPr>
          <a:lstStyle/>
          <a:p>
            <a:pPr algn="ctr"/>
            <a:r>
              <a:rPr lang="en-US" altLang="zh-CN" sz="3200" b="1" dirty="0">
                <a:latin typeface="Arial" panose="020B0604020202020204" pitchFamily="34" charset="0"/>
                <a:ea typeface="Red Hat Display Black" panose="02010303040201060303" pitchFamily="2" charset="0"/>
                <a:cs typeface="Arial" panose="020B0604020202020204" pitchFamily="34" charset="0"/>
              </a:rPr>
              <a:t>Randomized Algorithms and Simulated Annealing</a:t>
            </a:r>
            <a:endParaRPr lang="zh-CN" altLang="en-US" sz="3200" b="1" dirty="0">
              <a:latin typeface="Arial" panose="020B0604020202020204" pitchFamily="34" charset="0"/>
              <a:cs typeface="Arial" panose="020B0604020202020204" pitchFamily="34" charset="0"/>
            </a:endParaRPr>
          </a:p>
        </p:txBody>
      </p:sp>
      <p:sp>
        <p:nvSpPr>
          <p:cNvPr id="78" name="文本框 77">
            <a:extLst>
              <a:ext uri="{FF2B5EF4-FFF2-40B4-BE49-F238E27FC236}">
                <a16:creationId xmlns:a16="http://schemas.microsoft.com/office/drawing/2014/main" id="{E9C0A0B9-F71F-C21A-D543-368084EFE8C5}"/>
              </a:ext>
            </a:extLst>
          </p:cNvPr>
          <p:cNvSpPr txBox="1"/>
          <p:nvPr/>
        </p:nvSpPr>
        <p:spPr>
          <a:xfrm>
            <a:off x="10062838" y="3724446"/>
            <a:ext cx="1576457" cy="338554"/>
          </a:xfrm>
          <a:prstGeom prst="rect">
            <a:avLst/>
          </a:prstGeom>
          <a:noFill/>
        </p:spPr>
        <p:txBody>
          <a:bodyPr wrap="none" rtlCol="0">
            <a:spAutoFit/>
          </a:bodyPr>
          <a:lstStyle/>
          <a:p>
            <a:r>
              <a:rPr lang="en-US" altLang="zh-CN" sz="1600" dirty="0">
                <a:latin typeface="Arial" panose="020B0604020202020204" pitchFamily="34" charset="0"/>
                <a:ea typeface="思源宋体 CN Heavy" panose="02020900000000000000" pitchFamily="18" charset="-122"/>
                <a:cs typeface="Arial" panose="020B0604020202020204" pitchFamily="34" charset="0"/>
              </a:rPr>
              <a:t>Yiming</a:t>
            </a:r>
            <a:r>
              <a:rPr lang="zh-CN" altLang="en-US" sz="1600" dirty="0">
                <a:latin typeface="Arial" panose="020B0604020202020204" pitchFamily="34" charset="0"/>
                <a:ea typeface="思源宋体 CN Heavy" panose="02020900000000000000" pitchFamily="18" charset="-122"/>
                <a:cs typeface="Arial" panose="020B0604020202020204" pitchFamily="34" charset="0"/>
              </a:rPr>
              <a:t> </a:t>
            </a:r>
            <a:r>
              <a:rPr lang="en-US" altLang="zh-CN" sz="1600" dirty="0">
                <a:latin typeface="Arial" panose="020B0604020202020204" pitchFamily="34" charset="0"/>
                <a:ea typeface="思源宋体 CN Heavy" panose="02020900000000000000" pitchFamily="18" charset="-122"/>
                <a:cs typeface="Arial" panose="020B0604020202020204" pitchFamily="34" charset="0"/>
              </a:rPr>
              <a:t>ZHANG</a:t>
            </a:r>
            <a:endParaRPr lang="zh-CN" altLang="en-US" sz="1600" dirty="0">
              <a:latin typeface="Arial" panose="020B0604020202020204" pitchFamily="34" charset="0"/>
              <a:ea typeface="思源宋体 CN Heavy" panose="02020900000000000000" pitchFamily="18" charset="-122"/>
              <a:cs typeface="Arial" panose="020B0604020202020204" pitchFamily="34" charset="0"/>
            </a:endParaRPr>
          </a:p>
        </p:txBody>
      </p:sp>
      <p:cxnSp>
        <p:nvCxnSpPr>
          <p:cNvPr id="4" name="直接连接符 3">
            <a:extLst>
              <a:ext uri="{FF2B5EF4-FFF2-40B4-BE49-F238E27FC236}">
                <a16:creationId xmlns:a16="http://schemas.microsoft.com/office/drawing/2014/main" id="{88E81613-2E47-F0F6-4761-7E45CF38324C}"/>
              </a:ext>
            </a:extLst>
          </p:cNvPr>
          <p:cNvCxnSpPr/>
          <p:nvPr/>
        </p:nvCxnSpPr>
        <p:spPr>
          <a:xfrm>
            <a:off x="807396" y="3429000"/>
            <a:ext cx="10690698" cy="0"/>
          </a:xfrm>
          <a:prstGeom prst="line">
            <a:avLst/>
          </a:prstGeom>
          <a:ln w="79375">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801451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E180D4A7-C9FB-4DFB-919C-405C955672EB}">
      <p14:showEvtLst xmlns:p14="http://schemas.microsoft.com/office/powerpoint/2010/main">
        <p14:playEvt time="1" objId="4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C51EA-3278-A8BF-5510-58248BE7376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6C1CC74-1F99-EE9F-059F-B0D9A0A04A34}"/>
              </a:ext>
            </a:extLst>
          </p:cNvPr>
          <p:cNvSpPr txBox="1"/>
          <p:nvPr/>
        </p:nvSpPr>
        <p:spPr>
          <a:xfrm>
            <a:off x="1241394" y="409922"/>
            <a:ext cx="1422184"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a:solidFill>
                  <a:schemeClr val="accent1"/>
                </a:solidFill>
                <a:latin typeface="Arial" panose="020B0604020202020204" pitchFamily="34" charset="0"/>
                <a:cs typeface="Arial" panose="020B0604020202020204" pitchFamily="34" charset="0"/>
                <a:sym typeface="思源黑体 CN Medium" panose="020B0600000000000000" pitchFamily="34" charset="-122"/>
              </a:rPr>
              <a:t>Outline</a:t>
            </a:r>
          </a:p>
        </p:txBody>
      </p:sp>
      <p:sp>
        <p:nvSpPr>
          <p:cNvPr id="4" name="文本框 3">
            <a:extLst>
              <a:ext uri="{FF2B5EF4-FFF2-40B4-BE49-F238E27FC236}">
                <a16:creationId xmlns:a16="http://schemas.microsoft.com/office/drawing/2014/main" id="{552FFF4C-892C-CD2E-6EC8-6B0659600A98}"/>
              </a:ext>
            </a:extLst>
          </p:cNvPr>
          <p:cNvSpPr txBox="1"/>
          <p:nvPr/>
        </p:nvSpPr>
        <p:spPr>
          <a:xfrm>
            <a:off x="695324" y="3933849"/>
            <a:ext cx="9007476" cy="2187458"/>
          </a:xfrm>
          <a:prstGeom prst="rect">
            <a:avLst/>
          </a:prstGeom>
          <a:noFill/>
        </p:spPr>
        <p:txBody>
          <a:bodyPr wrap="square" rtlCol="0">
            <a:spAutoFit/>
          </a:bodyPr>
          <a:lstStyle/>
          <a:p>
            <a:pPr>
              <a:lnSpc>
                <a:spcPct val="150000"/>
              </a:lnSpc>
            </a:pPr>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2. Simulated Annealing</a:t>
            </a:r>
            <a:r>
              <a:rPr lang="zh-CN" altLang="en-US"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a:t>
            </a:r>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SA</a:t>
            </a:r>
            <a:r>
              <a:rPr lang="zh-CN" altLang="en-US"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a:t>
            </a:r>
            <a:endPar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800100" lvl="1" indent="-342900" defTabSz="987425" fontAlgn="base">
              <a:lnSpc>
                <a:spcPct val="150000"/>
              </a:lnSpc>
              <a:spcBef>
                <a:spcPct val="0"/>
              </a:spcBef>
              <a:spcAft>
                <a:spcPts val="800"/>
              </a:spcAft>
              <a:buSzPts val="1600"/>
              <a:buFont typeface="Arial" panose="020B0604020202020204" pitchFamily="34" charset="0"/>
              <a:buChar char="•"/>
            </a:pPr>
            <a:r>
              <a:rPr lang="af-ZA" altLang="zh-CN" sz="2000" kern="100" dirty="0">
                <a:solidFill>
                  <a:srgbClr val="404040"/>
                </a:solidFill>
                <a:latin typeface="Arial" panose="020B0604020202020204" pitchFamily="34" charset="0"/>
                <a:ea typeface="等线" panose="02010600030101010101" pitchFamily="2" charset="-122"/>
                <a:cs typeface="Arial" panose="020B0604020202020204" pitchFamily="34" charset="0"/>
              </a:rPr>
              <a:t>Method of Climbing &amp; Limitation</a:t>
            </a:r>
          </a:p>
          <a:p>
            <a:pPr marL="800100" lvl="1" indent="-342900" defTabSz="987425" fontAlgn="base">
              <a:lnSpc>
                <a:spcPct val="150000"/>
              </a:lnSpc>
              <a:spcBef>
                <a:spcPct val="0"/>
              </a:spcBef>
              <a:spcAft>
                <a:spcPts val="800"/>
              </a:spcAft>
              <a:buSzPts val="1600"/>
              <a:buFont typeface="Arial" panose="020B0604020202020204" pitchFamily="34" charset="0"/>
              <a:buChar char="•"/>
            </a:pPr>
            <a:r>
              <a:rPr lang="af-ZA" altLang="zh-CN" sz="2000" kern="100" dirty="0">
                <a:solidFill>
                  <a:srgbClr val="404040"/>
                </a:solidFill>
                <a:latin typeface="Arial" panose="020B0604020202020204" pitchFamily="34" charset="0"/>
                <a:ea typeface="等线" panose="02010600030101010101" pitchFamily="2" charset="-122"/>
                <a:cs typeface="Arial" panose="020B0604020202020204" pitchFamily="34" charset="0"/>
              </a:rPr>
              <a:t>Algorithm Implementation</a:t>
            </a:r>
          </a:p>
          <a:p>
            <a:pPr marL="800100" lvl="1" indent="-342900" defTabSz="987425" fontAlgn="base">
              <a:lnSpc>
                <a:spcPct val="150000"/>
              </a:lnSpc>
              <a:spcBef>
                <a:spcPct val="0"/>
              </a:spcBef>
              <a:spcAft>
                <a:spcPts val="800"/>
              </a:spcAft>
              <a:buSzPts val="1600"/>
              <a:buFont typeface="Arial" panose="020B0604020202020204" pitchFamily="34" charset="0"/>
              <a:buChar char="•"/>
            </a:pPr>
            <a:r>
              <a:rPr lang="af-ZA" altLang="zh-CN" sz="2000" kern="100" dirty="0">
                <a:solidFill>
                  <a:srgbClr val="404040"/>
                </a:solidFill>
                <a:latin typeface="Arial" panose="020B0604020202020204" pitchFamily="34" charset="0"/>
                <a:ea typeface="等线" panose="02010600030101010101" pitchFamily="2" charset="-122"/>
                <a:cs typeface="Arial" panose="020B0604020202020204" pitchFamily="34" charset="0"/>
              </a:rPr>
              <a:t>Further – About Genetic Algorithm (GA) </a:t>
            </a:r>
            <a:r>
              <a:rPr lang="zh-CN" altLang="en-US" sz="1600" kern="100" dirty="0">
                <a:solidFill>
                  <a:srgbClr val="777777"/>
                </a:solidFill>
                <a:latin typeface="Arial" panose="020B0604020202020204" pitchFamily="34" charset="0"/>
                <a:ea typeface="等线" panose="02010600030101010101" pitchFamily="2" charset="-122"/>
                <a:cs typeface="Arial" panose="020B0604020202020204" pitchFamily="34" charset="0"/>
              </a:rPr>
              <a:t>遗传算法</a:t>
            </a:r>
          </a:p>
        </p:txBody>
      </p:sp>
      <p:grpSp>
        <p:nvGrpSpPr>
          <p:cNvPr id="15" name="组合 14">
            <a:extLst>
              <a:ext uri="{FF2B5EF4-FFF2-40B4-BE49-F238E27FC236}">
                <a16:creationId xmlns:a16="http://schemas.microsoft.com/office/drawing/2014/main" id="{EC4A3EE8-D06E-9970-3B4E-2F95ACEBA596}"/>
              </a:ext>
            </a:extLst>
          </p:cNvPr>
          <p:cNvGrpSpPr/>
          <p:nvPr/>
        </p:nvGrpSpPr>
        <p:grpSpPr>
          <a:xfrm>
            <a:off x="695324" y="1184378"/>
            <a:ext cx="8220076" cy="2536230"/>
            <a:chOff x="695324" y="1174978"/>
            <a:chExt cx="8220076" cy="2536230"/>
          </a:xfrm>
        </p:grpSpPr>
        <p:sp>
          <p:nvSpPr>
            <p:cNvPr id="2" name="文本框 1">
              <a:extLst>
                <a:ext uri="{FF2B5EF4-FFF2-40B4-BE49-F238E27FC236}">
                  <a16:creationId xmlns:a16="http://schemas.microsoft.com/office/drawing/2014/main" id="{8B80A863-CC48-B195-9B49-FEDD082DABCF}"/>
                </a:ext>
              </a:extLst>
            </p:cNvPr>
            <p:cNvSpPr txBox="1"/>
            <p:nvPr/>
          </p:nvSpPr>
          <p:spPr>
            <a:xfrm>
              <a:off x="695324" y="1174978"/>
              <a:ext cx="8220076" cy="1717843"/>
            </a:xfrm>
            <a:prstGeom prst="rect">
              <a:avLst/>
            </a:prstGeom>
            <a:noFill/>
          </p:spPr>
          <p:txBody>
            <a:bodyPr wrap="square" rtlCol="0">
              <a:spAutoFit/>
            </a:bodyPr>
            <a:lstStyle/>
            <a:p>
              <a:pPr defTabSz="987425" fontAlgn="base">
                <a:lnSpc>
                  <a:spcPct val="150000"/>
                </a:lnSpc>
                <a:spcBef>
                  <a:spcPct val="0"/>
                </a:spcBef>
                <a:spcAft>
                  <a:spcPts val="800"/>
                </a:spcAft>
                <a:buSzPct val="100000"/>
              </a:pPr>
              <a:r>
                <a:rPr lang="en-US" altLang="zh-CN" sz="2000" b="1" kern="100" dirty="0">
                  <a:solidFill>
                    <a:srgbClr val="404040"/>
                  </a:solidFill>
                  <a:latin typeface="Arial" panose="020B0604020202020204" pitchFamily="34" charset="0"/>
                  <a:ea typeface="等线" panose="02010600030101010101" pitchFamily="2" charset="-122"/>
                  <a:cs typeface="Arial" panose="020B0604020202020204" pitchFamily="34" charset="0"/>
                </a:rPr>
                <a:t>1. </a:t>
              </a:r>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About Randomized Algorithms </a:t>
              </a:r>
            </a:p>
            <a:p>
              <a:pPr marL="800100" lvl="1" indent="-342900" defTabSz="987425" fontAlgn="base">
                <a:lnSpc>
                  <a:spcPct val="150000"/>
                </a:lnSpc>
                <a:spcBef>
                  <a:spcPct val="0"/>
                </a:spcBef>
                <a:spcAft>
                  <a:spcPts val="800"/>
                </a:spcAft>
                <a:buSzPts val="1600"/>
                <a:buFont typeface="Arial" panose="020B0604020202020204" pitchFamily="34" charset="0"/>
                <a:buChar char="•"/>
              </a:pPr>
              <a:r>
                <a:rPr lang="en-US" altLang="zh-CN" sz="2000" kern="100" dirty="0">
                  <a:solidFill>
                    <a:srgbClr val="404040"/>
                  </a:solidFill>
                  <a:latin typeface="Arial" panose="020B0604020202020204" pitchFamily="34" charset="0"/>
                  <a:ea typeface="等线" panose="02010600030101010101" pitchFamily="2" charset="-122"/>
                  <a:cs typeface="Arial" panose="020B0604020202020204" pitchFamily="34" charset="0"/>
                </a:rPr>
                <a:t>The Limits of Determinism: Why We Need Randomness</a:t>
              </a:r>
            </a:p>
            <a:p>
              <a:pPr marL="800100" lvl="1" indent="-342900" defTabSz="987425" fontAlgn="base">
                <a:lnSpc>
                  <a:spcPct val="150000"/>
                </a:lnSpc>
                <a:spcBef>
                  <a:spcPct val="0"/>
                </a:spcBef>
                <a:spcAft>
                  <a:spcPts val="800"/>
                </a:spcAft>
                <a:buSzPts val="1600"/>
                <a:buFont typeface="Arial" panose="020B0604020202020204" pitchFamily="34" charset="0"/>
                <a:buChar char="•"/>
              </a:pPr>
              <a:r>
                <a:rPr lang="en-US" altLang="zh-CN" sz="2000" kern="100" dirty="0">
                  <a:solidFill>
                    <a:srgbClr val="404040"/>
                  </a:solidFill>
                  <a:latin typeface="Arial" panose="020B0604020202020204" pitchFamily="34" charset="0"/>
                  <a:ea typeface="等线" panose="02010600030101010101" pitchFamily="2" charset="-122"/>
                  <a:cs typeface="Arial" panose="020B0604020202020204" pitchFamily="34" charset="0"/>
                </a:rPr>
                <a:t>Purposeful Uncertainty : What are Randomized Algorithms</a:t>
              </a:r>
            </a:p>
          </p:txBody>
        </p:sp>
        <p:grpSp>
          <p:nvGrpSpPr>
            <p:cNvPr id="14" name="组合 13">
              <a:extLst>
                <a:ext uri="{FF2B5EF4-FFF2-40B4-BE49-F238E27FC236}">
                  <a16:creationId xmlns:a16="http://schemas.microsoft.com/office/drawing/2014/main" id="{0DEF8F4A-443A-C396-FF89-D6A5724E4D17}"/>
                </a:ext>
              </a:extLst>
            </p:cNvPr>
            <p:cNvGrpSpPr/>
            <p:nvPr/>
          </p:nvGrpSpPr>
          <p:grpSpPr>
            <a:xfrm>
              <a:off x="1793914" y="2974780"/>
              <a:ext cx="4648161" cy="736428"/>
              <a:chOff x="1812386" y="2947071"/>
              <a:chExt cx="4648161" cy="736428"/>
            </a:xfrm>
          </p:grpSpPr>
          <p:sp>
            <p:nvSpPr>
              <p:cNvPr id="8" name="文本框 7">
                <a:extLst>
                  <a:ext uri="{FF2B5EF4-FFF2-40B4-BE49-F238E27FC236}">
                    <a16:creationId xmlns:a16="http://schemas.microsoft.com/office/drawing/2014/main" id="{87979536-960A-DC07-81F9-716ADD9BF863}"/>
                  </a:ext>
                </a:extLst>
              </p:cNvPr>
              <p:cNvSpPr txBox="1"/>
              <p:nvPr/>
            </p:nvSpPr>
            <p:spPr>
              <a:xfrm>
                <a:off x="1812387" y="2947071"/>
                <a:ext cx="4425910" cy="338554"/>
              </a:xfrm>
              <a:prstGeom prst="rect">
                <a:avLst/>
              </a:prstGeom>
              <a:noFill/>
            </p:spPr>
            <p:txBody>
              <a:bodyPr wrap="square" rtlCol="0">
                <a:spAutoFit/>
              </a:bodyPr>
              <a:lstStyle/>
              <a:p>
                <a:r>
                  <a:rPr lang="en-US" altLang="zh-CN" sz="1600" kern="100" dirty="0">
                    <a:solidFill>
                      <a:srgbClr val="404040"/>
                    </a:solidFill>
                    <a:latin typeface="Arial" panose="020B0604020202020204" pitchFamily="34" charset="0"/>
                    <a:ea typeface="等线" panose="02010600030101010101" pitchFamily="2" charset="-122"/>
                    <a:cs typeface="Arial" panose="020B0604020202020204" pitchFamily="34" charset="0"/>
                  </a:rPr>
                  <a:t>Monte Carlo methods </a:t>
                </a:r>
                <a:r>
                  <a:rPr lang="zh-CN" altLang="en-US" sz="1600" kern="100" dirty="0">
                    <a:solidFill>
                      <a:srgbClr val="777777"/>
                    </a:solidFill>
                    <a:latin typeface="Arial" panose="020B0604020202020204" pitchFamily="34" charset="0"/>
                    <a:ea typeface="等线" panose="02010600030101010101" pitchFamily="2" charset="-122"/>
                    <a:cs typeface="Arial" panose="020B0604020202020204" pitchFamily="34" charset="0"/>
                  </a:rPr>
                  <a:t>蒙特卡洛方法</a:t>
                </a:r>
              </a:p>
            </p:txBody>
          </p:sp>
          <p:sp>
            <p:nvSpPr>
              <p:cNvPr id="9" name="文本框 8">
                <a:extLst>
                  <a:ext uri="{FF2B5EF4-FFF2-40B4-BE49-F238E27FC236}">
                    <a16:creationId xmlns:a16="http://schemas.microsoft.com/office/drawing/2014/main" id="{A7F3EAD7-F3C3-3633-6CC7-5B3272F3D2A4}"/>
                  </a:ext>
                </a:extLst>
              </p:cNvPr>
              <p:cNvSpPr txBox="1"/>
              <p:nvPr/>
            </p:nvSpPr>
            <p:spPr>
              <a:xfrm>
                <a:off x="1812386" y="3344945"/>
                <a:ext cx="4648161" cy="338554"/>
              </a:xfrm>
              <a:prstGeom prst="rect">
                <a:avLst/>
              </a:prstGeom>
              <a:noFill/>
            </p:spPr>
            <p:txBody>
              <a:bodyPr wrap="square" rtlCol="0">
                <a:spAutoFit/>
              </a:bodyPr>
              <a:lstStyle/>
              <a:p>
                <a:r>
                  <a:rPr lang="en-US" altLang="zh-CN" sz="1600" kern="100" dirty="0">
                    <a:solidFill>
                      <a:srgbClr val="404040"/>
                    </a:solidFill>
                    <a:latin typeface="Arial" panose="020B0604020202020204" pitchFamily="34" charset="0"/>
                    <a:ea typeface="等线" panose="02010600030101010101" pitchFamily="2" charset="-122"/>
                    <a:cs typeface="Arial" panose="020B0604020202020204" pitchFamily="34" charset="0"/>
                  </a:rPr>
                  <a:t>Las Vegas algorithms </a:t>
                </a:r>
                <a:r>
                  <a:rPr lang="zh-CN" altLang="en-US" sz="1600" kern="100" dirty="0">
                    <a:solidFill>
                      <a:srgbClr val="777777"/>
                    </a:solidFill>
                    <a:latin typeface="Arial" panose="020B0604020202020204" pitchFamily="34" charset="0"/>
                    <a:ea typeface="等线" panose="02010600030101010101" pitchFamily="2" charset="-122"/>
                    <a:cs typeface="Arial" panose="020B0604020202020204" pitchFamily="34" charset="0"/>
                  </a:rPr>
                  <a:t>拉斯维加斯算法</a:t>
                </a:r>
              </a:p>
            </p:txBody>
          </p:sp>
        </p:grpSp>
      </p:grpSp>
    </p:spTree>
    <p:extLst>
      <p:ext uri="{BB962C8B-B14F-4D97-AF65-F5344CB8AC3E}">
        <p14:creationId xmlns:p14="http://schemas.microsoft.com/office/powerpoint/2010/main" val="201368539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326A-82E2-4788-198C-858145F8685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ED3EB09-E639-F5D6-50D8-201521FA83AA}"/>
              </a:ext>
            </a:extLst>
          </p:cNvPr>
          <p:cNvSpPr txBox="1"/>
          <p:nvPr/>
        </p:nvSpPr>
        <p:spPr>
          <a:xfrm>
            <a:off x="1248957" y="406692"/>
            <a:ext cx="8929047"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Why Random</a:t>
            </a:r>
            <a:r>
              <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a:t>
            </a:r>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The strength of Computer Program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grpSp>
        <p:nvGrpSpPr>
          <p:cNvPr id="2" name="组合 1">
            <a:extLst>
              <a:ext uri="{FF2B5EF4-FFF2-40B4-BE49-F238E27FC236}">
                <a16:creationId xmlns:a16="http://schemas.microsoft.com/office/drawing/2014/main" id="{FAA279DA-6E16-9CA8-E8D1-A6CE57433CB6}"/>
              </a:ext>
            </a:extLst>
          </p:cNvPr>
          <p:cNvGrpSpPr/>
          <p:nvPr/>
        </p:nvGrpSpPr>
        <p:grpSpPr>
          <a:xfrm>
            <a:off x="833582" y="1432156"/>
            <a:ext cx="10859943" cy="3993687"/>
            <a:chOff x="833582" y="1432156"/>
            <a:chExt cx="10859943" cy="3993687"/>
          </a:xfrm>
        </p:grpSpPr>
        <p:pic>
          <p:nvPicPr>
            <p:cNvPr id="7" name="图片 6">
              <a:extLst>
                <a:ext uri="{FF2B5EF4-FFF2-40B4-BE49-F238E27FC236}">
                  <a16:creationId xmlns:a16="http://schemas.microsoft.com/office/drawing/2014/main" id="{0D1A8D01-16E9-6B35-DFC8-685C8A05E6A5}"/>
                </a:ext>
              </a:extLst>
            </p:cNvPr>
            <p:cNvPicPr>
              <a:picLocks noChangeAspect="1"/>
            </p:cNvPicPr>
            <p:nvPr/>
          </p:nvPicPr>
          <p:blipFill>
            <a:blip r:embed="rId3" cstate="print">
              <a:extLst>
                <a:ext uri="{28A0092B-C50C-407E-A947-70E740481C1C}">
                  <a14:useLocalDpi xmlns:a14="http://schemas.microsoft.com/office/drawing/2010/main" val="0"/>
                </a:ext>
              </a:extLst>
            </a:blip>
            <a:srcRect l="28959" r="28959"/>
            <a:stretch/>
          </p:blipFill>
          <p:spPr>
            <a:xfrm>
              <a:off x="833582" y="1432156"/>
              <a:ext cx="2522271" cy="3993687"/>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grpSp>
          <p:nvGrpSpPr>
            <p:cNvPr id="14" name="组合 13">
              <a:extLst>
                <a:ext uri="{FF2B5EF4-FFF2-40B4-BE49-F238E27FC236}">
                  <a16:creationId xmlns:a16="http://schemas.microsoft.com/office/drawing/2014/main" id="{9837AE72-2029-5A43-0F83-40A9E1908A20}"/>
                </a:ext>
              </a:extLst>
            </p:cNvPr>
            <p:cNvGrpSpPr/>
            <p:nvPr/>
          </p:nvGrpSpPr>
          <p:grpSpPr>
            <a:xfrm>
              <a:off x="3669949" y="1754742"/>
              <a:ext cx="8023576" cy="3671101"/>
              <a:chOff x="3839808" y="1843735"/>
              <a:chExt cx="3818292" cy="5083161"/>
            </a:xfrm>
          </p:grpSpPr>
          <p:sp>
            <p:nvSpPr>
              <p:cNvPr id="8" name="文本框 7">
                <a:extLst>
                  <a:ext uri="{FF2B5EF4-FFF2-40B4-BE49-F238E27FC236}">
                    <a16:creationId xmlns:a16="http://schemas.microsoft.com/office/drawing/2014/main" id="{D3005997-24A1-E59B-AEBA-C6540661A2D3}"/>
                  </a:ext>
                </a:extLst>
              </p:cNvPr>
              <p:cNvSpPr txBox="1"/>
              <p:nvPr/>
            </p:nvSpPr>
            <p:spPr>
              <a:xfrm>
                <a:off x="3839808" y="1843735"/>
                <a:ext cx="3818292" cy="461665"/>
              </a:xfrm>
              <a:prstGeom prst="rect">
                <a:avLst/>
              </a:prstGeom>
              <a:noFill/>
            </p:spPr>
            <p:txBody>
              <a:bodyPr wrap="square" rtlCol="0">
                <a:spAutoFit/>
              </a:bodyPr>
              <a:lstStyle/>
              <a:p>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Strength</a:t>
                </a:r>
                <a:endParaRPr lang="zh-CN" altLang="en-US" sz="2400" b="1" kern="100" dirty="0">
                  <a:solidFill>
                    <a:srgbClr val="404040"/>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sp>
            <p:nvSpPr>
              <p:cNvPr id="10" name="文本框 9">
                <a:extLst>
                  <a:ext uri="{FF2B5EF4-FFF2-40B4-BE49-F238E27FC236}">
                    <a16:creationId xmlns:a16="http://schemas.microsoft.com/office/drawing/2014/main" id="{B411F83F-1863-8B3B-06A3-03ADD8B29777}"/>
                  </a:ext>
                </a:extLst>
              </p:cNvPr>
              <p:cNvSpPr txBox="1"/>
              <p:nvPr/>
            </p:nvSpPr>
            <p:spPr>
              <a:xfrm>
                <a:off x="3839808" y="2594265"/>
                <a:ext cx="3786562" cy="4332631"/>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marL="342900" lvl="0" indent="-342900" algn="l">
                  <a:lnSpc>
                    <a:spcPct val="100000"/>
                  </a:lnSpc>
                  <a:spcAft>
                    <a:spcPts val="800"/>
                  </a:spcAft>
                  <a:buSzPts val="1600"/>
                  <a:buFont typeface="Arial" panose="020B0604020202020204" pitchFamily="34" charset="0"/>
                  <a:buChar char="•"/>
                </a:pPr>
                <a:r>
                  <a:rPr lang="en-GB" altLang="zh-CN" sz="1800" kern="100" dirty="0">
                    <a:effectLst/>
                    <a:latin typeface="Arial" panose="020B0604020202020204" pitchFamily="34" charset="0"/>
                    <a:ea typeface="等线" panose="02010600030101010101" pitchFamily="2" charset="-122"/>
                    <a:cs typeface="Arial" panose="020B0604020202020204" pitchFamily="34" charset="0"/>
                  </a:rPr>
                  <a:t>Absolute Precision</a:t>
                </a:r>
                <a:r>
                  <a:rPr lang="zh-CN" altLang="en-US" sz="1800" kern="100" dirty="0">
                    <a:latin typeface="Arial" panose="020B0604020202020204" pitchFamily="34" charset="0"/>
                    <a:ea typeface="等线" panose="02010600030101010101" pitchFamily="2" charset="-122"/>
                    <a:cs typeface="Arial" panose="020B0604020202020204" pitchFamily="34" charset="0"/>
                  </a:rPr>
                  <a:t>：</a:t>
                </a:r>
                <a:r>
                  <a:rPr lang="en-US" altLang="zh-CN" sz="1800" kern="100" dirty="0">
                    <a:latin typeface="Arial" panose="020B0604020202020204" pitchFamily="34" charset="0"/>
                    <a:ea typeface="等线" panose="02010600030101010101" pitchFamily="2" charset="-122"/>
                    <a:cs typeface="Arial" panose="020B0604020202020204" pitchFamily="34" charset="0"/>
                  </a:rPr>
                  <a:t>Basic arithmetic operations are error free</a:t>
                </a: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绝对精度，基本算术运算不会出错</a:t>
                </a:r>
                <a:endParaRPr lang="en-GB"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0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High</a:t>
                </a:r>
                <a:r>
                  <a:rPr lang="en-GB" altLang="zh-CN" sz="1800" kern="100" dirty="0">
                    <a:effectLst/>
                    <a:latin typeface="Arial" panose="020B0604020202020204" pitchFamily="34" charset="0"/>
                    <a:ea typeface="等线" panose="02010600030101010101" pitchFamily="2" charset="-122"/>
                    <a:cs typeface="Arial" panose="020B0604020202020204" pitchFamily="34" charset="0"/>
                  </a:rPr>
                  <a:t> Speed</a:t>
                </a:r>
                <a:r>
                  <a:rPr lang="en-GB" altLang="zh-CN" sz="1800" kern="100" dirty="0">
                    <a:latin typeface="Arial" panose="020B0604020202020204" pitchFamily="34" charset="0"/>
                    <a:ea typeface="等线" panose="02010600030101010101" pitchFamily="2" charset="-122"/>
                    <a:cs typeface="Arial" panose="020B0604020202020204" pitchFamily="34" charset="0"/>
                  </a:rPr>
                  <a:t>: </a:t>
                </a:r>
                <a:r>
                  <a:rPr lang="en-US" altLang="zh-CN" sz="1800" kern="100" dirty="0">
                    <a:latin typeface="Arial" panose="020B0604020202020204" pitchFamily="34" charset="0"/>
                    <a:ea typeface="等线" panose="02010600030101010101" pitchFamily="2" charset="-122"/>
                    <a:cs typeface="Arial" panose="020B0604020202020204" pitchFamily="34" charset="0"/>
                  </a:rPr>
                  <a:t>Billions of deterministic operations per second.</a:t>
                </a:r>
                <a:endParaRPr lang="en-GB" altLang="zh-CN" sz="1800" kern="100" dirty="0">
                  <a:latin typeface="Arial" panose="020B0604020202020204" pitchFamily="34" charset="0"/>
                  <a:ea typeface="等线" panose="02010600030101010101" pitchFamily="2" charset="-122"/>
                  <a:cs typeface="Arial" panose="020B0604020202020204" pitchFamily="34" charset="0"/>
                </a:endParaRP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高速，每秒可完成数亿次操作</a:t>
                </a:r>
                <a:endParaRPr lang="en-GB"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00000"/>
                  </a:lnSpc>
                  <a:spcAft>
                    <a:spcPts val="800"/>
                  </a:spcAft>
                  <a:buSzPts val="1600"/>
                  <a:buFont typeface="Arial" panose="020B0604020202020204" pitchFamily="34" charset="0"/>
                  <a:buChar char="•"/>
                </a:pPr>
                <a:r>
                  <a:rPr lang="en-GB" altLang="zh-CN" sz="1800" kern="100" dirty="0">
                    <a:effectLst/>
                    <a:latin typeface="Arial" panose="020B0604020202020204" pitchFamily="34" charset="0"/>
                    <a:ea typeface="等线" panose="02010600030101010101" pitchFamily="2" charset="-122"/>
                    <a:cs typeface="Arial" panose="020B0604020202020204" pitchFamily="34" charset="0"/>
                  </a:rPr>
                  <a:t>Perfect Reproducibility</a:t>
                </a:r>
                <a:r>
                  <a:rPr lang="en-GB" altLang="zh-CN" sz="1800" kern="100" dirty="0">
                    <a:latin typeface="Arial" panose="020B0604020202020204" pitchFamily="34" charset="0"/>
                    <a:ea typeface="等线" panose="02010600030101010101" pitchFamily="2" charset="-122"/>
                    <a:cs typeface="Arial" panose="020B0604020202020204" pitchFamily="34" charset="0"/>
                  </a:rPr>
                  <a:t>: </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Same input always correspond to </a:t>
                </a:r>
                <a:r>
                  <a:rPr lang="en-US" altLang="zh-CN" sz="1800" kern="100" dirty="0">
                    <a:latin typeface="Arial" panose="020B0604020202020204" pitchFamily="34" charset="0"/>
                    <a:ea typeface="等线" panose="02010600030101010101" pitchFamily="2" charset="-122"/>
                    <a:cs typeface="Arial" panose="020B0604020202020204" pitchFamily="34" charset="0"/>
                  </a:rPr>
                  <a:t>s</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ame output</a:t>
                </a:r>
                <a:endParaRPr lang="en-GB" altLang="zh-CN" sz="1800" kern="100" dirty="0">
                  <a:latin typeface="Arial" panose="020B0604020202020204" pitchFamily="34" charset="0"/>
                  <a:ea typeface="等线" panose="02010600030101010101" pitchFamily="2" charset="-122"/>
                  <a:cs typeface="Arial" panose="020B0604020202020204" pitchFamily="34" charset="0"/>
                </a:endParaRP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完美可重复性，相同输入永远对应相同输出</a:t>
                </a:r>
                <a:endParaRPr lang="en-GB"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00000"/>
                  </a:lnSpc>
                  <a:spcAft>
                    <a:spcPts val="800"/>
                  </a:spcAft>
                  <a:buSzPts val="1600"/>
                  <a:buFont typeface="Arial" panose="020B0604020202020204" pitchFamily="34" charset="0"/>
                  <a:buChar char="•"/>
                </a:pPr>
                <a:r>
                  <a:rPr lang="en-GB" altLang="zh-CN" sz="1800" kern="100" dirty="0">
                    <a:effectLst/>
                    <a:latin typeface="Arial" panose="020B0604020202020204" pitchFamily="34" charset="0"/>
                    <a:ea typeface="等线" panose="02010600030101010101" pitchFamily="2" charset="-122"/>
                    <a:cs typeface="Arial" panose="020B0604020202020204" pitchFamily="34" charset="0"/>
                  </a:rPr>
                  <a:t>Conceptual Simplicity</a:t>
                </a:r>
                <a:r>
                  <a:rPr lang="en-GB" altLang="zh-CN" sz="1800" kern="100" dirty="0">
                    <a:latin typeface="Arial" panose="020B0604020202020204" pitchFamily="34" charset="0"/>
                    <a:ea typeface="等线" panose="02010600030101010101" pitchFamily="2" charset="-122"/>
                    <a:cs typeface="Arial" panose="020B0604020202020204" pitchFamily="34" charset="0"/>
                  </a:rPr>
                  <a:t>: </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Follows logical, predictable </a:t>
                </a:r>
                <a:r>
                  <a:rPr lang="en-US" altLang="zh-CN" sz="1800" kern="100" dirty="0">
                    <a:latin typeface="Arial" panose="020B0604020202020204" pitchFamily="34" charset="0"/>
                    <a:ea typeface="等线" panose="02010600030101010101" pitchFamily="2" charset="-122"/>
                    <a:cs typeface="Arial" panose="020B0604020202020204" pitchFamily="34" charset="0"/>
                  </a:rPr>
                  <a:t>operation </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paths.</a:t>
                </a: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概念精简性，遵循有逻辑的，可预测的执行路径</a:t>
                </a:r>
                <a:endParaRPr lang="en-GB"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lvl="0" algn="l">
                  <a:lnSpc>
                    <a:spcPct val="100000"/>
                  </a:lnSpc>
                  <a:spcAft>
                    <a:spcPts val="800"/>
                  </a:spcAft>
                  <a:buSzPts val="1600"/>
                </a:pPr>
                <a:endParaRPr lang="en-GB" altLang="zh-CN" sz="1800" kern="100" dirty="0">
                  <a:effectLst/>
                  <a:latin typeface="Arial" panose="020B0604020202020204" pitchFamily="34" charset="0"/>
                  <a:ea typeface="等线" panose="02010600030101010101" pitchFamily="2" charset="-122"/>
                  <a:cs typeface="Arial" panose="020B0604020202020204" pitchFamily="34" charset="0"/>
                </a:endParaRPr>
              </a:p>
            </p:txBody>
          </p:sp>
        </p:grpSp>
      </p:grpSp>
    </p:spTree>
    <p:extLst>
      <p:ext uri="{BB962C8B-B14F-4D97-AF65-F5344CB8AC3E}">
        <p14:creationId xmlns:p14="http://schemas.microsoft.com/office/powerpoint/2010/main" val="31025513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10BFD6B-C343-3CE4-7052-8FD4478CD9EB}"/>
              </a:ext>
            </a:extLst>
          </p:cNvPr>
          <p:cNvSpPr txBox="1"/>
          <p:nvPr/>
        </p:nvSpPr>
        <p:spPr>
          <a:xfrm>
            <a:off x="1248957" y="406692"/>
            <a:ext cx="9243171"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Why Random</a:t>
            </a:r>
            <a:r>
              <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a:t>
            </a:r>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The Weakness of Computer Program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grpSp>
        <p:nvGrpSpPr>
          <p:cNvPr id="2" name="组合 1">
            <a:extLst>
              <a:ext uri="{FF2B5EF4-FFF2-40B4-BE49-F238E27FC236}">
                <a16:creationId xmlns:a16="http://schemas.microsoft.com/office/drawing/2014/main" id="{1F321735-0C19-63AB-61EF-5202372E1440}"/>
              </a:ext>
            </a:extLst>
          </p:cNvPr>
          <p:cNvGrpSpPr/>
          <p:nvPr/>
        </p:nvGrpSpPr>
        <p:grpSpPr>
          <a:xfrm>
            <a:off x="760461" y="1698361"/>
            <a:ext cx="10671078" cy="3461277"/>
            <a:chOff x="760461" y="1698361"/>
            <a:chExt cx="10671078" cy="3461277"/>
          </a:xfrm>
        </p:grpSpPr>
        <p:pic>
          <p:nvPicPr>
            <p:cNvPr id="7" name="图片 6">
              <a:extLst>
                <a:ext uri="{FF2B5EF4-FFF2-40B4-BE49-F238E27FC236}">
                  <a16:creationId xmlns:a16="http://schemas.microsoft.com/office/drawing/2014/main" id="{F1642D9D-6BFD-8A76-9781-D141F4D4D561}"/>
                </a:ext>
              </a:extLst>
            </p:cNvPr>
            <p:cNvPicPr>
              <a:picLocks noChangeAspect="1"/>
            </p:cNvPicPr>
            <p:nvPr/>
          </p:nvPicPr>
          <p:blipFill>
            <a:blip r:embed="rId3" cstate="print">
              <a:extLst>
                <a:ext uri="{28A0092B-C50C-407E-A947-70E740481C1C}">
                  <a14:useLocalDpi xmlns:a14="http://schemas.microsoft.com/office/drawing/2010/main" val="0"/>
                </a:ext>
              </a:extLst>
            </a:blip>
            <a:srcRect l="13019" r="13019"/>
            <a:stretch/>
          </p:blipFill>
          <p:spPr>
            <a:xfrm>
              <a:off x="9055100" y="2454221"/>
              <a:ext cx="2376439" cy="2421176"/>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grpSp>
          <p:nvGrpSpPr>
            <p:cNvPr id="13" name="组合 12">
              <a:extLst>
                <a:ext uri="{FF2B5EF4-FFF2-40B4-BE49-F238E27FC236}">
                  <a16:creationId xmlns:a16="http://schemas.microsoft.com/office/drawing/2014/main" id="{48485396-1D36-5F5E-C6E3-BEDA221425BB}"/>
                </a:ext>
              </a:extLst>
            </p:cNvPr>
            <p:cNvGrpSpPr/>
            <p:nvPr/>
          </p:nvGrpSpPr>
          <p:grpSpPr>
            <a:xfrm>
              <a:off x="760461" y="1698361"/>
              <a:ext cx="8128352" cy="3461277"/>
              <a:chOff x="3839807" y="4106038"/>
              <a:chExt cx="4551841" cy="1939842"/>
            </a:xfrm>
          </p:grpSpPr>
          <p:sp>
            <p:nvSpPr>
              <p:cNvPr id="5" name="文本框 4">
                <a:extLst>
                  <a:ext uri="{FF2B5EF4-FFF2-40B4-BE49-F238E27FC236}">
                    <a16:creationId xmlns:a16="http://schemas.microsoft.com/office/drawing/2014/main" id="{4ECC5AAE-6382-03A8-79F1-5FDBB5F020EF}"/>
                  </a:ext>
                </a:extLst>
              </p:cNvPr>
              <p:cNvSpPr txBox="1"/>
              <p:nvPr/>
            </p:nvSpPr>
            <p:spPr>
              <a:xfrm>
                <a:off x="3839807" y="4106038"/>
                <a:ext cx="2181844" cy="461665"/>
              </a:xfrm>
              <a:prstGeom prst="rect">
                <a:avLst/>
              </a:prstGeom>
              <a:noFill/>
            </p:spPr>
            <p:txBody>
              <a:bodyPr wrap="square" rtlCol="0">
                <a:spAutoFit/>
              </a:bodyPr>
              <a:lstStyle/>
              <a:p>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Weakness:</a:t>
                </a:r>
                <a:endParaRPr lang="zh-CN" altLang="en-US" sz="2400" b="1" kern="100" dirty="0">
                  <a:solidFill>
                    <a:srgbClr val="404040"/>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sp>
            <p:nvSpPr>
              <p:cNvPr id="11" name="文本框 10">
                <a:extLst>
                  <a:ext uri="{FF2B5EF4-FFF2-40B4-BE49-F238E27FC236}">
                    <a16:creationId xmlns:a16="http://schemas.microsoft.com/office/drawing/2014/main" id="{1483F244-A2E4-49A2-669B-4C1B625637F0}"/>
                  </a:ext>
                </a:extLst>
              </p:cNvPr>
              <p:cNvSpPr txBox="1"/>
              <p:nvPr/>
            </p:nvSpPr>
            <p:spPr>
              <a:xfrm>
                <a:off x="3839807" y="4412969"/>
                <a:ext cx="4551841" cy="1632911"/>
              </a:xfrm>
              <a:prstGeom prst="rect">
                <a:avLst/>
              </a:prstGeom>
              <a:noFill/>
            </p:spPr>
            <p:txBody>
              <a:bodyPr wrap="square" rtlCol="0">
                <a:spAutoFit/>
              </a:bodyPr>
              <a:lstStyle/>
              <a:p>
                <a:pPr marL="342900" indent="-342900" defTabSz="987425" fontAlgn="base">
                  <a:spcBef>
                    <a:spcPct val="0"/>
                  </a:spcBef>
                  <a:spcAft>
                    <a:spcPts val="800"/>
                  </a:spcAft>
                  <a:buSzPts val="1600"/>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Combinatorial Explosion:</a:t>
                </a:r>
                <a:r>
                  <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rPr>
                  <a:t> </a:t>
                </a: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Solution space grows exponentially with the size of the problem  </a:t>
                </a:r>
              </a:p>
              <a:p>
                <a:pPr lvl="1" defTabSz="987425" fontAlgn="base">
                  <a:spcBef>
                    <a:spcPct val="0"/>
                  </a:spcBef>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组合爆炸：解集空间随问题规模指数级增长</a:t>
                </a:r>
                <a:endParaRPr lang="en-US"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indent="-342900" defTabSz="987425" fontAlgn="base">
                  <a:spcBef>
                    <a:spcPct val="0"/>
                  </a:spcBef>
                  <a:spcAft>
                    <a:spcPts val="800"/>
                  </a:spcAft>
                  <a:buSzPts val="1600"/>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Sparse High-Dimensional Data: For high-dimensional problems,</a:t>
                </a:r>
                <a:r>
                  <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rPr>
                  <a:t> </a:t>
                </a: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each data point inhabits a vast, mostly vacant feature space</a:t>
                </a:r>
              </a:p>
              <a:p>
                <a:pPr lvl="1" defTabSz="987425" fontAlgn="base">
                  <a:spcBef>
                    <a:spcPct val="0"/>
                  </a:spcBef>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高维数据稀疏：在高维问题中，每个数据点都位于一个巨大的、大部分为空的特征空间中</a:t>
                </a: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342900" indent="-342900" defTabSz="987425" fontAlgn="base">
                  <a:spcBef>
                    <a:spcPct val="0"/>
                  </a:spcBef>
                  <a:spcAft>
                    <a:spcPts val="800"/>
                  </a:spcAft>
                  <a:buSzPts val="1600"/>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Trade-Off Dilemma:  Difficult to make accurate decision facing equivalent state</a:t>
                </a:r>
              </a:p>
              <a:p>
                <a:pPr lvl="1" defTabSz="987425" fontAlgn="base">
                  <a:spcBef>
                    <a:spcPct val="0"/>
                  </a:spcBef>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决策困境：在等效状态下难以做出准确决策</a:t>
                </a:r>
                <a:endParaRPr lang="en-US"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grpSp>
      </p:grpSp>
    </p:spTree>
    <p:extLst>
      <p:ext uri="{BB962C8B-B14F-4D97-AF65-F5344CB8AC3E}">
        <p14:creationId xmlns:p14="http://schemas.microsoft.com/office/powerpoint/2010/main" val="9388207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4EC12-E5E6-1EF3-11BB-DE4704532F2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E752C36-4423-A657-9CC4-9761CBF6EB91}"/>
              </a:ext>
            </a:extLst>
          </p:cNvPr>
          <p:cNvSpPr txBox="1"/>
          <p:nvPr/>
        </p:nvSpPr>
        <p:spPr>
          <a:xfrm>
            <a:off x="1250919" y="398011"/>
            <a:ext cx="760657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The Fermat Point Problem </a:t>
            </a:r>
            <a:r>
              <a:rPr lang="zh-CN" altLang="en-US" sz="18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费马点问题</a:t>
            </a:r>
            <a:endParaRPr lang="zh-CN" altLang="en-US" sz="16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pic>
        <p:nvPicPr>
          <p:cNvPr id="11" name="图片 10">
            <a:extLst>
              <a:ext uri="{FF2B5EF4-FFF2-40B4-BE49-F238E27FC236}">
                <a16:creationId xmlns:a16="http://schemas.microsoft.com/office/drawing/2014/main" id="{872D48DF-B2B2-16EB-1BFC-91A1AF285369}"/>
              </a:ext>
            </a:extLst>
          </p:cNvPr>
          <p:cNvPicPr>
            <a:picLocks noChangeAspect="1"/>
          </p:cNvPicPr>
          <p:nvPr/>
        </p:nvPicPr>
        <p:blipFill>
          <a:blip r:embed="rId3"/>
          <a:stretch>
            <a:fillRect/>
          </a:stretch>
        </p:blipFill>
        <p:spPr>
          <a:xfrm>
            <a:off x="919740" y="1297475"/>
            <a:ext cx="4336320" cy="4263050"/>
          </a:xfrm>
          <a:prstGeom prst="rect">
            <a:avLst/>
          </a:prstGeom>
        </p:spPr>
      </p:pic>
      <p:grpSp>
        <p:nvGrpSpPr>
          <p:cNvPr id="2" name="组合 1">
            <a:extLst>
              <a:ext uri="{FF2B5EF4-FFF2-40B4-BE49-F238E27FC236}">
                <a16:creationId xmlns:a16="http://schemas.microsoft.com/office/drawing/2014/main" id="{1BE27015-30EA-B954-C46B-4F2000A80302}"/>
              </a:ext>
            </a:extLst>
          </p:cNvPr>
          <p:cNvGrpSpPr/>
          <p:nvPr/>
        </p:nvGrpSpPr>
        <p:grpSpPr>
          <a:xfrm>
            <a:off x="5412711" y="1278242"/>
            <a:ext cx="5629621" cy="4282284"/>
            <a:chOff x="5412711" y="1278242"/>
            <a:chExt cx="5629621" cy="4282284"/>
          </a:xfrm>
        </p:grpSpPr>
        <p:sp>
          <p:nvSpPr>
            <p:cNvPr id="5" name="箭头: 右 4">
              <a:extLst>
                <a:ext uri="{FF2B5EF4-FFF2-40B4-BE49-F238E27FC236}">
                  <a16:creationId xmlns:a16="http://schemas.microsoft.com/office/drawing/2014/main" id="{0A46F71F-5EF4-673C-4DD8-E479873B01A5}"/>
                </a:ext>
              </a:extLst>
            </p:cNvPr>
            <p:cNvSpPr/>
            <p:nvPr/>
          </p:nvSpPr>
          <p:spPr>
            <a:xfrm>
              <a:off x="5412711" y="3203575"/>
              <a:ext cx="1136650" cy="450850"/>
            </a:xfrm>
            <a:prstGeom prst="rightArrow">
              <a:avLst/>
            </a:prstGeom>
            <a:solidFill>
              <a:srgbClr val="0D5D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D41F823F-BBFC-BB37-6590-60D00AAAE420}"/>
                </a:ext>
              </a:extLst>
            </p:cNvPr>
            <p:cNvPicPr>
              <a:picLocks noChangeAspect="1"/>
            </p:cNvPicPr>
            <p:nvPr/>
          </p:nvPicPr>
          <p:blipFill>
            <a:blip r:embed="rId4"/>
            <a:stretch>
              <a:fillRect/>
            </a:stretch>
          </p:blipFill>
          <p:spPr>
            <a:xfrm>
              <a:off x="6706012" y="1278242"/>
              <a:ext cx="4336320" cy="4282284"/>
            </a:xfrm>
            <a:prstGeom prst="rect">
              <a:avLst/>
            </a:prstGeom>
          </p:spPr>
        </p:pic>
      </p:grpSp>
    </p:spTree>
    <p:extLst>
      <p:ext uri="{BB962C8B-B14F-4D97-AF65-F5344CB8AC3E}">
        <p14:creationId xmlns:p14="http://schemas.microsoft.com/office/powerpoint/2010/main" val="91307451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A75D-0C81-E3B4-604C-EC379AB29B08}"/>
            </a:ext>
          </a:extLst>
        </p:cNvPr>
        <p:cNvGrpSpPr/>
        <p:nvPr/>
      </p:nvGrpSpPr>
      <p:grpSpPr>
        <a:xfrm>
          <a:off x="0" y="0"/>
          <a:ext cx="0" cy="0"/>
          <a:chOff x="0" y="0"/>
          <a:chExt cx="0" cy="0"/>
        </a:xfrm>
      </p:grpSpPr>
      <p:pic>
        <p:nvPicPr>
          <p:cNvPr id="4" name="图片 3" descr="文本, 信件&#10;&#10;AI 生成的内容可能不正确。">
            <a:extLst>
              <a:ext uri="{FF2B5EF4-FFF2-40B4-BE49-F238E27FC236}">
                <a16:creationId xmlns:a16="http://schemas.microsoft.com/office/drawing/2014/main" id="{85D019EF-6CF7-5C5B-F466-169BE22838A4}"/>
              </a:ext>
            </a:extLst>
          </p:cNvPr>
          <p:cNvPicPr>
            <a:picLocks noChangeAspect="1"/>
          </p:cNvPicPr>
          <p:nvPr/>
        </p:nvPicPr>
        <p:blipFill>
          <a:blip r:embed="rId3"/>
          <a:stretch>
            <a:fillRect/>
          </a:stretch>
        </p:blipFill>
        <p:spPr>
          <a:xfrm>
            <a:off x="946893" y="1060373"/>
            <a:ext cx="5524500" cy="4430238"/>
          </a:xfrm>
          <a:prstGeom prst="rect">
            <a:avLst/>
          </a:prstGeom>
        </p:spPr>
      </p:pic>
      <p:sp>
        <p:nvSpPr>
          <p:cNvPr id="3" name="文本框 2">
            <a:extLst>
              <a:ext uri="{FF2B5EF4-FFF2-40B4-BE49-F238E27FC236}">
                <a16:creationId xmlns:a16="http://schemas.microsoft.com/office/drawing/2014/main" id="{DA0422E8-182A-BC30-AE1A-15CB18CEBFCE}"/>
              </a:ext>
            </a:extLst>
          </p:cNvPr>
          <p:cNvSpPr txBox="1"/>
          <p:nvPr/>
        </p:nvSpPr>
        <p:spPr>
          <a:xfrm>
            <a:off x="1250919" y="398011"/>
            <a:ext cx="773481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The Fermat Point Problem </a:t>
            </a:r>
            <a:r>
              <a:rPr lang="zh-CN" altLang="en-US" sz="18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费马点问题</a:t>
            </a:r>
            <a:endParaRPr lang="zh-CN" altLang="en-US" sz="24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grpSp>
        <p:nvGrpSpPr>
          <p:cNvPr id="14" name="组合 13">
            <a:extLst>
              <a:ext uri="{FF2B5EF4-FFF2-40B4-BE49-F238E27FC236}">
                <a16:creationId xmlns:a16="http://schemas.microsoft.com/office/drawing/2014/main" id="{175B7575-EEB5-E5E1-3958-57AE15A0351B}"/>
              </a:ext>
            </a:extLst>
          </p:cNvPr>
          <p:cNvGrpSpPr/>
          <p:nvPr/>
        </p:nvGrpSpPr>
        <p:grpSpPr>
          <a:xfrm>
            <a:off x="5781964" y="3133400"/>
            <a:ext cx="6195441" cy="2134744"/>
            <a:chOff x="5302601" y="3038271"/>
            <a:chExt cx="6628622" cy="2284003"/>
          </a:xfrm>
        </p:grpSpPr>
        <p:cxnSp>
          <p:nvCxnSpPr>
            <p:cNvPr id="9" name="直接箭头连接符 8">
              <a:extLst>
                <a:ext uri="{FF2B5EF4-FFF2-40B4-BE49-F238E27FC236}">
                  <a16:creationId xmlns:a16="http://schemas.microsoft.com/office/drawing/2014/main" id="{30EF8F4E-DF40-D740-F2BC-A2BDD0A8C367}"/>
                </a:ext>
              </a:extLst>
            </p:cNvPr>
            <p:cNvCxnSpPr>
              <a:cxnSpLocks/>
            </p:cNvCxnSpPr>
            <p:nvPr/>
          </p:nvCxnSpPr>
          <p:spPr>
            <a:xfrm flipV="1">
              <a:off x="5302601" y="3933107"/>
              <a:ext cx="1334092" cy="1389167"/>
            </a:xfrm>
            <a:prstGeom prst="straightConnector1">
              <a:avLst/>
            </a:prstGeom>
            <a:ln w="76200">
              <a:solidFill>
                <a:srgbClr val="0070C0"/>
              </a:solidFill>
              <a:tailEnd type="triangle"/>
            </a:ln>
          </p:spPr>
          <p:style>
            <a:lnRef idx="1">
              <a:schemeClr val="dk1"/>
            </a:lnRef>
            <a:fillRef idx="0">
              <a:schemeClr val="dk1"/>
            </a:fillRef>
            <a:effectRef idx="0">
              <a:schemeClr val="dk1"/>
            </a:effectRef>
            <a:fontRef idx="minor">
              <a:schemeClr val="tx1"/>
            </a:fontRef>
          </p:style>
        </p:cxnSp>
        <p:pic>
          <p:nvPicPr>
            <p:cNvPr id="8" name="图片 7" descr="文本&#10;&#10;AI 生成的内容可能不正确。">
              <a:extLst>
                <a:ext uri="{FF2B5EF4-FFF2-40B4-BE49-F238E27FC236}">
                  <a16:creationId xmlns:a16="http://schemas.microsoft.com/office/drawing/2014/main" id="{CAACA0AA-803E-0251-09D7-5342FEB506F1}"/>
                </a:ext>
              </a:extLst>
            </p:cNvPr>
            <p:cNvPicPr>
              <a:picLocks noChangeAspect="1"/>
            </p:cNvPicPr>
            <p:nvPr/>
          </p:nvPicPr>
          <p:blipFill>
            <a:blip r:embed="rId4"/>
            <a:stretch>
              <a:fillRect/>
            </a:stretch>
          </p:blipFill>
          <p:spPr>
            <a:xfrm>
              <a:off x="6040234" y="3038271"/>
              <a:ext cx="5890989" cy="781458"/>
            </a:xfrm>
            <a:prstGeom prst="rect">
              <a:avLst/>
            </a:prstGeom>
          </p:spPr>
        </p:pic>
      </p:grpSp>
    </p:spTree>
    <p:extLst>
      <p:ext uri="{BB962C8B-B14F-4D97-AF65-F5344CB8AC3E}">
        <p14:creationId xmlns:p14="http://schemas.microsoft.com/office/powerpoint/2010/main" val="2841761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25AF-124B-7E1E-9AC8-3B93265A93D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7B241BC-4004-9097-93E8-9A6DE3241BFE}"/>
              </a:ext>
            </a:extLst>
          </p:cNvPr>
          <p:cNvSpPr txBox="1"/>
          <p:nvPr/>
        </p:nvSpPr>
        <p:spPr>
          <a:xfrm>
            <a:off x="1250919" y="398011"/>
            <a:ext cx="760657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The Fermat Point Problem </a:t>
            </a:r>
            <a:r>
              <a:rPr lang="zh-CN" altLang="en-US" sz="18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费马点问题</a:t>
            </a:r>
            <a:endParaRPr lang="zh-CN" altLang="en-US" sz="16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pic>
        <p:nvPicPr>
          <p:cNvPr id="11" name="图片 10">
            <a:extLst>
              <a:ext uri="{FF2B5EF4-FFF2-40B4-BE49-F238E27FC236}">
                <a16:creationId xmlns:a16="http://schemas.microsoft.com/office/drawing/2014/main" id="{9324F121-FAD6-E643-5CD7-CECFA691112A}"/>
              </a:ext>
            </a:extLst>
          </p:cNvPr>
          <p:cNvPicPr>
            <a:picLocks noChangeAspect="1"/>
          </p:cNvPicPr>
          <p:nvPr/>
        </p:nvPicPr>
        <p:blipFill>
          <a:blip r:embed="rId3"/>
          <a:stretch>
            <a:fillRect/>
          </a:stretch>
        </p:blipFill>
        <p:spPr>
          <a:xfrm>
            <a:off x="919740" y="1297475"/>
            <a:ext cx="4336320" cy="4263050"/>
          </a:xfrm>
          <a:prstGeom prst="rect">
            <a:avLst/>
          </a:prstGeom>
        </p:spPr>
      </p:pic>
      <p:grpSp>
        <p:nvGrpSpPr>
          <p:cNvPr id="2" name="组合 1">
            <a:extLst>
              <a:ext uri="{FF2B5EF4-FFF2-40B4-BE49-F238E27FC236}">
                <a16:creationId xmlns:a16="http://schemas.microsoft.com/office/drawing/2014/main" id="{3EE751D4-2120-8703-0B82-7961BF55586D}"/>
              </a:ext>
            </a:extLst>
          </p:cNvPr>
          <p:cNvGrpSpPr/>
          <p:nvPr/>
        </p:nvGrpSpPr>
        <p:grpSpPr>
          <a:xfrm>
            <a:off x="5403474" y="1158929"/>
            <a:ext cx="5629621" cy="4401596"/>
            <a:chOff x="5412711" y="1158930"/>
            <a:chExt cx="5629621" cy="4401596"/>
          </a:xfrm>
        </p:grpSpPr>
        <p:sp>
          <p:nvSpPr>
            <p:cNvPr id="5" name="箭头: 右 4">
              <a:extLst>
                <a:ext uri="{FF2B5EF4-FFF2-40B4-BE49-F238E27FC236}">
                  <a16:creationId xmlns:a16="http://schemas.microsoft.com/office/drawing/2014/main" id="{DFF2A2D6-05BA-26B8-98C0-924BCA1808EB}"/>
                </a:ext>
              </a:extLst>
            </p:cNvPr>
            <p:cNvSpPr/>
            <p:nvPr/>
          </p:nvSpPr>
          <p:spPr>
            <a:xfrm>
              <a:off x="5412711" y="3203575"/>
              <a:ext cx="1136650" cy="450850"/>
            </a:xfrm>
            <a:prstGeom prst="rightArrow">
              <a:avLst/>
            </a:prstGeom>
            <a:solidFill>
              <a:srgbClr val="0D5D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F2F82353-6917-E3A6-1DEB-ADB283F995DA}"/>
                </a:ext>
              </a:extLst>
            </p:cNvPr>
            <p:cNvPicPr>
              <a:picLocks noChangeAspect="1"/>
            </p:cNvPicPr>
            <p:nvPr/>
          </p:nvPicPr>
          <p:blipFill>
            <a:blip r:embed="rId4"/>
            <a:srcRect t="-2786" b="-1"/>
            <a:stretch>
              <a:fillRect/>
            </a:stretch>
          </p:blipFill>
          <p:spPr>
            <a:xfrm>
              <a:off x="6706012" y="1158930"/>
              <a:ext cx="4336320" cy="4401596"/>
            </a:xfrm>
            <a:prstGeom prst="rect">
              <a:avLst/>
            </a:prstGeom>
          </p:spPr>
        </p:pic>
      </p:grpSp>
      <p:sp>
        <p:nvSpPr>
          <p:cNvPr id="4" name="椭圆 3">
            <a:extLst>
              <a:ext uri="{FF2B5EF4-FFF2-40B4-BE49-F238E27FC236}">
                <a16:creationId xmlns:a16="http://schemas.microsoft.com/office/drawing/2014/main" id="{6AADECF6-3F65-B9A1-CB92-4412F96988EB}"/>
              </a:ext>
            </a:extLst>
          </p:cNvPr>
          <p:cNvSpPr/>
          <p:nvPr/>
        </p:nvSpPr>
        <p:spPr>
          <a:xfrm>
            <a:off x="2886075" y="2669039"/>
            <a:ext cx="1028699" cy="98538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B4D9D72B-E9CB-53A4-B80F-53C1D2A6C561}"/>
              </a:ext>
            </a:extLst>
          </p:cNvPr>
          <p:cNvSpPr/>
          <p:nvPr/>
        </p:nvSpPr>
        <p:spPr>
          <a:xfrm>
            <a:off x="8648700" y="2669039"/>
            <a:ext cx="1028699" cy="98538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791223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152AC-94F2-9251-F1D5-3CF15956956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043DD26-EEFA-F69F-6134-D94B961D5F4E}"/>
              </a:ext>
            </a:extLst>
          </p:cNvPr>
          <p:cNvSpPr txBox="1"/>
          <p:nvPr/>
        </p:nvSpPr>
        <p:spPr>
          <a:xfrm>
            <a:off x="1250919" y="398011"/>
            <a:ext cx="773481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The Fermat Point Problem </a:t>
            </a:r>
            <a:r>
              <a:rPr lang="zh-CN" altLang="en-US" sz="18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rPr>
              <a:t>费马点问题</a:t>
            </a:r>
            <a:endParaRPr lang="zh-CN" altLang="en-US" sz="2400" b="1" kern="100" dirty="0">
              <a:solidFill>
                <a:srgbClr val="0D5D9D"/>
              </a:solidFill>
              <a:latin typeface="Arial" panose="020B0604020202020204" pitchFamily="34" charset="0"/>
              <a:ea typeface="等线" panose="02010600030101010101" pitchFamily="2" charset="-122"/>
              <a:cs typeface="Arial" panose="020B0604020202020204" pitchFamily="34" charset="0"/>
              <a:sym typeface="思源黑体 CN Medium" panose="020B0600000000000000" pitchFamily="34" charset="-122"/>
            </a:endParaRPr>
          </a:p>
        </p:txBody>
      </p:sp>
      <p:sp>
        <p:nvSpPr>
          <p:cNvPr id="20" name="文本框 19">
            <a:extLst>
              <a:ext uri="{FF2B5EF4-FFF2-40B4-BE49-F238E27FC236}">
                <a16:creationId xmlns:a16="http://schemas.microsoft.com/office/drawing/2014/main" id="{D697BDF3-2FA1-AD65-9E1D-63F757AC4752}"/>
              </a:ext>
            </a:extLst>
          </p:cNvPr>
          <p:cNvSpPr txBox="1"/>
          <p:nvPr/>
        </p:nvSpPr>
        <p:spPr>
          <a:xfrm>
            <a:off x="1528898" y="5622234"/>
            <a:ext cx="9753040" cy="461665"/>
          </a:xfrm>
          <a:prstGeom prst="rect">
            <a:avLst/>
          </a:prstGeom>
          <a:noFill/>
        </p:spPr>
        <p:txBody>
          <a:bodyPr wrap="square" rtlCol="0">
            <a:spAutoFit/>
          </a:bodyPr>
          <a:lstStyle/>
          <a:p>
            <a:r>
              <a:rPr lang="en-US" altLang="zh-CN" sz="2400" b="1" kern="100" dirty="0">
                <a:solidFill>
                  <a:srgbClr val="404040"/>
                </a:solidFill>
                <a:latin typeface="Arial" panose="020B0604020202020204" pitchFamily="34" charset="0"/>
                <a:ea typeface="等线" panose="02010600030101010101" pitchFamily="2" charset="-122"/>
                <a:cs typeface="Arial" panose="020B0604020202020204" pitchFamily="34" charset="0"/>
              </a:rPr>
              <a:t>We can give program “intuition” by introducing randomization</a:t>
            </a:r>
            <a:endParaRPr lang="zh-CN" altLang="en-US" sz="2400" b="1"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grpSp>
        <p:nvGrpSpPr>
          <p:cNvPr id="24" name="组合 23">
            <a:extLst>
              <a:ext uri="{FF2B5EF4-FFF2-40B4-BE49-F238E27FC236}">
                <a16:creationId xmlns:a16="http://schemas.microsoft.com/office/drawing/2014/main" id="{26A2F34C-68BA-B594-22AC-28E5BBB902B3}"/>
              </a:ext>
            </a:extLst>
          </p:cNvPr>
          <p:cNvGrpSpPr/>
          <p:nvPr/>
        </p:nvGrpSpPr>
        <p:grpSpPr>
          <a:xfrm>
            <a:off x="937368" y="1052794"/>
            <a:ext cx="11040037" cy="4437877"/>
            <a:chOff x="937368" y="1052794"/>
            <a:chExt cx="11040037" cy="4437877"/>
          </a:xfrm>
        </p:grpSpPr>
        <p:pic>
          <p:nvPicPr>
            <p:cNvPr id="22" name="图片 21" descr="文本, 信件&#10;&#10;AI 生成的内容可能不正确。">
              <a:extLst>
                <a:ext uri="{FF2B5EF4-FFF2-40B4-BE49-F238E27FC236}">
                  <a16:creationId xmlns:a16="http://schemas.microsoft.com/office/drawing/2014/main" id="{69FB665D-1CEF-ECDC-ACB4-D0021F7C5038}"/>
                </a:ext>
              </a:extLst>
            </p:cNvPr>
            <p:cNvPicPr>
              <a:picLocks noChangeAspect="1"/>
            </p:cNvPicPr>
            <p:nvPr/>
          </p:nvPicPr>
          <p:blipFill>
            <a:blip r:embed="rId3"/>
            <a:stretch>
              <a:fillRect/>
            </a:stretch>
          </p:blipFill>
          <p:spPr>
            <a:xfrm>
              <a:off x="937368" y="1052794"/>
              <a:ext cx="5534025" cy="4437877"/>
            </a:xfrm>
            <a:prstGeom prst="rect">
              <a:avLst/>
            </a:prstGeom>
          </p:spPr>
        </p:pic>
        <p:grpSp>
          <p:nvGrpSpPr>
            <p:cNvPr id="14" name="组合 13">
              <a:extLst>
                <a:ext uri="{FF2B5EF4-FFF2-40B4-BE49-F238E27FC236}">
                  <a16:creationId xmlns:a16="http://schemas.microsoft.com/office/drawing/2014/main" id="{A7D06FF0-168B-BBD6-069E-0DEE5B6378A2}"/>
                </a:ext>
              </a:extLst>
            </p:cNvPr>
            <p:cNvGrpSpPr/>
            <p:nvPr/>
          </p:nvGrpSpPr>
          <p:grpSpPr>
            <a:xfrm>
              <a:off x="5781964" y="3133400"/>
              <a:ext cx="6195441" cy="2134744"/>
              <a:chOff x="5302601" y="3038271"/>
              <a:chExt cx="6628622" cy="2284003"/>
            </a:xfrm>
          </p:grpSpPr>
          <p:cxnSp>
            <p:nvCxnSpPr>
              <p:cNvPr id="9" name="直接箭头连接符 8">
                <a:extLst>
                  <a:ext uri="{FF2B5EF4-FFF2-40B4-BE49-F238E27FC236}">
                    <a16:creationId xmlns:a16="http://schemas.microsoft.com/office/drawing/2014/main" id="{BDDDE1A6-8695-E26F-B465-DC5A12977540}"/>
                  </a:ext>
                </a:extLst>
              </p:cNvPr>
              <p:cNvCxnSpPr>
                <a:cxnSpLocks/>
              </p:cNvCxnSpPr>
              <p:nvPr/>
            </p:nvCxnSpPr>
            <p:spPr>
              <a:xfrm flipV="1">
                <a:off x="5302601" y="3933107"/>
                <a:ext cx="1334092" cy="1389167"/>
              </a:xfrm>
              <a:prstGeom prst="straightConnector1">
                <a:avLst/>
              </a:prstGeom>
              <a:ln w="76200">
                <a:solidFill>
                  <a:srgbClr val="0070C0"/>
                </a:solidFill>
                <a:tailEnd type="triangle"/>
              </a:ln>
            </p:spPr>
            <p:style>
              <a:lnRef idx="1">
                <a:schemeClr val="dk1"/>
              </a:lnRef>
              <a:fillRef idx="0">
                <a:schemeClr val="dk1"/>
              </a:fillRef>
              <a:effectRef idx="0">
                <a:schemeClr val="dk1"/>
              </a:effectRef>
              <a:fontRef idx="minor">
                <a:schemeClr val="tx1"/>
              </a:fontRef>
            </p:style>
          </p:cxnSp>
          <p:pic>
            <p:nvPicPr>
              <p:cNvPr id="8" name="图片 7" descr="文本&#10;&#10;AI 生成的内容可能不正确。">
                <a:extLst>
                  <a:ext uri="{FF2B5EF4-FFF2-40B4-BE49-F238E27FC236}">
                    <a16:creationId xmlns:a16="http://schemas.microsoft.com/office/drawing/2014/main" id="{47E682CE-46C8-AE55-7431-38AE5785233F}"/>
                  </a:ext>
                </a:extLst>
              </p:cNvPr>
              <p:cNvPicPr>
                <a:picLocks noChangeAspect="1"/>
              </p:cNvPicPr>
              <p:nvPr/>
            </p:nvPicPr>
            <p:blipFill>
              <a:blip r:embed="rId4"/>
              <a:stretch>
                <a:fillRect/>
              </a:stretch>
            </p:blipFill>
            <p:spPr>
              <a:xfrm>
                <a:off x="6040234" y="3038271"/>
                <a:ext cx="5890989" cy="781458"/>
              </a:xfrm>
              <a:prstGeom prst="rect">
                <a:avLst/>
              </a:prstGeom>
            </p:spPr>
          </p:pic>
        </p:grpSp>
      </p:grpSp>
    </p:spTree>
    <p:extLst>
      <p:ext uri="{BB962C8B-B14F-4D97-AF65-F5344CB8AC3E}">
        <p14:creationId xmlns:p14="http://schemas.microsoft.com/office/powerpoint/2010/main" val="3954633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BF67C-D729-4793-2E37-872309AC442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5CF3122-FE18-632E-447F-65C03ADC8E80}"/>
              </a:ext>
            </a:extLst>
          </p:cNvPr>
          <p:cNvSpPr txBox="1"/>
          <p:nvPr/>
        </p:nvSpPr>
        <p:spPr>
          <a:xfrm>
            <a:off x="1250919" y="398011"/>
            <a:ext cx="5780237"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What is Randomized Algorithms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grpSp>
        <p:nvGrpSpPr>
          <p:cNvPr id="2" name="组合 1">
            <a:extLst>
              <a:ext uri="{FF2B5EF4-FFF2-40B4-BE49-F238E27FC236}">
                <a16:creationId xmlns:a16="http://schemas.microsoft.com/office/drawing/2014/main" id="{62966FCD-68F9-C4EB-C374-FA60B5A6E54B}"/>
              </a:ext>
            </a:extLst>
          </p:cNvPr>
          <p:cNvGrpSpPr/>
          <p:nvPr/>
        </p:nvGrpSpPr>
        <p:grpSpPr>
          <a:xfrm>
            <a:off x="710590" y="1196073"/>
            <a:ext cx="11235924" cy="3792855"/>
            <a:chOff x="710590" y="1196073"/>
            <a:chExt cx="11235924" cy="3792855"/>
          </a:xfrm>
        </p:grpSpPr>
        <p:pic>
          <p:nvPicPr>
            <p:cNvPr id="17" name="图片 16">
              <a:extLst>
                <a:ext uri="{FF2B5EF4-FFF2-40B4-BE49-F238E27FC236}">
                  <a16:creationId xmlns:a16="http://schemas.microsoft.com/office/drawing/2014/main" id="{07995529-21BF-E408-0373-9946B8A843F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194223" y="2236637"/>
              <a:ext cx="2752291" cy="2752291"/>
            </a:xfrm>
            <a:prstGeom prst="rect">
              <a:avLst/>
            </a:prstGeom>
          </p:spPr>
        </p:pic>
        <p:sp>
          <p:nvSpPr>
            <p:cNvPr id="10" name="文本框 9">
              <a:extLst>
                <a:ext uri="{FF2B5EF4-FFF2-40B4-BE49-F238E27FC236}">
                  <a16:creationId xmlns:a16="http://schemas.microsoft.com/office/drawing/2014/main" id="{4F1FF2AC-B141-46B9-BF3E-40C13FC4961E}"/>
                </a:ext>
              </a:extLst>
            </p:cNvPr>
            <p:cNvSpPr txBox="1"/>
            <p:nvPr/>
          </p:nvSpPr>
          <p:spPr>
            <a:xfrm>
              <a:off x="710590" y="1196073"/>
              <a:ext cx="8185759" cy="2141868"/>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Definition</a:t>
              </a:r>
            </a:p>
            <a:p>
              <a:pPr lvl="0" algn="l">
                <a:lnSpc>
                  <a:spcPct val="120000"/>
                </a:lnSpc>
                <a:spcAft>
                  <a:spcPts val="800"/>
                </a:spcAft>
                <a:buSzPts val="1600"/>
              </a:pPr>
              <a:r>
                <a:rPr lang="en-US" altLang="zh-CN" sz="1800" kern="100" dirty="0">
                  <a:latin typeface="Arial" panose="020B0604020202020204" pitchFamily="34" charset="0"/>
                  <a:ea typeface="等线" panose="02010600030101010101" pitchFamily="2" charset="-122"/>
                  <a:cs typeface="Arial" panose="020B0604020202020204" pitchFamily="34" charset="0"/>
                </a:rPr>
                <a:t>An algorithm that uses random numbers or random selections during execution to influence its behavior, performance, or output. Its correctness or operational efficiency is guaranteed by probability, without absolute certainty.</a:t>
              </a:r>
            </a:p>
            <a:p>
              <a:pPr lvl="0" algn="l">
                <a:lnSpc>
                  <a:spcPct val="120000"/>
                </a:lnSpc>
                <a:spcAft>
                  <a:spcPts val="800"/>
                </a:spcAft>
                <a:buSzPts val="1600"/>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一种在执行过程中使用随机数或随机选择来影响其行为、性能或输出的算法。其正确性或运行效率由概率保证，而无绝对确定性。</a:t>
              </a:r>
              <a:endParaRPr lang="zh-CN" altLang="zh-CN" sz="16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grpSp>
      <p:sp>
        <p:nvSpPr>
          <p:cNvPr id="13" name="文本框 12">
            <a:extLst>
              <a:ext uri="{FF2B5EF4-FFF2-40B4-BE49-F238E27FC236}">
                <a16:creationId xmlns:a16="http://schemas.microsoft.com/office/drawing/2014/main" id="{557E7614-C78B-F564-A2B5-7B7A8FE51526}"/>
              </a:ext>
            </a:extLst>
          </p:cNvPr>
          <p:cNvSpPr txBox="1"/>
          <p:nvPr/>
        </p:nvSpPr>
        <p:spPr>
          <a:xfrm>
            <a:off x="710590" y="3612783"/>
            <a:ext cx="8814409" cy="2554545"/>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Core Concept</a:t>
            </a:r>
          </a:p>
          <a:p>
            <a:pPr marL="342900" lvl="0" indent="-342900" algn="l">
              <a:lnSpc>
                <a:spcPct val="10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Random Sampling: use parts to represent the whole, estimating complex variable</a:t>
            </a: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随机抽样：用局部代表整体，估算复杂变量</a:t>
            </a:r>
            <a:endParaRPr lang="en-US"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0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Randomized Choice: Average performance, avoiding worst-Case state</a:t>
            </a: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随机选择：平均化性能，避免最坏状态</a:t>
            </a:r>
            <a:endParaRPr lang="en-US"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0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Randomized Perturbation: Escape local optima, searching for a global optimum</a:t>
            </a:r>
          </a:p>
          <a:p>
            <a:pPr lvl="1">
              <a:spcAft>
                <a:spcPts val="800"/>
              </a:spcAft>
              <a:buSzPts val="1600"/>
            </a:pP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随机扰动：逃离局部最优</a:t>
            </a:r>
            <a:r>
              <a:rPr lang="en-US"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  </a:t>
            </a:r>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寻找全局最优</a:t>
            </a:r>
            <a:endParaRPr lang="zh-CN" altLang="zh-CN" sz="1400"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24219596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5C30-02D9-E37D-6440-EB93A3E2F7A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447C47A-F6CD-3900-469E-D391A1C3EF8F}"/>
              </a:ext>
            </a:extLst>
          </p:cNvPr>
          <p:cNvSpPr txBox="1"/>
          <p:nvPr/>
        </p:nvSpPr>
        <p:spPr>
          <a:xfrm>
            <a:off x="1250919" y="398011"/>
            <a:ext cx="3959738"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Monte Carlo methods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0" name="文本框 9">
            <a:extLst>
              <a:ext uri="{FF2B5EF4-FFF2-40B4-BE49-F238E27FC236}">
                <a16:creationId xmlns:a16="http://schemas.microsoft.com/office/drawing/2014/main" id="{C25A1163-D6B6-B32F-2FB2-FCCA7EDFEF05}"/>
              </a:ext>
            </a:extLst>
          </p:cNvPr>
          <p:cNvSpPr txBox="1"/>
          <p:nvPr/>
        </p:nvSpPr>
        <p:spPr>
          <a:xfrm>
            <a:off x="650844" y="4080073"/>
            <a:ext cx="8095571" cy="1643783"/>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Feature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Solving determinism with randomness</a:t>
            </a:r>
          </a:p>
          <a:p>
            <a:pPr marL="34290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Correctness is probabilistic </a:t>
            </a:r>
            <a:r>
              <a:rPr lang="en-US" altLang="zh-CN" sz="1800" kern="100" dirty="0">
                <a:latin typeface="Arial" panose="020B0604020202020204" pitchFamily="34" charset="0"/>
                <a:ea typeface="等线" panose="02010600030101010101" pitchFamily="2" charset="-122"/>
                <a:cs typeface="Arial" panose="020B0604020202020204" pitchFamily="34" charset="0"/>
                <a:sym typeface="Wingdings" panose="05000000000000000000" pitchFamily="2" charset="2"/>
              </a:rPr>
              <a:t> often with good expected performance</a:t>
            </a:r>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Particularly powerful for high-dimensional, complex systems</a:t>
            </a:r>
          </a:p>
        </p:txBody>
      </p:sp>
      <p:sp>
        <p:nvSpPr>
          <p:cNvPr id="13" name="文本框 12">
            <a:extLst>
              <a:ext uri="{FF2B5EF4-FFF2-40B4-BE49-F238E27FC236}">
                <a16:creationId xmlns:a16="http://schemas.microsoft.com/office/drawing/2014/main" id="{C4137010-4AD0-E15F-07FA-EC77CB4E07DE}"/>
              </a:ext>
            </a:extLst>
          </p:cNvPr>
          <p:cNvSpPr txBox="1"/>
          <p:nvPr/>
        </p:nvSpPr>
        <p:spPr>
          <a:xfrm>
            <a:off x="650843" y="1299169"/>
            <a:ext cx="10455307" cy="2402966"/>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marL="0" marR="0" lvl="0" indent="0" algn="l" defTabSz="457200" rtl="0" eaLnBrk="1" fontAlgn="auto" latinLnBrk="0" hangingPunct="1">
              <a:lnSpc>
                <a:spcPct val="120000"/>
              </a:lnSpc>
              <a:spcBef>
                <a:spcPts val="0"/>
              </a:spcBef>
              <a:spcAft>
                <a:spcPts val="800"/>
              </a:spcAft>
              <a:buClrTx/>
              <a:buSzPts val="1600"/>
              <a:buFontTx/>
              <a:buNone/>
              <a:tabLst/>
              <a:defRPr/>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lvl="0" algn="l" defTabSz="457200" fontAlgn="auto">
              <a:lnSpc>
                <a:spcPct val="120000"/>
              </a:lnSpc>
              <a:spcBef>
                <a:spcPts val="0"/>
              </a:spcBef>
              <a:spcAft>
                <a:spcPts val="800"/>
              </a:spcAft>
              <a:buSzPts val="1600"/>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The Monte Carlo method is a randomized algorithm that uses model construction and random sampling</a:t>
            </a:r>
            <a:r>
              <a:rPr lang="zh-CN" altLang="en-US" sz="1800" kern="100" dirty="0">
                <a:latin typeface="Arial" panose="020B0604020202020204" pitchFamily="34" charset="0"/>
                <a:ea typeface="等线" panose="02010600030101010101" pitchFamily="2" charset="-122"/>
                <a:cs typeface="Arial" panose="020B0604020202020204" pitchFamily="34" charset="0"/>
              </a:rPr>
              <a:t> </a:t>
            </a:r>
            <a:r>
              <a:rPr lang="en-US" altLang="zh-CN" sz="1800" kern="100" dirty="0">
                <a:latin typeface="Arial" panose="020B0604020202020204" pitchFamily="34" charset="0"/>
                <a:ea typeface="等线" panose="02010600030101010101" pitchFamily="2" charset="-122"/>
                <a:cs typeface="Arial" panose="020B0604020202020204" pitchFamily="34" charset="0"/>
              </a:rPr>
              <a:t>to obtain approximate results. Its running time is usually deterministic, but the result may have some probability of error. It always returns an answer within a finite time, but that answer may be correct with a certain probability</a:t>
            </a:r>
          </a:p>
          <a:p>
            <a:pPr lvl="0" algn="l" defTabSz="457200" fontAlgn="auto">
              <a:lnSpc>
                <a:spcPct val="120000"/>
              </a:lnSpc>
              <a:spcBef>
                <a:spcPts val="0"/>
              </a:spcBef>
              <a:spcAft>
                <a:spcPts val="800"/>
              </a:spcAft>
              <a:buSzPts val="1600"/>
              <a:defRPr/>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蒙特卡洛方法是一种随机化算法，它通过模型构筑和随机采样来获得近似解，其运行时间通常是确定的，但结果可能以一定的概率存在误差。它总是能在有限时间内返回一个答案，但是该答案有一定概率错误</a:t>
            </a:r>
            <a:endPar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7833696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C5078-6C30-BCCE-A904-D0BE0D0DDAC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C24BE06-7DB1-E7C7-9115-4251368C9079}"/>
              </a:ext>
            </a:extLst>
          </p:cNvPr>
          <p:cNvSpPr txBox="1"/>
          <p:nvPr/>
        </p:nvSpPr>
        <p:spPr>
          <a:xfrm>
            <a:off x="1250919" y="398011"/>
            <a:ext cx="4293163"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Estimating </a:t>
            </a:r>
            <a:r>
              <a:rPr lang="el-GR"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π</a:t>
            </a:r>
            <a:r>
              <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 </a:t>
            </a:r>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3E54061-6B7A-EFCB-B665-7ABAF76460D5}"/>
                  </a:ext>
                </a:extLst>
              </p:cNvPr>
              <p:cNvSpPr txBox="1"/>
              <p:nvPr/>
            </p:nvSpPr>
            <p:spPr>
              <a:xfrm>
                <a:off x="558936" y="1231103"/>
                <a:ext cx="11074127" cy="2390141"/>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algn="l">
                  <a:lnSpc>
                    <a:spcPct val="100000"/>
                  </a:lnSpc>
                  <a:spcAft>
                    <a:spcPts val="800"/>
                  </a:spcAft>
                  <a:buSzPts val="1600"/>
                  <a:defRPr/>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marR="0" algn="l">
                  <a:lnSpc>
                    <a:spcPts val="2500"/>
                  </a:lnSpc>
                  <a:spcAft>
                    <a:spcPts val="800"/>
                  </a:spcAft>
                  <a:buClrTx/>
                  <a:buSzPts val="1600"/>
                  <a:tabLst/>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The Buffon‘s Needle algorithm estimates π through a physical probability model: randomly tossing a needle of length d onto a surface with parallel lines spaced d apart. After n tosses, the ratio of observed crossings C to n approximates the theoretical crossing probability. Since this probability equals </a:t>
                </a:r>
                <a14:m>
                  <m:oMath xmlns:m="http://schemas.openxmlformats.org/officeDocument/2006/math">
                    <m:f>
                      <m:fPr>
                        <m:ctrlPr>
                          <a:rPr lang="en-US" altLang="zh-CN" sz="1800" b="1" i="1" kern="100">
                            <a:latin typeface="Cambria Math" panose="02040503050406030204" pitchFamily="18" charset="0"/>
                            <a:ea typeface="等线" panose="02010600030101010101" pitchFamily="2" charset="-122"/>
                            <a:cs typeface="Arial" panose="020B0604020202020204" pitchFamily="34" charset="0"/>
                          </a:rPr>
                        </m:ctrlPr>
                      </m:fPr>
                      <m:num>
                        <m:r>
                          <a:rPr lang="en-US" altLang="zh-CN" sz="1800" b="1" i="1" kern="100">
                            <a:latin typeface="Cambria Math" panose="02040503050406030204" pitchFamily="18" charset="0"/>
                            <a:ea typeface="等线" panose="02010600030101010101" pitchFamily="2" charset="-122"/>
                            <a:cs typeface="Arial" panose="020B0604020202020204" pitchFamily="34" charset="0"/>
                          </a:rPr>
                          <m:t>𝟐</m:t>
                        </m:r>
                        <m:r>
                          <a:rPr lang="en-US" altLang="zh-CN" sz="1800" b="1" i="1" kern="100">
                            <a:latin typeface="Cambria Math" panose="02040503050406030204" pitchFamily="18" charset="0"/>
                            <a:ea typeface="等线" panose="02010600030101010101" pitchFamily="2" charset="-122"/>
                            <a:cs typeface="Arial" panose="020B0604020202020204" pitchFamily="34" charset="0"/>
                          </a:rPr>
                          <m:t>𝒍𝒏</m:t>
                        </m:r>
                      </m:num>
                      <m:den>
                        <m:r>
                          <a:rPr lang="zh-CN" altLang="el-GR" sz="1800" i="1" kern="100">
                            <a:latin typeface="Cambria Math" panose="02040503050406030204" pitchFamily="18" charset="0"/>
                            <a:ea typeface="等线" panose="02010600030101010101" pitchFamily="2" charset="-122"/>
                            <a:cs typeface="Arial" panose="020B0604020202020204" pitchFamily="34" charset="0"/>
                          </a:rPr>
                          <m:t>𝜋</m:t>
                        </m:r>
                        <m:r>
                          <a:rPr lang="en-US" altLang="zh-CN" sz="1800" b="1" i="1" kern="100">
                            <a:latin typeface="Cambria Math" panose="02040503050406030204" pitchFamily="18" charset="0"/>
                            <a:ea typeface="等线" panose="02010600030101010101" pitchFamily="2" charset="-122"/>
                            <a:cs typeface="Arial" panose="020B0604020202020204" pitchFamily="34" charset="0"/>
                          </a:rPr>
                          <m:t>𝒅</m:t>
                        </m:r>
                      </m:den>
                    </m:f>
                    <m:r>
                      <a:rPr lang="en-US" altLang="zh-CN" sz="1800" b="1" i="1" kern="100">
                        <a:latin typeface="Cambria Math" panose="02040503050406030204" pitchFamily="18" charset="0"/>
                        <a:ea typeface="等线" panose="02010600030101010101" pitchFamily="2" charset="-122"/>
                        <a:cs typeface="Arial" panose="020B0604020202020204" pitchFamily="34" charset="0"/>
                      </a:rPr>
                      <m:t> </m:t>
                    </m:r>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rearranging gives the estimator </a:t>
                </a:r>
                <a14:m>
                  <m:oMath xmlns:m="http://schemas.openxmlformats.org/officeDocument/2006/math">
                    <m:r>
                      <a:rPr lang="zh-CN" altLang="el-GR" sz="1800" i="1" kern="100">
                        <a:latin typeface="Cambria Math" panose="02040503050406030204" pitchFamily="18" charset="0"/>
                        <a:ea typeface="等线" panose="02010600030101010101" pitchFamily="2" charset="-122"/>
                        <a:cs typeface="Arial" panose="020B0604020202020204" pitchFamily="34" charset="0"/>
                      </a:rPr>
                      <m:t>𝜋</m:t>
                    </m:r>
                    <m:r>
                      <a:rPr lang="en-US" altLang="zh-CN" sz="1800" i="1" kern="100">
                        <a:latin typeface="Cambria Math" panose="02040503050406030204" pitchFamily="18" charset="0"/>
                        <a:ea typeface="等线" panose="02010600030101010101" pitchFamily="2" charset="-122"/>
                        <a:cs typeface="Arial" panose="020B0604020202020204" pitchFamily="34" charset="0"/>
                      </a:rPr>
                      <m:t>≈</m:t>
                    </m:r>
                    <m:f>
                      <m:fPr>
                        <m:ctrlPr>
                          <a:rPr lang="en-US" altLang="zh-CN" sz="1800" b="1" i="1" kern="100">
                            <a:latin typeface="Cambria Math" panose="02040503050406030204" pitchFamily="18" charset="0"/>
                            <a:ea typeface="等线" panose="02010600030101010101" pitchFamily="2" charset="-122"/>
                            <a:cs typeface="Arial" panose="020B0604020202020204" pitchFamily="34" charset="0"/>
                          </a:rPr>
                        </m:ctrlPr>
                      </m:fPr>
                      <m:num>
                        <m:r>
                          <a:rPr lang="en-US" altLang="zh-CN" sz="1800" b="1" i="1" kern="100">
                            <a:latin typeface="Cambria Math" panose="02040503050406030204" pitchFamily="18" charset="0"/>
                            <a:ea typeface="等线" panose="02010600030101010101" pitchFamily="2" charset="-122"/>
                            <a:cs typeface="Arial" panose="020B0604020202020204" pitchFamily="34" charset="0"/>
                          </a:rPr>
                          <m:t>𝟐</m:t>
                        </m:r>
                        <m:r>
                          <a:rPr lang="en-US" altLang="zh-CN" sz="1800" b="1" i="1" kern="100">
                            <a:latin typeface="Cambria Math" panose="02040503050406030204" pitchFamily="18" charset="0"/>
                            <a:ea typeface="等线" panose="02010600030101010101" pitchFamily="2" charset="-122"/>
                            <a:cs typeface="Arial" panose="020B0604020202020204" pitchFamily="34" charset="0"/>
                          </a:rPr>
                          <m:t>𝒍𝒏</m:t>
                        </m:r>
                      </m:num>
                      <m:den>
                        <m:r>
                          <a:rPr lang="en-US" altLang="zh-CN" sz="1800" b="1" i="1" kern="100">
                            <a:latin typeface="Cambria Math" panose="02040503050406030204" pitchFamily="18" charset="0"/>
                            <a:ea typeface="等线" panose="02010600030101010101" pitchFamily="2" charset="-122"/>
                            <a:cs typeface="Arial" panose="020B0604020202020204" pitchFamily="34" charset="0"/>
                          </a:rPr>
                          <m:t>𝒅𝑪</m:t>
                        </m:r>
                      </m:den>
                    </m:f>
                    <m:r>
                      <a:rPr lang="en-US" altLang="zh-CN" sz="1800" b="1" i="1" kern="100">
                        <a:latin typeface="Cambria Math" panose="02040503050406030204" pitchFamily="18" charset="0"/>
                        <a:ea typeface="等线" panose="02010600030101010101" pitchFamily="2" charset="-122"/>
                        <a:cs typeface="Arial" panose="020B0604020202020204" pitchFamily="34" charset="0"/>
                      </a:rPr>
                      <m:t> </m:t>
                    </m:r>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The estimate converges to</a:t>
                </a:r>
                <a14:m>
                  <m:oMath xmlns:m="http://schemas.openxmlformats.org/officeDocument/2006/math">
                    <m:r>
                      <a:rPr lang="en-US" altLang="zh-CN" sz="1800" b="0" i="0" kern="100" smtClean="0">
                        <a:latin typeface="Cambria Math" panose="02040503050406030204" pitchFamily="18" charset="0"/>
                        <a:ea typeface="等线" panose="02010600030101010101" pitchFamily="2" charset="-122"/>
                        <a:cs typeface="Arial" panose="020B0604020202020204" pitchFamily="34" charset="0"/>
                      </a:rPr>
                      <m:t> </m:t>
                    </m:r>
                    <m:r>
                      <a:rPr lang="zh-CN" altLang="el-GR" sz="1800" i="1" kern="100">
                        <a:latin typeface="Cambria Math" panose="02040503050406030204" pitchFamily="18" charset="0"/>
                        <a:ea typeface="等线" panose="02010600030101010101" pitchFamily="2" charset="-122"/>
                        <a:cs typeface="Arial" panose="020B0604020202020204" pitchFamily="34" charset="0"/>
                      </a:rPr>
                      <m:t>𝜋</m:t>
                    </m:r>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as n increases, by the law of large numbers</a:t>
                </a:r>
              </a:p>
              <a:p>
                <a:pPr marR="0" algn="l">
                  <a:lnSpc>
                    <a:spcPts val="2300"/>
                  </a:lnSpc>
                  <a:spcAft>
                    <a:spcPts val="800"/>
                  </a:spcAft>
                  <a:buClrTx/>
                  <a:buSzPts val="1600"/>
                  <a:tabLst/>
                  <a:defRPr/>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蒲丰投针算法通过一个概率模型估算</a:t>
                </a:r>
                <a14:m>
                  <m:oMath xmlns:m="http://schemas.openxmlformats.org/officeDocument/2006/math">
                    <m:r>
                      <a:rPr lang="zh-CN" altLang="el-GR" kern="100">
                        <a:solidFill>
                          <a:srgbClr val="777777"/>
                        </a:solidFill>
                        <a:latin typeface="Cambria Math" panose="02040503050406030204" pitchFamily="18" charset="0"/>
                        <a:ea typeface="等线" panose="02010600030101010101" pitchFamily="2" charset="-122"/>
                        <a:cs typeface="Arial" panose="020B0604020202020204" pitchFamily="34" charset="0"/>
                      </a:rPr>
                      <m:t>𝜋</m:t>
                    </m:r>
                  </m:oMath>
                </a14:m>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：将长度为</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l</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的针随机投掷到间距为</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d</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的平行线表面上。投掷</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n</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次后，观测到的相交次数</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C</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与</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n</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的比值近似于理论相交概率。因该概率等于</a:t>
                </a:r>
                <a14:m>
                  <m:oMath xmlns:m="http://schemas.openxmlformats.org/officeDocument/2006/math">
                    <m:f>
                      <m:fPr>
                        <m:ctrlPr>
                          <a:rPr lang="en-US" altLang="zh-CN" i="1" kern="100">
                            <a:solidFill>
                              <a:srgbClr val="777777"/>
                            </a:solidFill>
                            <a:latin typeface="Cambria Math" panose="02040503050406030204" pitchFamily="18" charset="0"/>
                            <a:ea typeface="等线" panose="02010600030101010101" pitchFamily="2" charset="-122"/>
                            <a:cs typeface="Arial" panose="020B0604020202020204" pitchFamily="34" charset="0"/>
                          </a:rPr>
                        </m:ctrlPr>
                      </m:fPr>
                      <m:num>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𝟐</m:t>
                        </m:r>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𝒍𝒏</m:t>
                        </m:r>
                      </m:num>
                      <m:den>
                        <m:r>
                          <a:rPr lang="zh-CN" altLang="el-GR" kern="100">
                            <a:solidFill>
                              <a:srgbClr val="777777"/>
                            </a:solidFill>
                            <a:latin typeface="Cambria Math" panose="02040503050406030204" pitchFamily="18" charset="0"/>
                            <a:ea typeface="等线" panose="02010600030101010101" pitchFamily="2" charset="-122"/>
                            <a:cs typeface="Arial" panose="020B0604020202020204" pitchFamily="34" charset="0"/>
                          </a:rPr>
                          <m:t>𝜋</m:t>
                        </m:r>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𝒅</m:t>
                        </m:r>
                      </m:den>
                    </m:f>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 </m:t>
                    </m:r>
                  </m:oMath>
                </a14:m>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，移项可得估算式</a:t>
                </a:r>
                <a14:m>
                  <m:oMath xmlns:m="http://schemas.openxmlformats.org/officeDocument/2006/math">
                    <m:r>
                      <a:rPr lang="zh-CN" altLang="el-GR" kern="100">
                        <a:solidFill>
                          <a:srgbClr val="777777"/>
                        </a:solidFill>
                        <a:latin typeface="Cambria Math" panose="02040503050406030204" pitchFamily="18" charset="0"/>
                        <a:ea typeface="等线" panose="02010600030101010101" pitchFamily="2" charset="-122"/>
                        <a:cs typeface="Arial" panose="020B0604020202020204" pitchFamily="34" charset="0"/>
                      </a:rPr>
                      <m:t>𝜋</m:t>
                    </m:r>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m:t>
                    </m:r>
                    <m:f>
                      <m:fPr>
                        <m:ctrlPr>
                          <a:rPr lang="en-US" altLang="zh-CN" i="1" kern="100">
                            <a:solidFill>
                              <a:srgbClr val="777777"/>
                            </a:solidFill>
                            <a:latin typeface="Cambria Math" panose="02040503050406030204" pitchFamily="18" charset="0"/>
                            <a:ea typeface="等线" panose="02010600030101010101" pitchFamily="2" charset="-122"/>
                            <a:cs typeface="Arial" panose="020B0604020202020204" pitchFamily="34" charset="0"/>
                          </a:rPr>
                        </m:ctrlPr>
                      </m:fPr>
                      <m:num>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𝟐</m:t>
                        </m:r>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𝒍𝒏</m:t>
                        </m:r>
                      </m:num>
                      <m:den>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𝒅𝑪</m:t>
                        </m:r>
                      </m:den>
                    </m:f>
                    <m:r>
                      <a:rPr lang="en-US" altLang="zh-CN" kern="100">
                        <a:solidFill>
                          <a:srgbClr val="777777"/>
                        </a:solidFill>
                        <a:latin typeface="Cambria Math" panose="02040503050406030204" pitchFamily="18" charset="0"/>
                        <a:ea typeface="等线" panose="02010600030101010101" pitchFamily="2" charset="-122"/>
                        <a:cs typeface="Arial" panose="020B0604020202020204" pitchFamily="34" charset="0"/>
                      </a:rPr>
                      <m:t> </m:t>
                    </m:r>
                  </m:oMath>
                </a14:m>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。根据大数定律，随着</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n</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增大，该估计值收敛于</a:t>
                </a:r>
                <a14:m>
                  <m:oMath xmlns:m="http://schemas.openxmlformats.org/officeDocument/2006/math">
                    <m:r>
                      <a:rPr lang="zh-CN" altLang="el-GR" kern="100">
                        <a:solidFill>
                          <a:srgbClr val="777777"/>
                        </a:solidFill>
                        <a:latin typeface="Cambria Math" panose="02040503050406030204" pitchFamily="18" charset="0"/>
                        <a:ea typeface="等线" panose="02010600030101010101" pitchFamily="2" charset="-122"/>
                        <a:cs typeface="Arial" panose="020B0604020202020204" pitchFamily="34" charset="0"/>
                      </a:rPr>
                      <m:t>𝜋</m:t>
                    </m:r>
                  </m:oMath>
                </a14:m>
                <a:endParaRPr lang="en-US" altLang="zh-CN" kern="100" dirty="0">
                  <a:solidFill>
                    <a:srgbClr val="777777"/>
                  </a:solidFill>
                  <a:latin typeface="+mj-ea"/>
                  <a:ea typeface="+mj-ea"/>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63E54061-6B7A-EFCB-B665-7ABAF76460D5}"/>
                  </a:ext>
                </a:extLst>
              </p:cNvPr>
              <p:cNvSpPr txBox="1">
                <a:spLocks noRot="1" noChangeAspect="1" noMove="1" noResize="1" noEditPoints="1" noAdjustHandles="1" noChangeArrowheads="1" noChangeShapeType="1" noTextEdit="1"/>
              </p:cNvSpPr>
              <p:nvPr/>
            </p:nvSpPr>
            <p:spPr>
              <a:xfrm>
                <a:off x="558936" y="1231103"/>
                <a:ext cx="11074127" cy="2390141"/>
              </a:xfrm>
              <a:prstGeom prst="rect">
                <a:avLst/>
              </a:prstGeom>
              <a:blipFill>
                <a:blip r:embed="rId3"/>
                <a:stretch>
                  <a:fillRect l="-1432" t="-3061" r="-661" b="-1786"/>
                </a:stretch>
              </a:blipFill>
            </p:spPr>
            <p:txBody>
              <a:bodyPr/>
              <a:lstStyle/>
              <a:p>
                <a:r>
                  <a:rPr lang="zh-CN" altLang="en-US">
                    <a:noFill/>
                  </a:rPr>
                  <a:t> </a:t>
                </a:r>
              </a:p>
            </p:txBody>
          </p:sp>
        </mc:Fallback>
      </mc:AlternateContent>
      <p:pic>
        <p:nvPicPr>
          <p:cNvPr id="21" name="图片 20" descr="图示&#10;&#10;AI 生成的内容可能不正确。">
            <a:extLst>
              <a:ext uri="{FF2B5EF4-FFF2-40B4-BE49-F238E27FC236}">
                <a16:creationId xmlns:a16="http://schemas.microsoft.com/office/drawing/2014/main" id="{D6E56BCB-7152-F45E-0C3B-F5BFD48F4B0D}"/>
              </a:ext>
            </a:extLst>
          </p:cNvPr>
          <p:cNvPicPr>
            <a:picLocks noChangeAspect="1"/>
          </p:cNvPicPr>
          <p:nvPr/>
        </p:nvPicPr>
        <p:blipFill>
          <a:blip r:embed="rId4"/>
          <a:stretch>
            <a:fillRect/>
          </a:stretch>
        </p:blipFill>
        <p:spPr>
          <a:xfrm>
            <a:off x="6096000" y="3925461"/>
            <a:ext cx="3581400" cy="2145295"/>
          </a:xfrm>
          <a:prstGeom prst="rect">
            <a:avLst/>
          </a:prstGeom>
        </p:spPr>
      </p:pic>
      <p:pic>
        <p:nvPicPr>
          <p:cNvPr id="25" name="图片 24" descr="图表&#10;&#10;AI 生成的内容可能不正确。">
            <a:extLst>
              <a:ext uri="{FF2B5EF4-FFF2-40B4-BE49-F238E27FC236}">
                <a16:creationId xmlns:a16="http://schemas.microsoft.com/office/drawing/2014/main" id="{4D42E090-52FC-40A3-9010-EBF282634D7F}"/>
              </a:ext>
            </a:extLst>
          </p:cNvPr>
          <p:cNvPicPr>
            <a:picLocks noChangeAspect="1"/>
          </p:cNvPicPr>
          <p:nvPr/>
        </p:nvPicPr>
        <p:blipFill>
          <a:blip r:embed="rId5"/>
          <a:stretch>
            <a:fillRect/>
          </a:stretch>
        </p:blipFill>
        <p:spPr>
          <a:xfrm>
            <a:off x="1796082" y="3778717"/>
            <a:ext cx="3202835" cy="2594364"/>
          </a:xfrm>
          <a:prstGeom prst="rect">
            <a:avLst/>
          </a:prstGeom>
        </p:spPr>
      </p:pic>
    </p:spTree>
    <p:extLst>
      <p:ext uri="{BB962C8B-B14F-4D97-AF65-F5344CB8AC3E}">
        <p14:creationId xmlns:p14="http://schemas.microsoft.com/office/powerpoint/2010/main" val="41851097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69A7-E96C-C45E-AA6C-0C09D641F8D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17FE06D-2A92-0A34-1F27-3275317690B3}"/>
              </a:ext>
            </a:extLst>
          </p:cNvPr>
          <p:cNvSpPr txBox="1"/>
          <p:nvPr/>
        </p:nvSpPr>
        <p:spPr>
          <a:xfrm>
            <a:off x="1250919" y="398011"/>
            <a:ext cx="4293163"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Estimating </a:t>
            </a:r>
            <a:r>
              <a:rPr lang="el-GR"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π</a:t>
            </a:r>
            <a:r>
              <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 </a:t>
            </a:r>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F109F52-0D0C-93B9-6C6D-9AEDCA7BB070}"/>
                  </a:ext>
                </a:extLst>
              </p:cNvPr>
              <p:cNvSpPr txBox="1"/>
              <p:nvPr/>
            </p:nvSpPr>
            <p:spPr>
              <a:xfrm>
                <a:off x="787096" y="1089012"/>
                <a:ext cx="5623229" cy="5284780"/>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marR="0" indent="0" algn="l">
                  <a:lnSpc>
                    <a:spcPct val="120000"/>
                  </a:lnSpc>
                  <a:spcAft>
                    <a:spcPts val="800"/>
                  </a:spcAft>
                  <a:buClrTx/>
                  <a:buSzPts val="1600"/>
                  <a:buFontTx/>
                  <a:buNone/>
                  <a:tabLst/>
                  <a:defRPr/>
                </a:pPr>
                <a:r>
                  <a:rPr lang="en-US" altLang="zh-CN" sz="2000" b="1" kern="100" dirty="0">
                    <a:latin typeface="Arial" panose="020B0604020202020204" pitchFamily="34" charset="0"/>
                    <a:ea typeface="等线" panose="02010600030101010101" pitchFamily="2" charset="-122"/>
                    <a:cs typeface="Arial" panose="020B0604020202020204" pitchFamily="34" charset="0"/>
                  </a:rPr>
                  <a:t>Algorithm Flow:</a:t>
                </a:r>
              </a:p>
              <a:p>
                <a:pPr marL="342900" marR="0" indent="-342900" algn="l">
                  <a:lnSpc>
                    <a:spcPct val="100000"/>
                  </a:lnSpc>
                  <a:spcAft>
                    <a:spcPts val="800"/>
                  </a:spcAft>
                  <a:buClrTx/>
                  <a:buSzPts val="1600"/>
                  <a:buFont typeface="+mj-lt"/>
                  <a:buAutoNum type="arabicPeriod"/>
                  <a:tabLst/>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Initialize: </a:t>
                </a: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Set line spacing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𝑑</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Set needle length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𝑙</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 (</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𝑙</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 ≤ </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𝑑</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Set total drops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𝑛</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Set intersection counter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𝐶</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=0</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342900" marR="0" indent="-342900" algn="l">
                  <a:lnSpc>
                    <a:spcPct val="100000"/>
                  </a:lnSpc>
                  <a:spcAft>
                    <a:spcPts val="800"/>
                  </a:spcAft>
                  <a:buClrTx/>
                  <a:buSzPts val="1600"/>
                  <a:buFont typeface="+mj-lt"/>
                  <a:buAutoNum type="arabicPeriod"/>
                  <a:tabLst/>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Simulation Loop: Repeat the following step </a:t>
                </a:r>
                <a14:m>
                  <m:oMath xmlns:m="http://schemas.openxmlformats.org/officeDocument/2006/math">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𝑛</m:t>
                    </m:r>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times</a:t>
                </a: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Generate random distance </a:t>
                </a:r>
                <a14:m>
                  <m:oMath xmlns:m="http://schemas.openxmlformats.org/officeDocument/2006/math">
                    <m:r>
                      <a:rPr lang="en-US" altLang="zh-CN" kern="100" dirty="0">
                        <a:solidFill>
                          <a:srgbClr val="404040"/>
                        </a:solidFill>
                        <a:latin typeface="Cambria Math" panose="02040503050406030204" pitchFamily="18" charset="0"/>
                      </a:rPr>
                      <m:t>𝑥</m:t>
                    </m:r>
                    <m:r>
                      <a:rPr lang="en-US" altLang="zh-CN" kern="100" dirty="0">
                        <a:solidFill>
                          <a:srgbClr val="404040"/>
                        </a:solidFill>
                        <a:latin typeface="Cambria Math" panose="02040503050406030204" pitchFamily="18" charset="0"/>
                      </a:rPr>
                      <m:t>∈[0,</m:t>
                    </m:r>
                    <m:r>
                      <a:rPr lang="en-US" altLang="zh-CN" kern="100" dirty="0">
                        <a:solidFill>
                          <a:srgbClr val="404040"/>
                        </a:solidFill>
                        <a:latin typeface="Cambria Math" panose="02040503050406030204" pitchFamily="18" charset="0"/>
                      </a:rPr>
                      <m:t>𝑑</m:t>
                    </m:r>
                    <m:r>
                      <a:rPr lang="en-US" altLang="zh-CN" kern="100" dirty="0">
                        <a:solidFill>
                          <a:srgbClr val="404040"/>
                        </a:solidFill>
                        <a:latin typeface="Cambria Math" panose="02040503050406030204" pitchFamily="18" charset="0"/>
                      </a:rPr>
                      <m:t>/2]</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Generate random angle </a:t>
                </a:r>
                <a14:m>
                  <m:oMath xmlns:m="http://schemas.openxmlformats.org/officeDocument/2006/math">
                    <m:r>
                      <a:rPr lang="el-GR" altLang="zh-CN" kern="100" dirty="0">
                        <a:solidFill>
                          <a:srgbClr val="404040"/>
                        </a:solidFill>
                        <a:latin typeface="Cambria Math" panose="02040503050406030204" pitchFamily="18" charset="0"/>
                      </a:rPr>
                      <m:t>𝜃</m:t>
                    </m:r>
                    <m:r>
                      <a:rPr lang="el-GR" altLang="zh-CN" kern="100" dirty="0">
                        <a:solidFill>
                          <a:srgbClr val="404040"/>
                        </a:solidFill>
                        <a:latin typeface="Cambria Math" panose="02040503050406030204" pitchFamily="18" charset="0"/>
                      </a:rPr>
                      <m:t>∈[0,</m:t>
                    </m:r>
                    <m:r>
                      <a:rPr lang="el-GR" altLang="zh-CN" kern="100" dirty="0">
                        <a:solidFill>
                          <a:srgbClr val="404040"/>
                        </a:solidFill>
                        <a:latin typeface="Cambria Math" panose="02040503050406030204" pitchFamily="18" charset="0"/>
                      </a:rPr>
                      <m:t>𝜋</m:t>
                    </m:r>
                    <m:r>
                      <a:rPr lang="el-GR" altLang="zh-CN" kern="100" dirty="0">
                        <a:solidFill>
                          <a:srgbClr val="404040"/>
                        </a:solidFill>
                        <a:latin typeface="Cambria Math" panose="02040503050406030204" pitchFamily="18" charset="0"/>
                      </a:rPr>
                      <m:t>/2]</m:t>
                    </m:r>
                  </m:oMath>
                </a14:m>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742950" lvl="1" indent="-285750">
                  <a:spcAft>
                    <a:spcPts val="800"/>
                  </a:spcAft>
                  <a:buSzPts val="1600"/>
                  <a:buFont typeface="Arial" panose="020B0604020202020204" pitchFamily="34" charset="0"/>
                  <a:buChar char="•"/>
                  <a:defRP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If </a:t>
                </a:r>
                <a14:m>
                  <m:oMath xmlns:m="http://schemas.openxmlformats.org/officeDocument/2006/math">
                    <m:r>
                      <a:rPr lang="en-US" altLang="zh-CN" kern="100" dirty="0">
                        <a:solidFill>
                          <a:srgbClr val="404040"/>
                        </a:solidFill>
                        <a:latin typeface="Cambria Math" panose="02040503050406030204" pitchFamily="18" charset="0"/>
                      </a:rPr>
                      <m:t>𝑥</m:t>
                    </m:r>
                    <m:r>
                      <a:rPr lang="en-US" altLang="zh-CN" kern="100" dirty="0">
                        <a:solidFill>
                          <a:srgbClr val="404040"/>
                        </a:solidFill>
                        <a:latin typeface="Cambria Math" panose="02040503050406030204" pitchFamily="18" charset="0"/>
                      </a:rPr>
                      <m:t> ≤</m:t>
                    </m:r>
                    <m:f>
                      <m:fPr>
                        <m:ctrlPr>
                          <a:rPr lang="en-US" altLang="zh-CN" i="1" kern="100" dirty="0">
                            <a:solidFill>
                              <a:srgbClr val="404040"/>
                            </a:solidFill>
                            <a:latin typeface="Cambria Math" panose="02040503050406030204" pitchFamily="18" charset="0"/>
                          </a:rPr>
                        </m:ctrlPr>
                      </m:fPr>
                      <m:num>
                        <m:r>
                          <a:rPr lang="en-US" altLang="zh-CN" kern="100" dirty="0">
                            <a:solidFill>
                              <a:srgbClr val="404040"/>
                            </a:solidFill>
                            <a:latin typeface="Cambria Math" panose="02040503050406030204" pitchFamily="18" charset="0"/>
                          </a:rPr>
                          <m:t>𝑙</m:t>
                        </m:r>
                      </m:num>
                      <m:den>
                        <m:r>
                          <a:rPr lang="en-US" altLang="zh-CN" kern="100" dirty="0">
                            <a:solidFill>
                              <a:srgbClr val="404040"/>
                            </a:solidFill>
                            <a:latin typeface="Cambria Math" panose="02040503050406030204" pitchFamily="18" charset="0"/>
                          </a:rPr>
                          <m:t>2</m:t>
                        </m:r>
                      </m:den>
                    </m:f>
                    <m:r>
                      <m:rPr>
                        <m:sty m:val="p"/>
                      </m:rPr>
                      <a:rPr lang="en-US" altLang="zh-CN" kern="100" dirty="0">
                        <a:solidFill>
                          <a:srgbClr val="404040"/>
                        </a:solidFill>
                        <a:latin typeface="Cambria Math" panose="02040503050406030204" pitchFamily="18" charset="0"/>
                      </a:rPr>
                      <m:t>sin</m:t>
                    </m:r>
                    <m:r>
                      <a:rPr lang="en-US" altLang="zh-CN" kern="100" dirty="0" smtClean="0">
                        <a:solidFill>
                          <a:srgbClr val="404040"/>
                        </a:solidFill>
                        <a:latin typeface="Cambria Math" panose="02040503050406030204" pitchFamily="18" charset="0"/>
                      </a:rPr>
                      <m:t>⁡</m:t>
                    </m:r>
                    <m:r>
                      <a:rPr lang="el-GR" altLang="zh-CN" kern="100" dirty="0">
                        <a:solidFill>
                          <a:srgbClr val="404040"/>
                        </a:solidFill>
                        <a:latin typeface="Cambria Math" panose="02040503050406030204" pitchFamily="18" charset="0"/>
                      </a:rPr>
                      <m:t>𝜃</m:t>
                    </m:r>
                  </m:oMath>
                </a14:m>
                <a:r>
                  <a:rPr lang="el-GR"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 </a:t>
                </a: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increment </a:t>
                </a:r>
                <a14:m>
                  <m:oMath xmlns:m="http://schemas.openxmlformats.org/officeDocument/2006/math">
                    <m:r>
                      <a:rPr lang="en-US" altLang="zh-CN" kern="100" dirty="0">
                        <a:solidFill>
                          <a:srgbClr val="404040"/>
                        </a:solidFill>
                        <a:latin typeface="Cambria Math" panose="02040503050406030204" pitchFamily="18" charset="0"/>
                      </a:rPr>
                      <m:t>𝐶</m:t>
                    </m:r>
                  </m:oMath>
                </a14:m>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 </a:t>
                </a:r>
              </a:p>
              <a:p>
                <a:pPr marL="342900" indent="-342900" algn="l">
                  <a:lnSpc>
                    <a:spcPct val="100000"/>
                  </a:lnSpc>
                  <a:spcAft>
                    <a:spcPts val="800"/>
                  </a:spcAft>
                  <a:buSzPts val="1600"/>
                  <a:buFont typeface="+mj-lt"/>
                  <a:buAutoNum type="arabicPeriod"/>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Calculate Probability: </a:t>
                </a:r>
                <a14:m>
                  <m:oMath xmlns:m="http://schemas.openxmlformats.org/officeDocument/2006/math">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𝑃</m:t>
                    </m:r>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m:t>
                    </m:r>
                    <m:f>
                      <m:fPr>
                        <m:ctrlPr>
                          <a:rPr lang="en-US" altLang="zh-CN" sz="1800" b="0" i="1" kern="100" dirty="0" smtClean="0">
                            <a:latin typeface="Cambria Math" panose="02040503050406030204" pitchFamily="18" charset="0"/>
                            <a:ea typeface="等线" panose="02010600030101010101" pitchFamily="2" charset="-122"/>
                            <a:cs typeface="Arial" panose="020B0604020202020204" pitchFamily="34" charset="0"/>
                          </a:rPr>
                        </m:ctrlPr>
                      </m:fPr>
                      <m:num>
                        <m:r>
                          <a:rPr lang="en-US" altLang="zh-CN" sz="1800" b="0" i="1" kern="100" dirty="0" smtClean="0">
                            <a:latin typeface="Cambria Math" panose="02040503050406030204" pitchFamily="18" charset="0"/>
                            <a:ea typeface="等线" panose="02010600030101010101" pitchFamily="2" charset="-122"/>
                            <a:cs typeface="Arial" panose="020B0604020202020204" pitchFamily="34" charset="0"/>
                          </a:rPr>
                          <m:t>𝐶</m:t>
                        </m:r>
                      </m:num>
                      <m:den>
                        <m:r>
                          <a:rPr lang="en-US" altLang="zh-CN" sz="1800" b="0" i="1" kern="100" dirty="0" smtClean="0">
                            <a:latin typeface="Cambria Math" panose="02040503050406030204" pitchFamily="18" charset="0"/>
                            <a:ea typeface="等线" panose="02010600030101010101" pitchFamily="2" charset="-122"/>
                            <a:cs typeface="Arial" panose="020B0604020202020204" pitchFamily="34" charset="0"/>
                          </a:rPr>
                          <m:t>𝑛</m:t>
                        </m:r>
                      </m:den>
                    </m:f>
                  </m:oMath>
                </a14:m>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marR="0" indent="-342900" algn="l">
                  <a:lnSpc>
                    <a:spcPct val="100000"/>
                  </a:lnSpc>
                  <a:spcAft>
                    <a:spcPts val="800"/>
                  </a:spcAft>
                  <a:buClrTx/>
                  <a:buSzPts val="1600"/>
                  <a:buFont typeface="+mj-lt"/>
                  <a:buAutoNum type="arabicPeriod"/>
                  <a:tabLst/>
                  <a:defRPr/>
                </a:pPr>
                <a:r>
                  <a:rPr lang="en-US" altLang="zh-CN" sz="1800" kern="100" dirty="0">
                    <a:latin typeface="Arial" panose="020B0604020202020204" pitchFamily="34" charset="0"/>
                    <a:ea typeface="等线" panose="02010600030101010101" pitchFamily="2" charset="-122"/>
                    <a:cs typeface="Arial" panose="020B0604020202020204" pitchFamily="34" charset="0"/>
                  </a:rPr>
                  <a:t>Estimate</a:t>
                </a:r>
                <a14:m>
                  <m:oMath xmlns:m="http://schemas.openxmlformats.org/officeDocument/2006/math">
                    <m:r>
                      <a:rPr lang="en-US" altLang="zh-CN" sz="1800" b="0" i="0" kern="100" dirty="0" smtClean="0">
                        <a:latin typeface="Cambria Math" panose="02040503050406030204" pitchFamily="18" charset="0"/>
                        <a:ea typeface="等线" panose="02010600030101010101" pitchFamily="2" charset="-122"/>
                        <a:cs typeface="Arial" panose="020B0604020202020204" pitchFamily="34" charset="0"/>
                      </a:rPr>
                      <m:t> </m:t>
                    </m:r>
                    <m:r>
                      <a:rPr lang="zh-CN" altLang="en-US" sz="1800" i="1" kern="100" dirty="0">
                        <a:latin typeface="Cambria Math" panose="02040503050406030204" pitchFamily="18" charset="0"/>
                        <a:ea typeface="等线" panose="02010600030101010101" pitchFamily="2" charset="-122"/>
                        <a:cs typeface="Arial" panose="020B0604020202020204" pitchFamily="34" charset="0"/>
                      </a:rPr>
                      <m:t>𝜋</m:t>
                    </m:r>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a:t>
                </a:r>
              </a:p>
              <a:p>
                <a:pPr lvl="1">
                  <a:spcAft>
                    <a:spcPts val="800"/>
                  </a:spcAft>
                  <a:buSzPts val="1600"/>
                  <a:defRPr/>
                </a:pPr>
                <a14:m>
                  <m:oMath xmlns:m="http://schemas.openxmlformats.org/officeDocument/2006/math">
                    <m:r>
                      <a:rPr lang="zh-CN" altLang="en-US"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𝜋</m:t>
                    </m:r>
                    <m:r>
                      <a:rPr lang="en-US" altLang="zh-CN" i="1" kern="100" dirty="0">
                        <a:solidFill>
                          <a:srgbClr val="404040"/>
                        </a:solidFill>
                        <a:latin typeface="Cambria Math" panose="02040503050406030204" pitchFamily="18" charset="0"/>
                        <a:ea typeface="等线" panose="02010600030101010101" pitchFamily="2" charset="-122"/>
                        <a:cs typeface="Arial" panose="020B0604020202020204" pitchFamily="34" charset="0"/>
                      </a:rPr>
                      <m:t> ≈ </m:t>
                    </m:r>
                    <m:f>
                      <m:fPr>
                        <m:ctrlP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ctrlPr>
                      </m:fPr>
                      <m:num>
                        <m: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2</m:t>
                        </m:r>
                        <m: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𝑙</m:t>
                        </m:r>
                      </m:num>
                      <m:den>
                        <m:r>
                          <a:rPr lang="en-US" altLang="zh-CN" i="1" kern="100" dirty="0">
                            <a:solidFill>
                              <a:srgbClr val="404040"/>
                            </a:solidFill>
                            <a:latin typeface="Cambria Math" panose="02040503050406030204" pitchFamily="18" charset="0"/>
                            <a:ea typeface="等线" panose="02010600030101010101" pitchFamily="2" charset="-122"/>
                            <a:cs typeface="Arial" panose="020B0604020202020204" pitchFamily="34" charset="0"/>
                          </a:rPr>
                          <m:t>𝑃𝑑</m:t>
                        </m:r>
                      </m:den>
                    </m:f>
                  </m:oMath>
                </a14:m>
                <a:r>
                  <a:rPr lang="en-US" altLang="zh-CN" i="1" kern="100" dirty="0">
                    <a:solidFill>
                      <a:srgbClr val="404040"/>
                    </a:solidFill>
                    <a:latin typeface="Cambria Math" panose="02040503050406030204" pitchFamily="18" charset="0"/>
                    <a:ea typeface="等线" panose="02010600030101010101" pitchFamily="2" charset="-122"/>
                    <a:cs typeface="Arial" panose="020B0604020202020204" pitchFamily="34" charset="0"/>
                  </a:rPr>
                  <a:t>  </a:t>
                </a:r>
                <a:r>
                  <a:rPr lang="en-US" altLang="zh-CN" kern="100" dirty="0">
                    <a:latin typeface="Arial" panose="020B0604020202020204" pitchFamily="34" charset="0"/>
                    <a:ea typeface="等线" panose="02010600030101010101" pitchFamily="2" charset="-122"/>
                    <a:cs typeface="Arial" panose="020B0604020202020204" pitchFamily="34" charset="0"/>
                  </a:rPr>
                  <a:t> </a:t>
                </a: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Specially, with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𝑙</m:t>
                    </m:r>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m:t>
                    </m:r>
                    <m:f>
                      <m:fPr>
                        <m:ctrlP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ctrlPr>
                      </m:fPr>
                      <m:num>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𝑑</m:t>
                        </m:r>
                      </m:num>
                      <m:den>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2</m:t>
                        </m:r>
                      </m:den>
                    </m:f>
                  </m:oMath>
                </a14:m>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 </a:t>
                </a:r>
                <a14:m>
                  <m:oMath xmlns:m="http://schemas.openxmlformats.org/officeDocument/2006/math">
                    <m:r>
                      <a:rPr lang="en-US" altLang="zh-CN"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m:t>
                    </m:r>
                    <m: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  </m:t>
                    </m:r>
                    <m:r>
                      <a:rPr lang="zh-CN" altLang="en-US"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𝜋</m:t>
                    </m:r>
                    <m:r>
                      <a:rPr lang="en-US" altLang="zh-CN" i="1" kern="100" dirty="0">
                        <a:solidFill>
                          <a:srgbClr val="404040"/>
                        </a:solidFill>
                        <a:latin typeface="Cambria Math" panose="02040503050406030204" pitchFamily="18" charset="0"/>
                        <a:ea typeface="等线" panose="02010600030101010101" pitchFamily="2" charset="-122"/>
                        <a:cs typeface="Arial" panose="020B0604020202020204" pitchFamily="34" charset="0"/>
                      </a:rPr>
                      <m:t>≈ </m:t>
                    </m:r>
                    <m:f>
                      <m:fPr>
                        <m:ctrlP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ctrlPr>
                      </m:fPr>
                      <m:num>
                        <m: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1</m:t>
                        </m:r>
                      </m:num>
                      <m:den>
                        <m:r>
                          <a:rPr lang="en-US" altLang="zh-CN" b="0" i="1" kern="100" dirty="0" smtClean="0">
                            <a:solidFill>
                              <a:srgbClr val="404040"/>
                            </a:solidFill>
                            <a:latin typeface="Cambria Math" panose="02040503050406030204" pitchFamily="18" charset="0"/>
                            <a:ea typeface="等线" panose="02010600030101010101" pitchFamily="2" charset="-122"/>
                            <a:cs typeface="Arial" panose="020B0604020202020204" pitchFamily="34" charset="0"/>
                          </a:rPr>
                          <m:t>𝑃</m:t>
                        </m:r>
                      </m:den>
                    </m:f>
                  </m:oMath>
                </a14:m>
                <a:endParaRPr lang="en-US" altLang="zh-CN" i="1" kern="100" dirty="0">
                  <a:solidFill>
                    <a:srgbClr val="404040"/>
                  </a:solidFill>
                  <a:latin typeface="Cambria Math" panose="02040503050406030204" pitchFamily="18" charset="0"/>
                  <a:ea typeface="等线" panose="02010600030101010101" pitchFamily="2" charset="-122"/>
                  <a:cs typeface="Arial" panose="020B0604020202020204" pitchFamily="34" charset="0"/>
                </a:endParaRPr>
              </a:p>
            </p:txBody>
          </p:sp>
        </mc:Choice>
        <mc:Fallback xmlns="">
          <p:sp>
            <p:nvSpPr>
              <p:cNvPr id="2" name="文本框 1">
                <a:extLst>
                  <a:ext uri="{FF2B5EF4-FFF2-40B4-BE49-F238E27FC236}">
                    <a16:creationId xmlns:a16="http://schemas.microsoft.com/office/drawing/2014/main" id="{2F109F52-0D0C-93B9-6C6D-9AEDCA7BB070}"/>
                  </a:ext>
                </a:extLst>
              </p:cNvPr>
              <p:cNvSpPr txBox="1">
                <a:spLocks noRot="1" noChangeAspect="1" noMove="1" noResize="1" noEditPoints="1" noAdjustHandles="1" noChangeArrowheads="1" noChangeShapeType="1" noTextEdit="1"/>
              </p:cNvSpPr>
              <p:nvPr/>
            </p:nvSpPr>
            <p:spPr>
              <a:xfrm>
                <a:off x="787096" y="1089012"/>
                <a:ext cx="5623229" cy="5284780"/>
              </a:xfrm>
              <a:prstGeom prst="rect">
                <a:avLst/>
              </a:prstGeom>
              <a:blipFill>
                <a:blip r:embed="rId3"/>
                <a:stretch>
                  <a:fillRect l="-2709" t="-923" r="-217" b="-577"/>
                </a:stretch>
              </a:blipFill>
            </p:spPr>
            <p:txBody>
              <a:bodyPr/>
              <a:lstStyle/>
              <a:p>
                <a:r>
                  <a:rPr lang="zh-CN" altLang="en-US">
                    <a:noFill/>
                  </a:rPr>
                  <a:t> </a:t>
                </a:r>
              </a:p>
            </p:txBody>
          </p:sp>
        </mc:Fallback>
      </mc:AlternateContent>
      <p:pic>
        <p:nvPicPr>
          <p:cNvPr id="2050" name="Picture 2">
            <a:extLst>
              <a:ext uri="{FF2B5EF4-FFF2-40B4-BE49-F238E27FC236}">
                <a16:creationId xmlns:a16="http://schemas.microsoft.com/office/drawing/2014/main" id="{89B1D3E2-25A4-E206-E84C-EC2153420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6550" y="2161877"/>
            <a:ext cx="4505325" cy="253424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4290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CCE6F-A009-C8CB-DB82-7F5880C81F1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B38192E-F223-4CF2-7531-646286D09CD2}"/>
              </a:ext>
            </a:extLst>
          </p:cNvPr>
          <p:cNvSpPr txBox="1"/>
          <p:nvPr/>
        </p:nvSpPr>
        <p:spPr>
          <a:xfrm>
            <a:off x="1250919" y="398011"/>
            <a:ext cx="3179075"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Graph illustration</a:t>
            </a:r>
          </a:p>
        </p:txBody>
      </p:sp>
      <p:pic>
        <p:nvPicPr>
          <p:cNvPr id="2" name="bandicam 2025-12-11 17-33-26-401">
            <a:hlinkClick r:id="" action="ppaction://media"/>
            <a:extLst>
              <a:ext uri="{FF2B5EF4-FFF2-40B4-BE49-F238E27FC236}">
                <a16:creationId xmlns:a16="http://schemas.microsoft.com/office/drawing/2014/main" id="{F3830B3A-FC65-14D1-613D-A475FF85FDA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71639" y="1158296"/>
            <a:ext cx="7716709" cy="4735801"/>
          </a:xfrm>
          <a:prstGeom prst="rect">
            <a:avLst/>
          </a:prstGeom>
        </p:spPr>
      </p:pic>
      <p:sp>
        <p:nvSpPr>
          <p:cNvPr id="6" name="文本框 5">
            <a:extLst>
              <a:ext uri="{FF2B5EF4-FFF2-40B4-BE49-F238E27FC236}">
                <a16:creationId xmlns:a16="http://schemas.microsoft.com/office/drawing/2014/main" id="{9EAB42B3-0A18-F5B7-6987-848F1A7FDF05}"/>
              </a:ext>
            </a:extLst>
          </p:cNvPr>
          <p:cNvSpPr txBox="1"/>
          <p:nvPr/>
        </p:nvSpPr>
        <p:spPr>
          <a:xfrm>
            <a:off x="8288348" y="3040333"/>
            <a:ext cx="3560752" cy="1200329"/>
          </a:xfrm>
          <a:prstGeom prst="rect">
            <a:avLst/>
          </a:prstGeom>
          <a:noFill/>
        </p:spPr>
        <p:txBody>
          <a:bodyPr wrap="square">
            <a:spAutoFit/>
          </a:bodyPr>
          <a:lstStyle/>
          <a:p>
            <a:pPr>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After 1e6 needle drops, the probability of relative error exceeding 1% is approximately 0.012%</a:t>
            </a:r>
          </a:p>
        </p:txBody>
      </p:sp>
    </p:spTree>
    <p:extLst>
      <p:ext uri="{BB962C8B-B14F-4D97-AF65-F5344CB8AC3E}">
        <p14:creationId xmlns:p14="http://schemas.microsoft.com/office/powerpoint/2010/main" val="41543308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733"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2"/>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98A6-79C2-8D10-EDA6-5480CF920A0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BB2DAD3-EAE6-21F5-2005-9011E7C202AD}"/>
              </a:ext>
            </a:extLst>
          </p:cNvPr>
          <p:cNvSpPr txBox="1"/>
          <p:nvPr/>
        </p:nvSpPr>
        <p:spPr>
          <a:xfrm>
            <a:off x="1250919" y="398011"/>
            <a:ext cx="398000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Las Vegas algorithms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0" name="文本框 9">
            <a:extLst>
              <a:ext uri="{FF2B5EF4-FFF2-40B4-BE49-F238E27FC236}">
                <a16:creationId xmlns:a16="http://schemas.microsoft.com/office/drawing/2014/main" id="{EF80314E-3FD3-4EE3-E80B-79B5C5BDFE1D}"/>
              </a:ext>
            </a:extLst>
          </p:cNvPr>
          <p:cNvSpPr txBox="1"/>
          <p:nvPr/>
        </p:nvSpPr>
        <p:spPr>
          <a:xfrm>
            <a:off x="1250919" y="3677182"/>
            <a:ext cx="9297008" cy="207877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Feature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Guaranteed Correctness</a:t>
            </a:r>
          </a:p>
          <a:p>
            <a:pPr marL="342900" lvl="0" indent="-342900" algn="l">
              <a:lnSpc>
                <a:spcPct val="120000"/>
              </a:lnSpc>
              <a:spcAft>
                <a:spcPts val="800"/>
              </a:spcAft>
              <a:buSzPts val="1600"/>
              <a:buFont typeface="Arial" panose="020B0604020202020204" pitchFamily="34" charset="0"/>
              <a:buChar char="•"/>
            </a:pPr>
            <a:r>
              <a:rPr lang="en-US" altLang="zh-CN" sz="1800" dirty="0"/>
              <a:t>Execution time is probabilistic </a:t>
            </a:r>
            <a:r>
              <a:rPr lang="en-US" altLang="zh-CN" sz="1800" dirty="0">
                <a:sym typeface="Wingdings" panose="05000000000000000000" pitchFamily="2" charset="2"/>
              </a:rPr>
              <a:t> </a:t>
            </a:r>
            <a:r>
              <a:rPr lang="en-US" altLang="zh-CN" sz="1800" dirty="0"/>
              <a:t>often with good expected performance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May report failure or retry if no solution is found quickly</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Efficient to check if a candidate solution is correct</a:t>
            </a:r>
            <a:endParaRPr lang="zh-CN" altLang="zh-CN" sz="1800" kern="100" dirty="0">
              <a:latin typeface="Arial" panose="020B0604020202020204" pitchFamily="34" charset="0"/>
              <a:ea typeface="等线" panose="02010600030101010101" pitchFamily="2" charset="-122"/>
              <a:cs typeface="Arial" panose="020B0604020202020204" pitchFamily="34" charset="0"/>
            </a:endParaRPr>
          </a:p>
        </p:txBody>
      </p:sp>
      <p:sp>
        <p:nvSpPr>
          <p:cNvPr id="13" name="文本框 12">
            <a:extLst>
              <a:ext uri="{FF2B5EF4-FFF2-40B4-BE49-F238E27FC236}">
                <a16:creationId xmlns:a16="http://schemas.microsoft.com/office/drawing/2014/main" id="{CB0AF8CC-D482-3553-8D08-F55AFC6489DC}"/>
              </a:ext>
            </a:extLst>
          </p:cNvPr>
          <p:cNvSpPr txBox="1"/>
          <p:nvPr/>
        </p:nvSpPr>
        <p:spPr>
          <a:xfrm>
            <a:off x="1250919" y="1350425"/>
            <a:ext cx="8836057" cy="2070567"/>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lvl="0" algn="l">
              <a:lnSpc>
                <a:spcPct val="120000"/>
              </a:lnSpc>
              <a:spcAft>
                <a:spcPts val="800"/>
              </a:spcAft>
              <a:buSzPts val="1600"/>
            </a:pPr>
            <a:r>
              <a:rPr lang="en-US" altLang="zh-CN" sz="1800" kern="100" dirty="0">
                <a:solidFill>
                  <a:srgbClr val="404040"/>
                </a:solidFill>
                <a:latin typeface="Arial" panose="020B0604020202020204" pitchFamily="34" charset="0"/>
                <a:ea typeface="等线" panose="02010600030101010101" pitchFamily="2" charset="-122"/>
                <a:cs typeface="Arial" panose="020B0604020202020204" pitchFamily="34" charset="0"/>
              </a:rPr>
              <a:t>Las Vegas algorithm is a randomized algorithm that always produces a correct result if it finishes, but its running time is random. It may take longer or restart, but never returns a wrong answer</a:t>
            </a:r>
          </a:p>
          <a:p>
            <a:pPr lvl="0" algn="l">
              <a:lnSpc>
                <a:spcPct val="120000"/>
              </a:lnSpc>
              <a:spcAft>
                <a:spcPts val="800"/>
              </a:spcAft>
              <a:buSzPts val="1600"/>
            </a:pP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Las Vegas</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算法是一种随机化算法，它若完成则始终给出正确结果，但其运行时间是随机的。它可能需要更长时间或多次重启算法，但不会返回错误答案</a:t>
            </a:r>
            <a:endPar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176306198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2CEC4-DAA3-1228-1DBD-E2D5BB07A07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B029C94-F50E-4625-420F-3D31CEE5AC7C}"/>
              </a:ext>
            </a:extLst>
          </p:cNvPr>
          <p:cNvSpPr txBox="1"/>
          <p:nvPr/>
        </p:nvSpPr>
        <p:spPr>
          <a:xfrm>
            <a:off x="1250919" y="398011"/>
            <a:ext cx="5876930"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Randomized Quicksort</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3" name="文本框 12">
            <a:extLst>
              <a:ext uri="{FF2B5EF4-FFF2-40B4-BE49-F238E27FC236}">
                <a16:creationId xmlns:a16="http://schemas.microsoft.com/office/drawing/2014/main" id="{018DE9FE-A6AD-4C51-6734-8B991D1845EE}"/>
              </a:ext>
            </a:extLst>
          </p:cNvPr>
          <p:cNvSpPr txBox="1"/>
          <p:nvPr/>
        </p:nvSpPr>
        <p:spPr>
          <a:xfrm>
            <a:off x="676014" y="1237517"/>
            <a:ext cx="10887336" cy="1479636"/>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algn="l">
              <a:lnSpc>
                <a:spcPct val="120000"/>
              </a:lnSpc>
              <a:spcAft>
                <a:spcPts val="800"/>
              </a:spcAft>
              <a:buSzPts val="1600"/>
            </a:pPr>
            <a:r>
              <a:rPr lang="en-US" altLang="zh-CN" sz="1800" dirty="0">
                <a:latin typeface="Arial" panose="020B0604020202020204" pitchFamily="34" charset="0"/>
                <a:cs typeface="Arial" panose="020B0604020202020204" pitchFamily="34" charset="0"/>
              </a:rPr>
              <a:t>The core idea of randomized quicksort is to introduce deliberate randomness to eliminate predictable worst-case scenarios</a:t>
            </a:r>
          </a:p>
          <a:p>
            <a:pPr algn="l">
              <a:lnSpc>
                <a:spcPct val="120000"/>
              </a:lnSpc>
              <a:spcAft>
                <a:spcPts val="800"/>
              </a:spcAft>
              <a:buSzPts val="1600"/>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随机化快速排序的核心思想是引入人为随机性，以消除可预测的最坏情况</a:t>
            </a:r>
            <a:endParaRPr lang="en-US" altLang="zh-CN" sz="1800" dirty="0">
              <a:latin typeface="Arial" panose="020B0604020202020204" pitchFamily="34" charset="0"/>
              <a:cs typeface="Arial" panose="020B0604020202020204" pitchFamily="34" charset="0"/>
            </a:endParaRPr>
          </a:p>
        </p:txBody>
      </p:sp>
      <p:grpSp>
        <p:nvGrpSpPr>
          <p:cNvPr id="4" name="组合 3">
            <a:extLst>
              <a:ext uri="{FF2B5EF4-FFF2-40B4-BE49-F238E27FC236}">
                <a16:creationId xmlns:a16="http://schemas.microsoft.com/office/drawing/2014/main" id="{DA0FF537-1B78-3246-7A5B-F7BF33FDA674}"/>
              </a:ext>
            </a:extLst>
          </p:cNvPr>
          <p:cNvGrpSpPr/>
          <p:nvPr/>
        </p:nvGrpSpPr>
        <p:grpSpPr>
          <a:xfrm>
            <a:off x="676014" y="2955395"/>
            <a:ext cx="11013086" cy="3077894"/>
            <a:chOff x="780789" y="2955396"/>
            <a:chExt cx="11013086" cy="3077894"/>
          </a:xfrm>
        </p:grpSpPr>
        <p:sp>
          <p:nvSpPr>
            <p:cNvPr id="2" name="文本框 1">
              <a:extLst>
                <a:ext uri="{FF2B5EF4-FFF2-40B4-BE49-F238E27FC236}">
                  <a16:creationId xmlns:a16="http://schemas.microsoft.com/office/drawing/2014/main" id="{BD80CDED-3D25-A765-AC10-E3A2BEB93E52}"/>
                </a:ext>
              </a:extLst>
            </p:cNvPr>
            <p:cNvSpPr txBox="1"/>
            <p:nvPr/>
          </p:nvSpPr>
          <p:spPr>
            <a:xfrm>
              <a:off x="780789" y="2955396"/>
              <a:ext cx="7190194" cy="307789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Algorithm Flow</a:t>
              </a:r>
            </a:p>
            <a:p>
              <a:pPr marL="342900" indent="-342900" algn="l">
                <a:lnSpc>
                  <a:spcPct val="120000"/>
                </a:lnSpc>
                <a:spcAft>
                  <a:spcPts val="800"/>
                </a:spcAft>
                <a:buSzPts val="1600"/>
                <a:buFont typeface="+mj-lt"/>
                <a:buAutoNum type="arabicPeriod"/>
              </a:pPr>
              <a:r>
                <a:rPr lang="en-US" altLang="zh-CN" sz="1800" dirty="0">
                  <a:latin typeface="Arial" panose="020B0604020202020204" pitchFamily="34" charset="0"/>
                  <a:cs typeface="Arial" panose="020B0604020202020204" pitchFamily="34" charset="0"/>
                </a:rPr>
                <a:t>Choose a random element from the array as the partition pivot</a:t>
              </a:r>
            </a:p>
            <a:p>
              <a:pPr marL="342900" indent="-342900" algn="l">
                <a:lnSpc>
                  <a:spcPct val="120000"/>
                </a:lnSpc>
                <a:spcAft>
                  <a:spcPts val="800"/>
                </a:spcAft>
                <a:buSzPts val="1600"/>
                <a:buFont typeface="+mj-lt"/>
                <a:buAutoNum type="arabicPeriod"/>
              </a:pPr>
              <a:r>
                <a:rPr lang="en-US" altLang="zh-CN" sz="1800" dirty="0">
                  <a:latin typeface="Arial" panose="020B0604020202020204" pitchFamily="34" charset="0"/>
                  <a:cs typeface="Arial" panose="020B0604020202020204" pitchFamily="34" charset="0"/>
                </a:rPr>
                <a:t>Rearrange the array </a:t>
              </a:r>
              <a:r>
                <a:rPr lang="en-US" altLang="zh-CN" sz="1800" dirty="0">
                  <a:latin typeface="Arial" panose="020B0604020202020204" pitchFamily="34" charset="0"/>
                  <a:cs typeface="Arial" panose="020B0604020202020204" pitchFamily="34" charset="0"/>
                  <a:sym typeface="Wingdings" panose="05000000000000000000" pitchFamily="2" charset="2"/>
                </a:rPr>
                <a:t></a:t>
              </a:r>
              <a:r>
                <a:rPr lang="en-US" altLang="zh-CN" sz="1800" dirty="0">
                  <a:latin typeface="Arial" panose="020B0604020202020204" pitchFamily="34" charset="0"/>
                  <a:cs typeface="Arial" panose="020B0604020202020204" pitchFamily="34" charset="0"/>
                </a:rPr>
                <a:t> elements less than the pivot are on its left and greater elements on its right</a:t>
              </a:r>
            </a:p>
            <a:p>
              <a:pPr marL="342900" indent="-342900" algn="l">
                <a:lnSpc>
                  <a:spcPct val="120000"/>
                </a:lnSpc>
                <a:spcAft>
                  <a:spcPts val="800"/>
                </a:spcAft>
                <a:buSzPts val="1600"/>
                <a:buFont typeface="+mj-lt"/>
                <a:buAutoNum type="arabicPeriod"/>
              </a:pPr>
              <a:r>
                <a:rPr lang="en-US" altLang="zh-CN" sz="1800" dirty="0">
                  <a:latin typeface="Arial" panose="020B0604020202020204" pitchFamily="34" charset="0"/>
                  <a:cs typeface="Arial" panose="020B0604020202020204" pitchFamily="34" charset="0"/>
                </a:rPr>
                <a:t>Apply the same randomized sorting process to the left and right subarrays</a:t>
              </a:r>
            </a:p>
            <a:p>
              <a:pPr marL="342900" indent="-342900" algn="l">
                <a:lnSpc>
                  <a:spcPct val="120000"/>
                </a:lnSpc>
                <a:spcAft>
                  <a:spcPts val="800"/>
                </a:spcAft>
                <a:buSzPts val="1600"/>
                <a:buFont typeface="+mj-lt"/>
                <a:buAutoNum type="arabicPeriod"/>
              </a:pPr>
              <a:r>
                <a:rPr lang="en-US" altLang="zh-CN" sz="1800" dirty="0">
                  <a:latin typeface="Arial" panose="020B0604020202020204" pitchFamily="34" charset="0"/>
                  <a:cs typeface="Arial" panose="020B0604020202020204" pitchFamily="34" charset="0"/>
                </a:rPr>
                <a:t>After recursion, the array is fully sorted as each pivot is already in its correct final position</a:t>
              </a:r>
              <a:endParaRPr lang="en-US" altLang="zh-CN" sz="1800" dirty="0"/>
            </a:p>
          </p:txBody>
        </p:sp>
        <p:pic>
          <p:nvPicPr>
            <p:cNvPr id="7" name="图片 6" descr="图示&#10;&#10;AI 生成的内容可能不正确。">
              <a:extLst>
                <a:ext uri="{FF2B5EF4-FFF2-40B4-BE49-F238E27FC236}">
                  <a16:creationId xmlns:a16="http://schemas.microsoft.com/office/drawing/2014/main" id="{83BF007E-5BA2-80EF-DB2A-0E77D53DFCDB}"/>
                </a:ext>
              </a:extLst>
            </p:cNvPr>
            <p:cNvPicPr>
              <a:picLocks noChangeAspect="1"/>
            </p:cNvPicPr>
            <p:nvPr/>
          </p:nvPicPr>
          <p:blipFill>
            <a:blip r:embed="rId3">
              <a:extLst>
                <a:ext uri="{28A0092B-C50C-407E-A947-70E740481C1C}">
                  <a14:useLocalDpi xmlns:a14="http://schemas.microsoft.com/office/drawing/2010/main" val="0"/>
                </a:ext>
              </a:extLst>
            </a:blip>
            <a:srcRect l="6531" r="5058" b="7633"/>
            <a:stretch>
              <a:fillRect/>
            </a:stretch>
          </p:blipFill>
          <p:spPr>
            <a:xfrm>
              <a:off x="7970983" y="3567073"/>
              <a:ext cx="3822892" cy="1854539"/>
            </a:xfrm>
            <a:prstGeom prst="rect">
              <a:avLst/>
            </a:prstGeom>
          </p:spPr>
        </p:pic>
      </p:grpSp>
    </p:spTree>
    <p:extLst>
      <p:ext uri="{BB962C8B-B14F-4D97-AF65-F5344CB8AC3E}">
        <p14:creationId xmlns:p14="http://schemas.microsoft.com/office/powerpoint/2010/main" val="297158802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06A6-7745-CC01-84DC-BA2937C4868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07F8397-2E94-F3F7-932F-F305D7EEAFA9}"/>
              </a:ext>
            </a:extLst>
          </p:cNvPr>
          <p:cNvSpPr txBox="1"/>
          <p:nvPr/>
        </p:nvSpPr>
        <p:spPr>
          <a:xfrm>
            <a:off x="1250919" y="398011"/>
            <a:ext cx="3612464"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MATLAB illustration</a:t>
            </a:r>
          </a:p>
        </p:txBody>
      </p:sp>
      <p:pic>
        <p:nvPicPr>
          <p:cNvPr id="5" name="bandicam 2025-12-11 02-15-23-448">
            <a:hlinkClick r:id="" action="ppaction://media"/>
            <a:extLst>
              <a:ext uri="{FF2B5EF4-FFF2-40B4-BE49-F238E27FC236}">
                <a16:creationId xmlns:a16="http://schemas.microsoft.com/office/drawing/2014/main" id="{EF68BF5F-5BC8-76CF-A2FD-ACF2C4A6327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81334" y="1129030"/>
            <a:ext cx="8629332" cy="5029508"/>
          </a:xfrm>
          <a:prstGeom prst="rect">
            <a:avLst/>
          </a:prstGeom>
        </p:spPr>
      </p:pic>
    </p:spTree>
    <p:extLst>
      <p:ext uri="{BB962C8B-B14F-4D97-AF65-F5344CB8AC3E}">
        <p14:creationId xmlns:p14="http://schemas.microsoft.com/office/powerpoint/2010/main" val="2218595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88E2-39BD-39B3-76E5-9899D8C8757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B3F0DEC0-53DF-E334-6C77-A19466EC9738}"/>
              </a:ext>
            </a:extLst>
          </p:cNvPr>
          <p:cNvSpPr txBox="1"/>
          <p:nvPr/>
        </p:nvSpPr>
        <p:spPr>
          <a:xfrm>
            <a:off x="1250919" y="398011"/>
            <a:ext cx="3612464"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MATLAB illustration</a:t>
            </a:r>
          </a:p>
        </p:txBody>
      </p:sp>
      <p:pic>
        <p:nvPicPr>
          <p:cNvPr id="2" name="bandicam 2025-12-11 02-19-54-205">
            <a:hlinkClick r:id="" action="ppaction://media"/>
            <a:extLst>
              <a:ext uri="{FF2B5EF4-FFF2-40B4-BE49-F238E27FC236}">
                <a16:creationId xmlns:a16="http://schemas.microsoft.com/office/drawing/2014/main" id="{C68D642A-0AB6-4052-7317-31C1208CF44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83777" y="1172845"/>
            <a:ext cx="8624445" cy="5026660"/>
          </a:xfrm>
          <a:prstGeom prst="rect">
            <a:avLst/>
          </a:prstGeom>
        </p:spPr>
      </p:pic>
    </p:spTree>
    <p:extLst>
      <p:ext uri="{BB962C8B-B14F-4D97-AF65-F5344CB8AC3E}">
        <p14:creationId xmlns:p14="http://schemas.microsoft.com/office/powerpoint/2010/main" val="3007484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349B-BEBF-73EE-377E-A6B77167CB3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B5BD44F-D51B-FBC0-F7F7-9B3AEEEAB42D}"/>
              </a:ext>
            </a:extLst>
          </p:cNvPr>
          <p:cNvSpPr txBox="1"/>
          <p:nvPr/>
        </p:nvSpPr>
        <p:spPr>
          <a:xfrm>
            <a:off x="1250919" y="398011"/>
            <a:ext cx="3756156"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Hill Climbing Method</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0" name="文本框 9">
            <a:extLst>
              <a:ext uri="{FF2B5EF4-FFF2-40B4-BE49-F238E27FC236}">
                <a16:creationId xmlns:a16="http://schemas.microsoft.com/office/drawing/2014/main" id="{F74E0A5D-A0CC-2034-7113-6BE9D34D54B7}"/>
              </a:ext>
            </a:extLst>
          </p:cNvPr>
          <p:cNvSpPr txBox="1"/>
          <p:nvPr/>
        </p:nvSpPr>
        <p:spPr>
          <a:xfrm>
            <a:off x="959289" y="3691021"/>
            <a:ext cx="8095571" cy="207877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Feature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Fast convergence on smooth, single-peak problems</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Often gets stuck in local optima</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Only accepts improving moves</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High dependence on Initialization</a:t>
            </a:r>
          </a:p>
        </p:txBody>
      </p:sp>
      <p:sp>
        <p:nvSpPr>
          <p:cNvPr id="13" name="文本框 12">
            <a:extLst>
              <a:ext uri="{FF2B5EF4-FFF2-40B4-BE49-F238E27FC236}">
                <a16:creationId xmlns:a16="http://schemas.microsoft.com/office/drawing/2014/main" id="{B20B534D-E8D5-69D6-7E1E-63B8164785D2}"/>
              </a:ext>
            </a:extLst>
          </p:cNvPr>
          <p:cNvSpPr txBox="1"/>
          <p:nvPr/>
        </p:nvSpPr>
        <p:spPr>
          <a:xfrm>
            <a:off x="974694" y="1210344"/>
            <a:ext cx="10083831" cy="2402966"/>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lvl="0" algn="l">
              <a:lnSpc>
                <a:spcPct val="120000"/>
              </a:lnSpc>
              <a:spcAft>
                <a:spcPts val="800"/>
              </a:spcAft>
              <a:buSzPts val="1600"/>
            </a:pPr>
            <a:r>
              <a:rPr lang="en-US" altLang="zh-CN" sz="1800" kern="100" dirty="0">
                <a:latin typeface="Arial" panose="020B0604020202020204" pitchFamily="34" charset="0"/>
                <a:ea typeface="等线" panose="02010600030101010101" pitchFamily="2" charset="-122"/>
                <a:cs typeface="Arial" panose="020B0604020202020204" pitchFamily="34" charset="0"/>
              </a:rPr>
              <a:t>Hill Climbing is a local search optimization algorithm that finds optimal solutions through iterative stepwise improvement. Starting from an initial solution, it continuously moves to better neighboring solutions until no improvement is possible. The algorithm is efficient but prone to getting stuck in local optima</a:t>
            </a:r>
            <a:r>
              <a:rPr lang="en-US" altLang="zh-CN" sz="1800" kern="100" dirty="0">
                <a:solidFill>
                  <a:srgbClr val="404040"/>
                </a:solidFill>
                <a:latin typeface="Arial" panose="020B0604020202020204" pitchFamily="34" charset="0"/>
                <a:ea typeface="等线" panose="02010600030101010101" pitchFamily="2" charset="-122"/>
                <a:cs typeface="Arial" panose="020B0604020202020204" pitchFamily="34" charset="0"/>
              </a:rPr>
              <a:t>.</a:t>
            </a:r>
          </a:p>
          <a:p>
            <a:pPr lvl="0" algn="l">
              <a:lnSpc>
                <a:spcPct val="120000"/>
              </a:lnSpc>
              <a:spcAft>
                <a:spcPts val="800"/>
              </a:spcAft>
              <a:buSzPts val="1600"/>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爬山法是一种基于局部搜索的优化算法，通过逐步迭代改进当前解来寻找最优解。它从初始解出发，不断移动到更优的邻域解，直到无法改进为止。该算法运行效率高，但容易陷入局部最优。</a:t>
            </a:r>
            <a:endPar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pic>
        <p:nvPicPr>
          <p:cNvPr id="4" name="图片 3" descr="图表, 折线图&#10;&#10;AI 生成的内容可能不正确。">
            <a:extLst>
              <a:ext uri="{FF2B5EF4-FFF2-40B4-BE49-F238E27FC236}">
                <a16:creationId xmlns:a16="http://schemas.microsoft.com/office/drawing/2014/main" id="{454577BD-A59C-F094-C264-BAD1E09B9D7C}"/>
              </a:ext>
            </a:extLst>
          </p:cNvPr>
          <p:cNvPicPr>
            <a:picLocks/>
          </p:cNvPicPr>
          <p:nvPr/>
        </p:nvPicPr>
        <p:blipFill>
          <a:blip r:embed="rId3">
            <a:extLst>
              <a:ext uri="{28A0092B-C50C-407E-A947-70E740481C1C}">
                <a14:useLocalDpi xmlns:a14="http://schemas.microsoft.com/office/drawing/2010/main" val="0"/>
              </a:ext>
            </a:extLst>
          </a:blip>
          <a:srcRect l="12894" r="18274"/>
          <a:stretch>
            <a:fillRect/>
          </a:stretch>
        </p:blipFill>
        <p:spPr>
          <a:xfrm>
            <a:off x="6753225" y="3437120"/>
            <a:ext cx="4772026" cy="2586576"/>
          </a:xfrm>
          <a:prstGeom prst="rect">
            <a:avLst/>
          </a:prstGeom>
        </p:spPr>
      </p:pic>
    </p:spTree>
    <p:extLst>
      <p:ext uri="{BB962C8B-B14F-4D97-AF65-F5344CB8AC3E}">
        <p14:creationId xmlns:p14="http://schemas.microsoft.com/office/powerpoint/2010/main" val="11884332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6F8C3-5870-5CF1-864E-EAF72F98BAD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D668578-4B45-52D9-ACD6-D919AA56FF2B}"/>
              </a:ext>
            </a:extLst>
          </p:cNvPr>
          <p:cNvSpPr txBox="1"/>
          <p:nvPr/>
        </p:nvSpPr>
        <p:spPr>
          <a:xfrm>
            <a:off x="1250919" y="398011"/>
            <a:ext cx="3725187"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Simulated Annealing</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0" name="文本框 9">
            <a:extLst>
              <a:ext uri="{FF2B5EF4-FFF2-40B4-BE49-F238E27FC236}">
                <a16:creationId xmlns:a16="http://schemas.microsoft.com/office/drawing/2014/main" id="{D14704D8-156E-6B3E-A466-A84F89A023F6}"/>
              </a:ext>
            </a:extLst>
          </p:cNvPr>
          <p:cNvSpPr txBox="1"/>
          <p:nvPr/>
        </p:nvSpPr>
        <p:spPr>
          <a:xfrm>
            <a:off x="765144" y="4166419"/>
            <a:ext cx="8095571" cy="207877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Feature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Higher temperature allows exploring diverse regions</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Temperature decreases over time to stabilize convergence</a:t>
            </a:r>
          </a:p>
          <a:p>
            <a:pPr marL="342900" lvl="0" indent="-342900" algn="l">
              <a:lnSpc>
                <a:spcPct val="120000"/>
              </a:lnSpc>
              <a:spcAft>
                <a:spcPts val="800"/>
              </a:spcAft>
              <a:buSzPts val="1600"/>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Uses a probability function to decide whether to accept inferior solutions</a:t>
            </a:r>
          </a:p>
          <a:p>
            <a:pPr marL="342900" lvl="0" indent="-342900" algn="l">
              <a:lnSpc>
                <a:spcPct val="120000"/>
              </a:lnSpc>
              <a:spcAft>
                <a:spcPts val="800"/>
              </a:spcAft>
              <a:buSzPts val="1600"/>
              <a:buFont typeface="Arial" panose="020B0604020202020204" pitchFamily="34" charset="0"/>
              <a:buChar char="•"/>
            </a:pPr>
            <a:r>
              <a:rPr lang="en-US" altLang="zh-CN" sz="1800" dirty="0"/>
              <a:t>Escape local optima to </a:t>
            </a:r>
            <a:r>
              <a:rPr lang="en-US" altLang="zh-CN" sz="1800" kern="100" dirty="0">
                <a:latin typeface="Arial" panose="020B0604020202020204" pitchFamily="34" charset="0"/>
                <a:ea typeface="等线" panose="02010600030101010101" pitchFamily="2" charset="-122"/>
                <a:cs typeface="Arial" panose="020B0604020202020204" pitchFamily="34" charset="0"/>
              </a:rPr>
              <a:t>search for a global optimum</a:t>
            </a:r>
          </a:p>
        </p:txBody>
      </p:sp>
      <p:sp>
        <p:nvSpPr>
          <p:cNvPr id="13" name="文本框 12">
            <a:extLst>
              <a:ext uri="{FF2B5EF4-FFF2-40B4-BE49-F238E27FC236}">
                <a16:creationId xmlns:a16="http://schemas.microsoft.com/office/drawing/2014/main" id="{62D7E3BC-5CE9-CA21-BE21-470CC2986FA7}"/>
              </a:ext>
            </a:extLst>
          </p:cNvPr>
          <p:cNvSpPr txBox="1"/>
          <p:nvPr/>
        </p:nvSpPr>
        <p:spPr>
          <a:xfrm>
            <a:off x="765144" y="1176143"/>
            <a:ext cx="10748430" cy="273536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lvl="0" algn="l">
              <a:lnSpc>
                <a:spcPct val="120000"/>
              </a:lnSpc>
              <a:spcAft>
                <a:spcPts val="800"/>
              </a:spcAft>
              <a:buSzPts val="1600"/>
            </a:pPr>
            <a:r>
              <a:rPr lang="en-US" altLang="zh-CN" sz="1800" kern="100" dirty="0">
                <a:solidFill>
                  <a:srgbClr val="404040"/>
                </a:solidFill>
                <a:latin typeface="Arial" panose="020B0604020202020204" pitchFamily="34" charset="0"/>
                <a:ea typeface="等线" panose="02010600030101010101" pitchFamily="2" charset="-122"/>
                <a:cs typeface="Arial" panose="020B0604020202020204" pitchFamily="34" charset="0"/>
              </a:rPr>
              <a:t>Simulated annealing is a global optimization algorithm that introduces randomization and a "temperature" parameter to search for global optima. Initially, at high temperatures, the algorithm explores more regions to find better solutions, while also accepting worse solutions with a certain probability to avoid local optima traps. As temperature gradually decreases, the algorithm stabilizes and gradually converges toward the optimal solution region, ultimately yielding a correct result.</a:t>
            </a:r>
          </a:p>
          <a:p>
            <a:pPr lvl="0" algn="l">
              <a:lnSpc>
                <a:spcPct val="120000"/>
              </a:lnSpc>
              <a:spcAft>
                <a:spcPts val="800"/>
              </a:spcAft>
              <a:buSzPts val="1600"/>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模拟退火是一种全局优化算法，引入了随机化和 “温度” 参数以寻找全局最优。最初，在高温下，算法会探索更多区域以寻找更好的解，同时以一定概率接受较差解以避免局部最优陷阱。随着温度逐渐下降，算法趋于稳定并逐渐收敛到最优解区域，最终得到正确的结果</a:t>
            </a:r>
            <a:endPar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93650095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4F28-58DD-7961-D1B1-B3F7B1D14DE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7F21914-0C39-F1B2-7A33-41F5506A8762}"/>
              </a:ext>
            </a:extLst>
          </p:cNvPr>
          <p:cNvSpPr txBox="1"/>
          <p:nvPr/>
        </p:nvSpPr>
        <p:spPr>
          <a:xfrm>
            <a:off x="1250919" y="398011"/>
            <a:ext cx="3756156"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Simulated Annealing</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FD236EE-4F3C-FECB-8E1E-97879240C69D}"/>
                  </a:ext>
                </a:extLst>
              </p:cNvPr>
              <p:cNvSpPr txBox="1"/>
              <p:nvPr/>
            </p:nvSpPr>
            <p:spPr>
              <a:xfrm>
                <a:off x="671497" y="1056137"/>
                <a:ext cx="6357953" cy="5403852"/>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Algorithm Flow</a:t>
                </a:r>
              </a:p>
              <a:p>
                <a:pPr marL="342900" lvl="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Randomly generate an initial solution and set the initial temperature </a:t>
                </a:r>
                <a14:m>
                  <m:oMath xmlns:m="http://schemas.openxmlformats.org/officeDocument/2006/math">
                    <m:sSub>
                      <m:sSubPr>
                        <m:ctrlP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ctrlPr>
                      </m:sSubPr>
                      <m:e>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𝑇</m:t>
                        </m:r>
                      </m:e>
                      <m:sub>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0</m:t>
                        </m:r>
                      </m:sub>
                    </m:sSub>
                  </m:oMath>
                </a14:m>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Generate a candidate solution by randomly perturbing the current solution based on the current temperature</a:t>
                </a:r>
              </a:p>
              <a:p>
                <a:pPr marL="34290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Calculate the difference in objective function values between the old and new solutions, and accept the candidate with a probability of </a:t>
                </a:r>
                <a14:m>
                  <m:oMath xmlns:m="http://schemas.openxmlformats.org/officeDocument/2006/math">
                    <m:sSub>
                      <m:sSubPr>
                        <m:ctrlP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ctrlPr>
                      </m:sSubPr>
                      <m:e>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𝑃</m:t>
                        </m:r>
                      </m:e>
                      <m:sub>
                        <m:r>
                          <a:rPr lang="en-US" altLang="zh-CN" sz="1800" i="0" kern="100" dirty="0">
                            <a:latin typeface="Cambria Math" panose="02040503050406030204" pitchFamily="18" charset="0"/>
                            <a:ea typeface="等线" panose="02010600030101010101" pitchFamily="2" charset="-122"/>
                            <a:cs typeface="Arial" panose="020B0604020202020204" pitchFamily="34" charset="0"/>
                          </a:rPr>
                          <m:t>𝑎𝑐𝑐𝑒𝑝𝑡</m:t>
                        </m:r>
                      </m:sub>
                    </m:sSub>
                  </m:oMath>
                </a14:m>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Record the best solution found throughout the process</a:t>
                </a:r>
              </a:p>
              <a:p>
                <a:pPr marL="342900" lvl="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Reduce the temperature </a:t>
                </a:r>
                <a14:m>
                  <m:oMath xmlns:m="http://schemas.openxmlformats.org/officeDocument/2006/math">
                    <m:sSub>
                      <m:sSubPr>
                        <m:ctrlP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ctrlPr>
                      </m:sSubPr>
                      <m:e>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𝑇</m:t>
                        </m:r>
                      </m:e>
                      <m:sub>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𝑜𝑙𝑑</m:t>
                        </m:r>
                      </m:sub>
                    </m:sSub>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to </a:t>
                </a:r>
                <a14:m>
                  <m:oMath xmlns:m="http://schemas.openxmlformats.org/officeDocument/2006/math">
                    <m:sSub>
                      <m:sSubPr>
                        <m:ctrlP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ctrlPr>
                      </m:sSubPr>
                      <m:e>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𝑇</m:t>
                        </m:r>
                      </m:e>
                      <m:sub>
                        <m:r>
                          <a:rPr lang="en-US" altLang="zh-CN" sz="1800" i="1" kern="100" dirty="0" smtClean="0">
                            <a:latin typeface="Cambria Math" panose="02040503050406030204" pitchFamily="18" charset="0"/>
                            <a:ea typeface="等线" panose="02010600030101010101" pitchFamily="2" charset="-122"/>
                            <a:cs typeface="Arial" panose="020B0604020202020204" pitchFamily="34" charset="0"/>
                          </a:rPr>
                          <m:t>𝑛𝑒𝑤</m:t>
                        </m:r>
                      </m:sub>
                    </m:sSub>
                  </m:oMath>
                </a14:m>
                <a:r>
                  <a:rPr lang="en-US" altLang="zh-CN" sz="1800" kern="100" dirty="0">
                    <a:latin typeface="Arial" panose="020B0604020202020204" pitchFamily="34" charset="0"/>
                    <a:ea typeface="等线" panose="02010600030101010101" pitchFamily="2" charset="-122"/>
                    <a:cs typeface="Arial" panose="020B0604020202020204" pitchFamily="34" charset="0"/>
                  </a:rPr>
                  <a:t> according to cooling rate </a:t>
                </a:r>
                <a14:m>
                  <m:oMath xmlns:m="http://schemas.openxmlformats.org/officeDocument/2006/math">
                    <m:r>
                      <a:rPr lang="zh-CN" altLang="en-US" sz="1800" i="1" kern="100" smtClean="0">
                        <a:latin typeface="Cambria Math" panose="02040503050406030204" pitchFamily="18" charset="0"/>
                        <a:ea typeface="等线" panose="02010600030101010101" pitchFamily="2" charset="-122"/>
                        <a:cs typeface="Arial" panose="020B0604020202020204" pitchFamily="34" charset="0"/>
                      </a:rPr>
                      <m:t>𝛼</m:t>
                    </m:r>
                  </m:oMath>
                </a14:m>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lvl="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Repeat steps 2–5 until the temperature drops below the threshold</a:t>
                </a:r>
              </a:p>
              <a:p>
                <a:pPr marL="342900" lvl="0" indent="-342900" algn="l">
                  <a:lnSpc>
                    <a:spcPct val="120000"/>
                  </a:lnSpc>
                  <a:spcAft>
                    <a:spcPts val="800"/>
                  </a:spcAft>
                  <a:buSzPts val="1600"/>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Output the recorded best solution as the final result</a:t>
                </a:r>
                <a:endParaRPr lang="en-US" altLang="zh-CN" sz="1800"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mc:Choice>
        <mc:Fallback xmlns="">
          <p:sp>
            <p:nvSpPr>
              <p:cNvPr id="5" name="文本框 4">
                <a:extLst>
                  <a:ext uri="{FF2B5EF4-FFF2-40B4-BE49-F238E27FC236}">
                    <a16:creationId xmlns:a16="http://schemas.microsoft.com/office/drawing/2014/main" id="{CFD236EE-4F3C-FECB-8E1E-97879240C69D}"/>
                  </a:ext>
                </a:extLst>
              </p:cNvPr>
              <p:cNvSpPr txBox="1">
                <a:spLocks noRot="1" noChangeAspect="1" noMove="1" noResize="1" noEditPoints="1" noAdjustHandles="1" noChangeArrowheads="1" noChangeShapeType="1" noTextEdit="1"/>
              </p:cNvSpPr>
              <p:nvPr/>
            </p:nvSpPr>
            <p:spPr>
              <a:xfrm>
                <a:off x="671497" y="1056137"/>
                <a:ext cx="6357953" cy="5403852"/>
              </a:xfrm>
              <a:prstGeom prst="rect">
                <a:avLst/>
              </a:prstGeom>
              <a:blipFill>
                <a:blip r:embed="rId3"/>
                <a:stretch>
                  <a:fillRect l="-2397" t="-902" r="-384" b="-1691"/>
                </a:stretch>
              </a:blipFill>
            </p:spPr>
            <p:txBody>
              <a:bodyPr/>
              <a:lstStyle/>
              <a:p>
                <a:r>
                  <a:rPr lang="zh-CN" altLang="en-US">
                    <a:noFill/>
                  </a:rPr>
                  <a:t> </a:t>
                </a:r>
              </a:p>
            </p:txBody>
          </p:sp>
        </mc:Fallback>
      </mc:AlternateContent>
      <p:pic>
        <p:nvPicPr>
          <p:cNvPr id="6" name="图片 5" descr="图表, 折线图&#10;&#10;AI 生成的内容可能不正确。">
            <a:extLst>
              <a:ext uri="{FF2B5EF4-FFF2-40B4-BE49-F238E27FC236}">
                <a16:creationId xmlns:a16="http://schemas.microsoft.com/office/drawing/2014/main" id="{9CD89368-593F-7712-E064-B93F9BD5FFB0}"/>
              </a:ext>
            </a:extLst>
          </p:cNvPr>
          <p:cNvPicPr>
            <a:picLocks noChangeAspect="1"/>
          </p:cNvPicPr>
          <p:nvPr/>
        </p:nvPicPr>
        <p:blipFill>
          <a:blip r:embed="rId4"/>
          <a:stretch>
            <a:fillRect/>
          </a:stretch>
        </p:blipFill>
        <p:spPr>
          <a:xfrm>
            <a:off x="7306364" y="1940600"/>
            <a:ext cx="3980471" cy="2976799"/>
          </a:xfrm>
          <a:prstGeom prst="rect">
            <a:avLst/>
          </a:prstGeom>
        </p:spPr>
      </p:pic>
    </p:spTree>
    <p:extLst>
      <p:ext uri="{BB962C8B-B14F-4D97-AF65-F5344CB8AC3E}">
        <p14:creationId xmlns:p14="http://schemas.microsoft.com/office/powerpoint/2010/main" val="275544578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80374-6361-0E06-559E-50018FC27C3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9B0E480-7B31-A12C-8EDE-E1628E409453}"/>
              </a:ext>
            </a:extLst>
          </p:cNvPr>
          <p:cNvSpPr txBox="1"/>
          <p:nvPr/>
        </p:nvSpPr>
        <p:spPr>
          <a:xfrm>
            <a:off x="1250919" y="398011"/>
            <a:ext cx="3845412"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Simulated Annealing</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grpSp>
        <p:nvGrpSpPr>
          <p:cNvPr id="21" name="组合 20">
            <a:extLst>
              <a:ext uri="{FF2B5EF4-FFF2-40B4-BE49-F238E27FC236}">
                <a16:creationId xmlns:a16="http://schemas.microsoft.com/office/drawing/2014/main" id="{BE07B335-65C4-811E-5746-070076571C80}"/>
              </a:ext>
            </a:extLst>
          </p:cNvPr>
          <p:cNvGrpSpPr/>
          <p:nvPr/>
        </p:nvGrpSpPr>
        <p:grpSpPr>
          <a:xfrm>
            <a:off x="974693" y="1274709"/>
            <a:ext cx="10083831" cy="4665848"/>
            <a:chOff x="974693" y="1274709"/>
            <a:chExt cx="10083831" cy="4665848"/>
          </a:xfrm>
        </p:grpSpPr>
        <p:grpSp>
          <p:nvGrpSpPr>
            <p:cNvPr id="16" name="组合 15">
              <a:extLst>
                <a:ext uri="{FF2B5EF4-FFF2-40B4-BE49-F238E27FC236}">
                  <a16:creationId xmlns:a16="http://schemas.microsoft.com/office/drawing/2014/main" id="{937F3CA6-3A90-4035-F2DF-688427F7ACDE}"/>
                </a:ext>
              </a:extLst>
            </p:cNvPr>
            <p:cNvGrpSpPr/>
            <p:nvPr/>
          </p:nvGrpSpPr>
          <p:grpSpPr>
            <a:xfrm>
              <a:off x="974693" y="1274709"/>
              <a:ext cx="10083831" cy="3862635"/>
              <a:chOff x="974693" y="1274709"/>
              <a:chExt cx="10083831" cy="3862635"/>
            </a:xfrm>
          </p:grpSpPr>
          <p:sp>
            <p:nvSpPr>
              <p:cNvPr id="4" name="文本框 3">
                <a:extLst>
                  <a:ext uri="{FF2B5EF4-FFF2-40B4-BE49-F238E27FC236}">
                    <a16:creationId xmlns:a16="http://schemas.microsoft.com/office/drawing/2014/main" id="{FD3E184C-9810-735E-64A6-AEC9CEA9A149}"/>
                  </a:ext>
                </a:extLst>
              </p:cNvPr>
              <p:cNvSpPr txBox="1"/>
              <p:nvPr/>
            </p:nvSpPr>
            <p:spPr>
              <a:xfrm>
                <a:off x="974693" y="1274709"/>
                <a:ext cx="10083831" cy="773802"/>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Core Formula</a:t>
                </a:r>
              </a:p>
              <a:p>
                <a:pPr lvl="0" algn="l">
                  <a:lnSpc>
                    <a:spcPct val="120000"/>
                  </a:lnSpc>
                  <a:spcAft>
                    <a:spcPts val="800"/>
                  </a:spcAft>
                  <a:buSzPts val="1600"/>
                </a:pPr>
                <a:endParaRPr lang="en-US" altLang="zh-CN" sz="1800"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pic>
            <p:nvPicPr>
              <p:cNvPr id="15" name="图片 14" descr="文本&#10;&#10;AI 生成的内容可能不正确。">
                <a:extLst>
                  <a:ext uri="{FF2B5EF4-FFF2-40B4-BE49-F238E27FC236}">
                    <a16:creationId xmlns:a16="http://schemas.microsoft.com/office/drawing/2014/main" id="{14DD937E-4BAF-FB4A-8398-BD5BD4BF1811}"/>
                  </a:ext>
                </a:extLst>
              </p:cNvPr>
              <p:cNvPicPr>
                <a:picLocks noChangeAspect="1"/>
              </p:cNvPicPr>
              <p:nvPr/>
            </p:nvPicPr>
            <p:blipFill>
              <a:blip r:embed="rId3"/>
              <a:stretch>
                <a:fillRect/>
              </a:stretch>
            </p:blipFill>
            <p:spPr>
              <a:xfrm>
                <a:off x="6398290" y="2401989"/>
                <a:ext cx="4660234" cy="2735355"/>
              </a:xfrm>
              <a:prstGeom prst="rect">
                <a:avLst/>
              </a:prstGeom>
            </p:spPr>
          </p:pic>
        </p:grpSp>
        <p:pic>
          <p:nvPicPr>
            <p:cNvPr id="20" name="图片 19" descr="表格&#10;&#10;AI 生成的内容可能不正确。">
              <a:extLst>
                <a:ext uri="{FF2B5EF4-FFF2-40B4-BE49-F238E27FC236}">
                  <a16:creationId xmlns:a16="http://schemas.microsoft.com/office/drawing/2014/main" id="{E46D7419-73C1-F961-8C38-7B64C84F1E49}"/>
                </a:ext>
              </a:extLst>
            </p:cNvPr>
            <p:cNvPicPr>
              <a:picLocks noChangeAspect="1"/>
            </p:cNvPicPr>
            <p:nvPr/>
          </p:nvPicPr>
          <p:blipFill>
            <a:blip r:embed="rId4"/>
            <a:stretch>
              <a:fillRect/>
            </a:stretch>
          </p:blipFill>
          <p:spPr>
            <a:xfrm>
              <a:off x="974693" y="1948873"/>
              <a:ext cx="4522225" cy="3991684"/>
            </a:xfrm>
            <a:prstGeom prst="rect">
              <a:avLst/>
            </a:prstGeom>
          </p:spPr>
        </p:pic>
      </p:grpSp>
    </p:spTree>
    <p:extLst>
      <p:ext uri="{BB962C8B-B14F-4D97-AF65-F5344CB8AC3E}">
        <p14:creationId xmlns:p14="http://schemas.microsoft.com/office/powerpoint/2010/main" val="1474470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7A88E-4A19-0D40-509D-D32E3F8437C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7728F5E-EB1C-DE4B-A061-E9027A740144}"/>
              </a:ext>
            </a:extLst>
          </p:cNvPr>
          <p:cNvSpPr txBox="1"/>
          <p:nvPr/>
        </p:nvSpPr>
        <p:spPr>
          <a:xfrm>
            <a:off x="1250919" y="398011"/>
            <a:ext cx="3756156"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Simulated Annealing</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3" name="文本框 12">
            <a:extLst>
              <a:ext uri="{FF2B5EF4-FFF2-40B4-BE49-F238E27FC236}">
                <a16:creationId xmlns:a16="http://schemas.microsoft.com/office/drawing/2014/main" id="{CE43F32A-3C63-96D3-33C8-79C5CBE72650}"/>
              </a:ext>
            </a:extLst>
          </p:cNvPr>
          <p:cNvSpPr txBox="1"/>
          <p:nvPr/>
        </p:nvSpPr>
        <p:spPr>
          <a:xfrm>
            <a:off x="650440" y="1104685"/>
            <a:ext cx="8006543" cy="2597442"/>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Applicable Conditions</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Problem can be represented as a state with a definable cost/energy function</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A method to generate neighboring states (small changes to current solution)</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A computable cost/energy difference between current and new state</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A cooling schedule defining temperature decrease over iterations</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Acceptance probability function (typically Metropolis criterion)</a:t>
            </a:r>
          </a:p>
          <a:p>
            <a:pPr marL="285750" indent="-28575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Suitable parameters (initial temperature, stop condition, iteration limits)</a:t>
            </a:r>
          </a:p>
        </p:txBody>
      </p:sp>
      <p:pic>
        <p:nvPicPr>
          <p:cNvPr id="7" name="图片 6" descr="地图上有字&#10;&#10;AI 生成的内容可能不正确。">
            <a:extLst>
              <a:ext uri="{FF2B5EF4-FFF2-40B4-BE49-F238E27FC236}">
                <a16:creationId xmlns:a16="http://schemas.microsoft.com/office/drawing/2014/main" id="{D0A422AD-46C8-3773-ECB7-49D4168FF1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0877" y="3885581"/>
            <a:ext cx="5721671" cy="1842379"/>
          </a:xfrm>
          <a:prstGeom prst="rect">
            <a:avLst/>
          </a:prstGeom>
        </p:spPr>
      </p:pic>
      <p:grpSp>
        <p:nvGrpSpPr>
          <p:cNvPr id="8" name="组合 7">
            <a:extLst>
              <a:ext uri="{FF2B5EF4-FFF2-40B4-BE49-F238E27FC236}">
                <a16:creationId xmlns:a16="http://schemas.microsoft.com/office/drawing/2014/main" id="{6C887386-3B02-C436-BB4F-FEE73665A80D}"/>
              </a:ext>
            </a:extLst>
          </p:cNvPr>
          <p:cNvGrpSpPr/>
          <p:nvPr/>
        </p:nvGrpSpPr>
        <p:grpSpPr>
          <a:xfrm>
            <a:off x="8195475" y="2670953"/>
            <a:ext cx="3468757" cy="2570101"/>
            <a:chOff x="8195475" y="2670953"/>
            <a:chExt cx="3468757" cy="2570101"/>
          </a:xfrm>
        </p:grpSpPr>
        <p:sp>
          <p:nvSpPr>
            <p:cNvPr id="5" name="箭头: 直角上 4">
              <a:extLst>
                <a:ext uri="{FF2B5EF4-FFF2-40B4-BE49-F238E27FC236}">
                  <a16:creationId xmlns:a16="http://schemas.microsoft.com/office/drawing/2014/main" id="{12FFA10D-57E8-61C8-2901-AA84774CA855}"/>
                </a:ext>
              </a:extLst>
            </p:cNvPr>
            <p:cNvSpPr/>
            <p:nvPr/>
          </p:nvSpPr>
          <p:spPr>
            <a:xfrm rot="10800000">
              <a:off x="8195475" y="2670953"/>
              <a:ext cx="1402080" cy="887256"/>
            </a:xfrm>
            <a:prstGeom prst="bentUpArrow">
              <a:avLst>
                <a:gd name="adj1" fmla="val 20587"/>
                <a:gd name="adj2" fmla="val 25000"/>
                <a:gd name="adj3" fmla="val 25000"/>
              </a:avLst>
            </a:prstGeom>
            <a:solidFill>
              <a:schemeClr val="accent1">
                <a:lumMod val="60000"/>
                <a:lumOff val="40000"/>
              </a:schemeClr>
            </a:solidFill>
            <a:ln>
              <a:noFill/>
            </a:ln>
            <a:scene3d>
              <a:camera prst="orthographicFront">
                <a:rot lat="108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6F89603E-0469-6F74-313C-3E5280B30088}"/>
                </a:ext>
              </a:extLst>
            </p:cNvPr>
            <p:cNvSpPr txBox="1"/>
            <p:nvPr/>
          </p:nvSpPr>
          <p:spPr>
            <a:xfrm>
              <a:off x="8195475" y="3640616"/>
              <a:ext cx="3468757" cy="1600438"/>
            </a:xfrm>
            <a:prstGeom prst="rect">
              <a:avLst/>
            </a:prstGeom>
            <a:noFill/>
          </p:spPr>
          <p:txBody>
            <a:bodyPr wrap="square" rtlCol="0">
              <a:spAutoFit/>
            </a:bodyPr>
            <a:lstStyle/>
            <a:p>
              <a:r>
                <a:rPr lang="en-US" altLang="zh-CN" b="1" kern="100" dirty="0">
                  <a:solidFill>
                    <a:srgbClr val="404040"/>
                  </a:solidFill>
                  <a:latin typeface="Arial" panose="020B0604020202020204" pitchFamily="34" charset="0"/>
                  <a:ea typeface="等线" panose="02010600030101010101" pitchFamily="2" charset="-122"/>
                  <a:cs typeface="Arial" panose="020B0604020202020204" pitchFamily="34" charset="0"/>
                </a:rPr>
                <a:t>Nondeterministic Polynomial time problems (NP Problems)</a:t>
              </a:r>
            </a:p>
            <a:p>
              <a:r>
                <a:rPr lang="zh-CN" altLang="en-US" sz="1400" kern="100" dirty="0">
                  <a:solidFill>
                    <a:srgbClr val="777777"/>
                  </a:solidFill>
                  <a:latin typeface="Arial" panose="020B0604020202020204" pitchFamily="34" charset="0"/>
                  <a:ea typeface="等线" panose="02010600030101010101" pitchFamily="2" charset="-122"/>
                  <a:cs typeface="Arial" panose="020B0604020202020204" pitchFamily="34" charset="0"/>
                </a:rPr>
                <a:t>非确定性多项式时间问题</a:t>
              </a:r>
              <a:endParaRPr lang="en-US" altLang="zh-CN" b="1"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endParaRPr lang="en-US" altLang="zh-CN" sz="1600"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r>
                <a:rPr lang="en-US" altLang="zh-CN" sz="1600" kern="100" dirty="0">
                  <a:solidFill>
                    <a:srgbClr val="404040"/>
                  </a:solidFill>
                  <a:latin typeface="Arial" panose="020B0604020202020204" pitchFamily="34" charset="0"/>
                  <a:ea typeface="等线" panose="02010600030101010101" pitchFamily="2" charset="-122"/>
                  <a:cs typeface="Arial" panose="020B0604020202020204" pitchFamily="34" charset="0"/>
                </a:rPr>
                <a:t>Verifying an answer is easy, but finding the answer is hard</a:t>
              </a:r>
              <a:endParaRPr lang="en-US" altLang="zh-CN" sz="1600" b="1"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grpSp>
    </p:spTree>
    <p:extLst>
      <p:ext uri="{BB962C8B-B14F-4D97-AF65-F5344CB8AC3E}">
        <p14:creationId xmlns:p14="http://schemas.microsoft.com/office/powerpoint/2010/main" val="1247795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0A5E-FAEF-A32C-BBFD-F4EA8016F40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AAA9A7A-BC01-34D6-6644-C44A973089AA}"/>
              </a:ext>
            </a:extLst>
          </p:cNvPr>
          <p:cNvSpPr txBox="1"/>
          <p:nvPr/>
        </p:nvSpPr>
        <p:spPr>
          <a:xfrm>
            <a:off x="1250919" y="398011"/>
            <a:ext cx="6452407"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The Fermat Point Problem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D890BCB-305D-07DE-19DB-977A95DBEEC1}"/>
                  </a:ext>
                </a:extLst>
              </p:cNvPr>
              <p:cNvSpPr txBox="1"/>
              <p:nvPr/>
            </p:nvSpPr>
            <p:spPr>
              <a:xfrm>
                <a:off x="789493" y="1168820"/>
                <a:ext cx="6645779" cy="471167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algn="l"/>
                <a:r>
                  <a:rPr lang="en-US" altLang="zh-CN" sz="2000" b="1" dirty="0">
                    <a:latin typeface="Arial" panose="020B0604020202020204" pitchFamily="34" charset="0"/>
                    <a:cs typeface="Arial" panose="020B0604020202020204" pitchFamily="34" charset="0"/>
                  </a:rPr>
                  <a:t>Solution</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Initialize: Set </a:t>
                </a:r>
                <a14:m>
                  <m:oMath xmlns:m="http://schemas.openxmlformats.org/officeDocument/2006/math">
                    <m:sSub>
                      <m:sSubPr>
                        <m:ctrlPr>
                          <a:rPr lang="en-US" altLang="zh-CN" sz="1800" i="1" dirty="0" smtClean="0">
                            <a:latin typeface="Cambria Math" panose="02040503050406030204" pitchFamily="18" charset="0"/>
                            <a:cs typeface="Arial" panose="020B0604020202020204" pitchFamily="34" charset="0"/>
                          </a:rPr>
                        </m:ctrlPr>
                      </m:sSubPr>
                      <m:e>
                        <m:r>
                          <a:rPr lang="en-US" altLang="zh-CN" sz="1800" i="1" dirty="0" smtClean="0">
                            <a:latin typeface="Cambria Math" panose="02040503050406030204" pitchFamily="18" charset="0"/>
                            <a:cs typeface="Arial" panose="020B0604020202020204" pitchFamily="34" charset="0"/>
                          </a:rPr>
                          <m:t>𝑇</m:t>
                        </m:r>
                      </m:e>
                      <m:sub>
                        <m:r>
                          <a:rPr lang="en-US" altLang="zh-CN" sz="1800" i="1" dirty="0" smtClean="0">
                            <a:latin typeface="Cambria Math" panose="02040503050406030204" pitchFamily="18" charset="0"/>
                            <a:cs typeface="Arial" panose="020B0604020202020204" pitchFamily="34" charset="0"/>
                          </a:rPr>
                          <m:t>0</m:t>
                        </m:r>
                      </m:sub>
                    </m:sSub>
                  </m:oMath>
                </a14:m>
                <a:r>
                  <a:rPr lang="en-US" altLang="zh-CN" sz="1800" dirty="0">
                    <a:latin typeface="Arial" panose="020B0604020202020204" pitchFamily="34" charset="0"/>
                    <a:cs typeface="Arial" panose="020B0604020202020204" pitchFamily="34" charset="0"/>
                  </a:rPr>
                  <a:t>, </a:t>
                </a:r>
                <a14:m>
                  <m:oMath xmlns:m="http://schemas.openxmlformats.org/officeDocument/2006/math">
                    <m:r>
                      <a:rPr lang="zh-CN" altLang="en-US" sz="1800" i="1">
                        <a:latin typeface="Cambria Math" panose="02040503050406030204" pitchFamily="18" charset="0"/>
                        <a:cs typeface="Arial" panose="020B0604020202020204" pitchFamily="34" charset="0"/>
                      </a:rPr>
                      <m:t>𝛼</m:t>
                    </m:r>
                  </m:oMath>
                </a14:m>
                <a:r>
                  <a:rPr lang="en-US" altLang="zh-CN" sz="1800" dirty="0">
                    <a:latin typeface="Arial" panose="020B0604020202020204" pitchFamily="34" charset="0"/>
                    <a:cs typeface="Arial" panose="020B0604020202020204" pitchFamily="34" charset="0"/>
                  </a:rPr>
                  <a:t>, a starting point and corresponding </a:t>
                </a:r>
                <a14:m>
                  <m:oMath xmlns:m="http://schemas.openxmlformats.org/officeDocument/2006/math">
                    <m:sSub>
                      <m:sSubPr>
                        <m:ctrlPr>
                          <a:rPr lang="en-US" altLang="zh-CN" sz="1800" i="1" dirty="0" smtClean="0">
                            <a:latin typeface="Cambria Math" panose="02040503050406030204" pitchFamily="18" charset="0"/>
                            <a:cs typeface="Arial" panose="020B0604020202020204" pitchFamily="34" charset="0"/>
                          </a:rPr>
                        </m:ctrlPr>
                      </m:sSubPr>
                      <m:e>
                        <m:r>
                          <a:rPr lang="en-US" altLang="zh-CN" sz="1800" i="1" dirty="0" smtClean="0">
                            <a:latin typeface="Cambria Math" panose="02040503050406030204" pitchFamily="18" charset="0"/>
                            <a:cs typeface="Arial" panose="020B0604020202020204" pitchFamily="34" charset="0"/>
                          </a:rPr>
                          <m:t>𝐸</m:t>
                        </m:r>
                      </m:e>
                      <m:sub>
                        <m:r>
                          <a:rPr lang="en-US" altLang="zh-CN" sz="1800" i="1" dirty="0" smtClean="0">
                            <a:latin typeface="Cambria Math" panose="02040503050406030204" pitchFamily="18" charset="0"/>
                            <a:cs typeface="Arial" panose="020B0604020202020204" pitchFamily="34" charset="0"/>
                          </a:rPr>
                          <m:t>0</m:t>
                        </m:r>
                      </m:sub>
                    </m:sSub>
                  </m:oMath>
                </a14:m>
                <a:r>
                  <a:rPr lang="en-US" altLang="zh-CN" sz="1800" dirty="0">
                    <a:latin typeface="Arial" panose="020B0604020202020204" pitchFamily="34" charset="0"/>
                    <a:cs typeface="Arial" panose="020B0604020202020204" pitchFamily="34" charset="0"/>
                  </a:rPr>
                  <a:t>.</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Generate New Solution: Create a new point by randomly perturbing the current point's coordinates, with step size influenced by current temperature.</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Evaluate Cost: Calculate the sum of distances from the new point to all given points.</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Accept or Reject: Always accept if better. Accept worse solutions accept the candidate with a probability of </a:t>
                </a:r>
                <a14:m>
                  <m:oMath xmlns:m="http://schemas.openxmlformats.org/officeDocument/2006/math">
                    <m:sSub>
                      <m:sSubPr>
                        <m:ctrlPr>
                          <a:rPr lang="en-US" altLang="zh-CN" sz="1800" i="1" dirty="0" smtClean="0">
                            <a:latin typeface="Cambria Math" panose="02040503050406030204" pitchFamily="18" charset="0"/>
                            <a:cs typeface="Arial" panose="020B0604020202020204" pitchFamily="34" charset="0"/>
                          </a:rPr>
                        </m:ctrlPr>
                      </m:sSubPr>
                      <m:e>
                        <m:r>
                          <a:rPr lang="zh-CN" altLang="en-US" sz="1800" i="1" dirty="0" smtClean="0">
                            <a:latin typeface="Cambria Math" panose="02040503050406030204" pitchFamily="18" charset="0"/>
                            <a:cs typeface="Arial" panose="020B0604020202020204" pitchFamily="34" charset="0"/>
                          </a:rPr>
                          <m:t>𝑃</m:t>
                        </m:r>
                      </m:e>
                      <m:sub>
                        <m:r>
                          <a:rPr lang="zh-CN" altLang="en-US" sz="1800" i="1" dirty="0">
                            <a:latin typeface="Cambria Math" panose="02040503050406030204" pitchFamily="18" charset="0"/>
                            <a:cs typeface="Arial" panose="020B0604020202020204" pitchFamily="34" charset="0"/>
                          </a:rPr>
                          <m:t>𝑎𝑐𝑐𝑒𝑝𝑡</m:t>
                        </m:r>
                      </m:sub>
                    </m:sSub>
                  </m:oMath>
                </a14:m>
                <a:r>
                  <a:rPr lang="en-US" altLang="zh-CN" sz="1800" dirty="0">
                    <a:latin typeface="Arial" panose="020B0604020202020204" pitchFamily="34" charset="0"/>
                    <a:cs typeface="Arial" panose="020B0604020202020204" pitchFamily="34" charset="0"/>
                  </a:rPr>
                  <a:t>.</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Cool Down: Reduce the temperature according to the schedule.</a:t>
                </a:r>
              </a:p>
              <a:p>
                <a:pPr marL="342900" indent="-342900" algn="l">
                  <a:buFont typeface="+mj-lt"/>
                  <a:buAutoNum type="arabicPeriod"/>
                </a:pPr>
                <a:r>
                  <a:rPr lang="en-US" altLang="zh-CN" sz="1800" dirty="0">
                    <a:latin typeface="Arial" panose="020B0604020202020204" pitchFamily="34" charset="0"/>
                    <a:cs typeface="Arial" panose="020B0604020202020204" pitchFamily="34" charset="0"/>
                  </a:rPr>
                  <a:t>Loop: Repeat steps 2-5 until the temperature drops below the threshold</a:t>
                </a:r>
              </a:p>
            </p:txBody>
          </p:sp>
        </mc:Choice>
        <mc:Fallback xmlns="">
          <p:sp>
            <p:nvSpPr>
              <p:cNvPr id="2" name="文本框 1">
                <a:extLst>
                  <a:ext uri="{FF2B5EF4-FFF2-40B4-BE49-F238E27FC236}">
                    <a16:creationId xmlns:a16="http://schemas.microsoft.com/office/drawing/2014/main" id="{ED890BCB-305D-07DE-19DB-977A95DBEEC1}"/>
                  </a:ext>
                </a:extLst>
              </p:cNvPr>
              <p:cNvSpPr txBox="1">
                <a:spLocks noRot="1" noChangeAspect="1" noMove="1" noResize="1" noEditPoints="1" noAdjustHandles="1" noChangeArrowheads="1" noChangeShapeType="1" noTextEdit="1"/>
              </p:cNvSpPr>
              <p:nvPr/>
            </p:nvSpPr>
            <p:spPr>
              <a:xfrm>
                <a:off x="789493" y="1168820"/>
                <a:ext cx="6645779" cy="4711674"/>
              </a:xfrm>
              <a:prstGeom prst="rect">
                <a:avLst/>
              </a:prstGeom>
              <a:blipFill>
                <a:blip r:embed="rId3"/>
                <a:stretch>
                  <a:fillRect l="-2385" t="-517" r="-1651" b="-2070"/>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E3F09E6F-3AA8-1B80-8607-024DD1AFD708}"/>
              </a:ext>
            </a:extLst>
          </p:cNvPr>
          <p:cNvPicPr>
            <a:picLocks noChangeAspect="1"/>
          </p:cNvPicPr>
          <p:nvPr/>
        </p:nvPicPr>
        <p:blipFill>
          <a:blip r:embed="rId4"/>
          <a:stretch>
            <a:fillRect/>
          </a:stretch>
        </p:blipFill>
        <p:spPr>
          <a:xfrm>
            <a:off x="7703326" y="1377100"/>
            <a:ext cx="3570070" cy="3525583"/>
          </a:xfrm>
          <a:prstGeom prst="rect">
            <a:avLst/>
          </a:prstGeom>
        </p:spPr>
      </p:pic>
      <p:sp>
        <p:nvSpPr>
          <p:cNvPr id="5" name="矩形 4">
            <a:hlinkClick r:id="rId5" action="ppaction://hlinkfile"/>
            <a:extLst>
              <a:ext uri="{FF2B5EF4-FFF2-40B4-BE49-F238E27FC236}">
                <a16:creationId xmlns:a16="http://schemas.microsoft.com/office/drawing/2014/main" id="{4BD5D1AA-4DFC-D8BB-7C82-C6DF24571FC4}"/>
              </a:ext>
            </a:extLst>
          </p:cNvPr>
          <p:cNvSpPr/>
          <p:nvPr/>
        </p:nvSpPr>
        <p:spPr>
          <a:xfrm>
            <a:off x="7888746" y="5218961"/>
            <a:ext cx="1196397" cy="523875"/>
          </a:xfrm>
          <a:prstGeom prst="rect">
            <a:avLst/>
          </a:prstGeom>
          <a:ln>
            <a:noFill/>
          </a:ln>
          <a:scene3d>
            <a:camera prst="orthographicFront"/>
            <a:lightRig rig="threePt" dir="t"/>
          </a:scene3d>
          <a:sp3d>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Arial" panose="020B0604020202020204" pitchFamily="34" charset="0"/>
                <a:ea typeface="思源黑体 CN Medium" panose="020B0600000000000000" pitchFamily="34" charset="-122"/>
                <a:cs typeface="Arial" panose="020B0604020202020204" pitchFamily="34" charset="0"/>
              </a:rPr>
              <a:t>C++ Code</a:t>
            </a:r>
            <a:endParaRPr lang="zh-CN" altLang="en-US" sz="1600" dirty="0">
              <a:solidFill>
                <a:schemeClr val="bg1"/>
              </a:solidFill>
              <a:latin typeface="Arial" panose="020B0604020202020204" pitchFamily="34" charset="0"/>
              <a:ea typeface="思源黑体 CN Medium" panose="020B0600000000000000" pitchFamily="34" charset="-122"/>
              <a:cs typeface="Arial" panose="020B0604020202020204" pitchFamily="34" charset="0"/>
            </a:endParaRPr>
          </a:p>
        </p:txBody>
      </p:sp>
      <p:sp>
        <p:nvSpPr>
          <p:cNvPr id="6" name="矩形 5">
            <a:hlinkClick r:id="rId6"/>
            <a:extLst>
              <a:ext uri="{FF2B5EF4-FFF2-40B4-BE49-F238E27FC236}">
                <a16:creationId xmlns:a16="http://schemas.microsoft.com/office/drawing/2014/main" id="{6290847F-80A1-62E6-5645-93D6EF4D49BB}"/>
              </a:ext>
            </a:extLst>
          </p:cNvPr>
          <p:cNvSpPr/>
          <p:nvPr/>
        </p:nvSpPr>
        <p:spPr>
          <a:xfrm>
            <a:off x="9819824" y="5218961"/>
            <a:ext cx="1196397" cy="523875"/>
          </a:xfrm>
          <a:prstGeom prst="rect">
            <a:avLst/>
          </a:prstGeom>
          <a:ln>
            <a:noFill/>
          </a:ln>
          <a:scene3d>
            <a:camera prst="orthographicFront"/>
            <a:lightRig rig="threePt" dir="t"/>
          </a:scene3d>
          <a:sp3d>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Arial" panose="020B0604020202020204" pitchFamily="34" charset="0"/>
                <a:ea typeface="思源黑体 CN Medium" panose="020B0600000000000000" pitchFamily="34" charset="-122"/>
                <a:cs typeface="Arial" panose="020B0604020202020204" pitchFamily="34" charset="0"/>
              </a:rPr>
              <a:t>Test case</a:t>
            </a:r>
            <a:endParaRPr lang="zh-CN" altLang="en-US" sz="1600" dirty="0">
              <a:solidFill>
                <a:schemeClr val="bg1"/>
              </a:solidFill>
              <a:latin typeface="Arial" panose="020B0604020202020204" pitchFamily="34" charset="0"/>
              <a:ea typeface="思源黑体 CN Medium" panose="020B0600000000000000" pitchFamily="34" charset="-122"/>
              <a:cs typeface="Arial" panose="020B0604020202020204" pitchFamily="34" charset="0"/>
            </a:endParaRPr>
          </a:p>
        </p:txBody>
      </p:sp>
    </p:spTree>
    <p:extLst>
      <p:ext uri="{BB962C8B-B14F-4D97-AF65-F5344CB8AC3E}">
        <p14:creationId xmlns:p14="http://schemas.microsoft.com/office/powerpoint/2010/main" val="47952445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D2037-4F84-B2B6-27F6-C1739352260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7A972D2-A6EA-8035-B9B0-571ACC87C20F}"/>
              </a:ext>
            </a:extLst>
          </p:cNvPr>
          <p:cNvSpPr txBox="1"/>
          <p:nvPr/>
        </p:nvSpPr>
        <p:spPr>
          <a:xfrm>
            <a:off x="1250919" y="398011"/>
            <a:ext cx="7811177"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Example: Traveling Salesman Problem (TSP)</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3" name="文本框 12">
            <a:extLst>
              <a:ext uri="{FF2B5EF4-FFF2-40B4-BE49-F238E27FC236}">
                <a16:creationId xmlns:a16="http://schemas.microsoft.com/office/drawing/2014/main" id="{7B5C2105-3900-B7E1-FB26-B565E12AB4E9}"/>
              </a:ext>
            </a:extLst>
          </p:cNvPr>
          <p:cNvSpPr txBox="1"/>
          <p:nvPr/>
        </p:nvSpPr>
        <p:spPr>
          <a:xfrm>
            <a:off x="738478" y="1339929"/>
            <a:ext cx="8836057" cy="1874872"/>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Introduction</a:t>
            </a:r>
          </a:p>
          <a:p>
            <a:pPr algn="l"/>
            <a:r>
              <a:rPr lang="en-US" altLang="zh-CN" sz="1800" kern="100" dirty="0">
                <a:latin typeface="Arial" panose="020B0604020202020204" pitchFamily="34" charset="0"/>
                <a:ea typeface="等线" panose="02010600030101010101" pitchFamily="2" charset="-122"/>
                <a:cs typeface="Arial" panose="020B0604020202020204" pitchFamily="34" charset="0"/>
              </a:rPr>
              <a:t>Find the shortest route visiting each city exactly once and returning to the start point.</a:t>
            </a:r>
          </a:p>
          <a:p>
            <a:pPr marL="342900" indent="-34290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Classic NP‑hard optimization problem</a:t>
            </a:r>
          </a:p>
          <a:p>
            <a:pPr marL="342900" indent="-34290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Exact solution becomes impossible for many cities</a:t>
            </a:r>
          </a:p>
          <a:p>
            <a:pPr marL="342900" indent="-342900" algn="l">
              <a:buFont typeface="Arial" panose="020B0604020202020204" pitchFamily="34" charset="0"/>
              <a:buChar char="•"/>
            </a:pPr>
            <a:r>
              <a:rPr lang="en-US" altLang="zh-CN" sz="1800" kern="100" dirty="0">
                <a:latin typeface="Arial" panose="020B0604020202020204" pitchFamily="34" charset="0"/>
                <a:ea typeface="等线" panose="02010600030101010101" pitchFamily="2" charset="-122"/>
                <a:cs typeface="Arial" panose="020B0604020202020204" pitchFamily="34" charset="0"/>
              </a:rPr>
              <a:t>Used in logistics, manufacturing, DNA sequencing</a:t>
            </a:r>
          </a:p>
        </p:txBody>
      </p:sp>
      <p:sp>
        <p:nvSpPr>
          <p:cNvPr id="2" name="文本框 1">
            <a:extLst>
              <a:ext uri="{FF2B5EF4-FFF2-40B4-BE49-F238E27FC236}">
                <a16:creationId xmlns:a16="http://schemas.microsoft.com/office/drawing/2014/main" id="{309F054A-7C9A-D1E2-F323-1F61C49D98C4}"/>
              </a:ext>
            </a:extLst>
          </p:cNvPr>
          <p:cNvSpPr txBox="1"/>
          <p:nvPr/>
        </p:nvSpPr>
        <p:spPr>
          <a:xfrm>
            <a:off x="738478" y="3504191"/>
            <a:ext cx="6942482" cy="1877245"/>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Solution</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Start with a random tour and high temperature.</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Randomly swap two cities, accept new tour if better.</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Occasionally accept worse tours early to explore.</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Gradually reduce temperature until a stable solution is found.</a:t>
            </a:r>
          </a:p>
        </p:txBody>
      </p:sp>
      <p:pic>
        <p:nvPicPr>
          <p:cNvPr id="7" name="图片 6" descr="图示&#10;&#10;AI 生成的内容可能不正确。">
            <a:extLst>
              <a:ext uri="{FF2B5EF4-FFF2-40B4-BE49-F238E27FC236}">
                <a16:creationId xmlns:a16="http://schemas.microsoft.com/office/drawing/2014/main" id="{8B2FC37B-C1E0-BA9F-B78B-3741734AD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1891" y="2165271"/>
            <a:ext cx="3352800" cy="3352800"/>
          </a:xfrm>
          <a:prstGeom prst="rect">
            <a:avLst/>
          </a:prstGeom>
        </p:spPr>
      </p:pic>
    </p:spTree>
    <p:extLst>
      <p:ext uri="{BB962C8B-B14F-4D97-AF65-F5344CB8AC3E}">
        <p14:creationId xmlns:p14="http://schemas.microsoft.com/office/powerpoint/2010/main" val="7337254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7AEB-6A9F-5241-74C3-A690D064799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B4B2753-AE8A-CA9C-B01E-6C5128AFE556}"/>
              </a:ext>
            </a:extLst>
          </p:cNvPr>
          <p:cNvSpPr txBox="1"/>
          <p:nvPr/>
        </p:nvSpPr>
        <p:spPr>
          <a:xfrm>
            <a:off x="1250919" y="398011"/>
            <a:ext cx="3756156"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Simulated Annealing</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13" name="文本框 12">
            <a:extLst>
              <a:ext uri="{FF2B5EF4-FFF2-40B4-BE49-F238E27FC236}">
                <a16:creationId xmlns:a16="http://schemas.microsoft.com/office/drawing/2014/main" id="{664DEA13-2F7B-D310-F5B2-648B61CA6518}"/>
              </a:ext>
            </a:extLst>
          </p:cNvPr>
          <p:cNvSpPr txBox="1"/>
          <p:nvPr/>
        </p:nvSpPr>
        <p:spPr>
          <a:xfrm>
            <a:off x="600031" y="1019954"/>
            <a:ext cx="4886370" cy="5475858"/>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Algorithm Optimization</a:t>
            </a:r>
            <a:endParaRPr lang="en-US" altLang="zh-CN" sz="1800" kern="100" dirty="0">
              <a:latin typeface="Arial" panose="020B0604020202020204" pitchFamily="34" charset="0"/>
              <a:ea typeface="等线" panose="02010600030101010101" pitchFamily="2" charset="-122"/>
              <a:cs typeface="Arial" panose="020B0604020202020204" pitchFamily="34" charset="0"/>
            </a:endParaRP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Multiple solutions anneal simultaneously, periodically exchanging discoveries</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Combine promising segments from different chains to create new solutions</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Dynamically adjust mutation magnitude based on search stage</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Record poor solution regions to avoid revisiting</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Assign different temperatures to different chains</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Preferentially perturb high-quality or diverse solutions</a:t>
            </a:r>
          </a:p>
          <a:p>
            <a:pPr marL="342900" indent="-342900" algn="l">
              <a:buFont typeface="+mj-lt"/>
              <a:buAutoNum type="arabicPeriod"/>
            </a:pPr>
            <a:r>
              <a:rPr lang="en-US" altLang="zh-CN" sz="1800" kern="100" dirty="0">
                <a:latin typeface="Arial" panose="020B0604020202020204" pitchFamily="34" charset="0"/>
                <a:ea typeface="等线" panose="02010600030101010101" pitchFamily="2" charset="-122"/>
                <a:cs typeface="Arial" panose="020B0604020202020204" pitchFamily="34" charset="0"/>
              </a:rPr>
              <a:t>Quick hill-climbing to a local peak after accepting a new solution</a:t>
            </a:r>
            <a:endPar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sp>
        <p:nvSpPr>
          <p:cNvPr id="2" name="文本框 1">
            <a:extLst>
              <a:ext uri="{FF2B5EF4-FFF2-40B4-BE49-F238E27FC236}">
                <a16:creationId xmlns:a16="http://schemas.microsoft.com/office/drawing/2014/main" id="{E07AB91A-F911-BEAE-DAEC-5422F80E977B}"/>
              </a:ext>
            </a:extLst>
          </p:cNvPr>
          <p:cNvSpPr txBox="1"/>
          <p:nvPr/>
        </p:nvSpPr>
        <p:spPr>
          <a:xfrm>
            <a:off x="7563800" y="1483947"/>
            <a:ext cx="4230302" cy="4736168"/>
          </a:xfrm>
          <a:prstGeom prst="rect">
            <a:avLst/>
          </a:prstGeom>
          <a:noFill/>
        </p:spPr>
        <p:txBody>
          <a:bodyPr wrap="square" rtlCol="0">
            <a:spAutoFit/>
          </a:bodyPr>
          <a:lstStyle/>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Population ideology</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Cross operation</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Adaptive mutation</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Population gene pool</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Selection pressure gradation</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Selection operator</a:t>
            </a:r>
          </a:p>
          <a:p>
            <a:pPr marL="285750" indent="-285750" defTabSz="987425" fontAlgn="base">
              <a:lnSpc>
                <a:spcPct val="130000"/>
              </a:lnSpc>
              <a:spcBef>
                <a:spcPct val="0"/>
              </a:spcBef>
              <a:spcAft>
                <a:spcPct val="0"/>
              </a:spcAft>
              <a:buFont typeface="Arial" panose="020B0604020202020204" pitchFamily="34" charset="0"/>
              <a:buChar char="•"/>
            </a:pPr>
            <a:endPar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a:p>
            <a:pPr marL="285750" indent="-285750" defTabSz="987425" fontAlgn="base">
              <a:lnSpc>
                <a:spcPct val="130000"/>
              </a:lnSpc>
              <a:spcBef>
                <a:spcPct val="0"/>
              </a:spcBef>
              <a:spcAft>
                <a:spcPct val="0"/>
              </a:spcAft>
              <a:buFont typeface="Arial" panose="020B0604020202020204" pitchFamily="34" charset="0"/>
              <a:buChar char="•"/>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Memetic algorithms</a:t>
            </a:r>
          </a:p>
        </p:txBody>
      </p:sp>
      <p:grpSp>
        <p:nvGrpSpPr>
          <p:cNvPr id="19" name="组合 18">
            <a:extLst>
              <a:ext uri="{FF2B5EF4-FFF2-40B4-BE49-F238E27FC236}">
                <a16:creationId xmlns:a16="http://schemas.microsoft.com/office/drawing/2014/main" id="{2332AB1E-709B-7ED3-3B6D-625BB7CCDD23}"/>
              </a:ext>
            </a:extLst>
          </p:cNvPr>
          <p:cNvGrpSpPr/>
          <p:nvPr/>
        </p:nvGrpSpPr>
        <p:grpSpPr>
          <a:xfrm>
            <a:off x="5855308" y="1620698"/>
            <a:ext cx="972154" cy="4462665"/>
            <a:chOff x="5818465" y="1565335"/>
            <a:chExt cx="972154" cy="4462665"/>
          </a:xfrm>
        </p:grpSpPr>
        <p:sp>
          <p:nvSpPr>
            <p:cNvPr id="10" name="箭头: 右 9">
              <a:extLst>
                <a:ext uri="{FF2B5EF4-FFF2-40B4-BE49-F238E27FC236}">
                  <a16:creationId xmlns:a16="http://schemas.microsoft.com/office/drawing/2014/main" id="{99492E06-7E38-1D07-3D74-EAA5A9D11B93}"/>
                </a:ext>
              </a:extLst>
            </p:cNvPr>
            <p:cNvSpPr/>
            <p:nvPr/>
          </p:nvSpPr>
          <p:spPr>
            <a:xfrm>
              <a:off x="5818465" y="1565335"/>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右 11">
              <a:extLst>
                <a:ext uri="{FF2B5EF4-FFF2-40B4-BE49-F238E27FC236}">
                  <a16:creationId xmlns:a16="http://schemas.microsoft.com/office/drawing/2014/main" id="{B6C09739-696A-642C-FBCB-03EB63758D4D}"/>
                </a:ext>
              </a:extLst>
            </p:cNvPr>
            <p:cNvSpPr/>
            <p:nvPr/>
          </p:nvSpPr>
          <p:spPr>
            <a:xfrm>
              <a:off x="5818465" y="2264280"/>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箭头: 右 13">
              <a:extLst>
                <a:ext uri="{FF2B5EF4-FFF2-40B4-BE49-F238E27FC236}">
                  <a16:creationId xmlns:a16="http://schemas.microsoft.com/office/drawing/2014/main" id="{0BD7B65F-A4B2-1FBC-9F67-27EB3207DA63}"/>
                </a:ext>
              </a:extLst>
            </p:cNvPr>
            <p:cNvSpPr/>
            <p:nvPr/>
          </p:nvSpPr>
          <p:spPr>
            <a:xfrm>
              <a:off x="5818465" y="2992836"/>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箭头: 右 14">
              <a:extLst>
                <a:ext uri="{FF2B5EF4-FFF2-40B4-BE49-F238E27FC236}">
                  <a16:creationId xmlns:a16="http://schemas.microsoft.com/office/drawing/2014/main" id="{069E57E7-4151-87D8-A14C-806A3CD69407}"/>
                </a:ext>
              </a:extLst>
            </p:cNvPr>
            <p:cNvSpPr/>
            <p:nvPr/>
          </p:nvSpPr>
          <p:spPr>
            <a:xfrm>
              <a:off x="5818465" y="3691781"/>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右 15">
              <a:extLst>
                <a:ext uri="{FF2B5EF4-FFF2-40B4-BE49-F238E27FC236}">
                  <a16:creationId xmlns:a16="http://schemas.microsoft.com/office/drawing/2014/main" id="{B01448F1-02AF-E8F7-97B8-73445E1066B8}"/>
                </a:ext>
              </a:extLst>
            </p:cNvPr>
            <p:cNvSpPr/>
            <p:nvPr/>
          </p:nvSpPr>
          <p:spPr>
            <a:xfrm>
              <a:off x="5818468" y="4390726"/>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右 16">
              <a:extLst>
                <a:ext uri="{FF2B5EF4-FFF2-40B4-BE49-F238E27FC236}">
                  <a16:creationId xmlns:a16="http://schemas.microsoft.com/office/drawing/2014/main" id="{FCE52598-D86A-BB51-A23E-25BCBC0083A4}"/>
                </a:ext>
              </a:extLst>
            </p:cNvPr>
            <p:cNvSpPr/>
            <p:nvPr/>
          </p:nvSpPr>
          <p:spPr>
            <a:xfrm>
              <a:off x="5818467" y="5089047"/>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箭头: 右 17">
              <a:extLst>
                <a:ext uri="{FF2B5EF4-FFF2-40B4-BE49-F238E27FC236}">
                  <a16:creationId xmlns:a16="http://schemas.microsoft.com/office/drawing/2014/main" id="{DC080DFE-7431-9665-2FEE-973C62EF416C}"/>
                </a:ext>
              </a:extLst>
            </p:cNvPr>
            <p:cNvSpPr/>
            <p:nvPr/>
          </p:nvSpPr>
          <p:spPr>
            <a:xfrm>
              <a:off x="5818465" y="5787368"/>
              <a:ext cx="972151" cy="2406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525901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4CF4F-AC88-D011-7706-3ECF4BF3713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2DFA38F-9B57-74EA-CF7B-F1C4C7767307}"/>
              </a:ext>
            </a:extLst>
          </p:cNvPr>
          <p:cNvSpPr txBox="1"/>
          <p:nvPr/>
        </p:nvSpPr>
        <p:spPr>
          <a:xfrm>
            <a:off x="1250919" y="398011"/>
            <a:ext cx="4717958"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Further: Genetic algorithm</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2" name="文本框 1">
            <a:extLst>
              <a:ext uri="{FF2B5EF4-FFF2-40B4-BE49-F238E27FC236}">
                <a16:creationId xmlns:a16="http://schemas.microsoft.com/office/drawing/2014/main" id="{464513CC-D97A-EDBB-FC0A-A354D7309FBB}"/>
              </a:ext>
            </a:extLst>
          </p:cNvPr>
          <p:cNvSpPr txBox="1"/>
          <p:nvPr/>
        </p:nvSpPr>
        <p:spPr>
          <a:xfrm>
            <a:off x="780731" y="1127217"/>
            <a:ext cx="10201305" cy="2735364"/>
          </a:xfrm>
          <a:prstGeom prst="rect">
            <a:avLst/>
          </a:prstGeom>
          <a:noFill/>
        </p:spPr>
        <p:txBody>
          <a:bodyPr wrap="square" lIns="0" tIns="0" rIns="0" bIns="0">
            <a:spAutoFit/>
          </a:bodyPr>
          <a:lstStyle>
            <a:defPPr>
              <a:defRPr lang="en-US"/>
            </a:defPPr>
            <a:lvl1pPr algn="ctr" defTabSz="987425" fontAlgn="base">
              <a:lnSpc>
                <a:spcPct val="130000"/>
              </a:lnSpc>
              <a:spcBef>
                <a:spcPct val="0"/>
              </a:spcBef>
              <a:spcAft>
                <a:spcPct val="0"/>
              </a:spcAft>
              <a:defRPr sz="1400">
                <a:solidFill>
                  <a:srgbClr val="404040"/>
                </a:solidFill>
                <a:latin typeface="思源黑体 CN Medium" panose="020B0600000000000000" pitchFamily="34" charset="-122"/>
                <a:ea typeface="思源黑体 CN Medium" panose="020B0600000000000000" pitchFamily="34" charset="-122"/>
                <a:cs typeface="Open Sans" panose="020B0606030504020204" pitchFamily="34" charset="0"/>
              </a:defRPr>
            </a:lvl1pPr>
          </a:lstStyle>
          <a:p>
            <a:pPr lvl="0" algn="l">
              <a:lnSpc>
                <a:spcPct val="120000"/>
              </a:lnSpc>
              <a:spcAft>
                <a:spcPts val="800"/>
              </a:spcAft>
              <a:buSzPts val="1600"/>
            </a:pPr>
            <a:r>
              <a:rPr lang="en-US" altLang="zh-CN" sz="2000" b="1" kern="100" dirty="0">
                <a:latin typeface="Arial" panose="020B0604020202020204" pitchFamily="34" charset="0"/>
                <a:ea typeface="等线" panose="02010600030101010101" pitchFamily="2" charset="-122"/>
                <a:cs typeface="Arial" panose="020B0604020202020204" pitchFamily="34" charset="0"/>
              </a:rPr>
              <a:t>Basic Principle</a:t>
            </a:r>
          </a:p>
          <a:p>
            <a:pPr lvl="0" algn="l">
              <a:lnSpc>
                <a:spcPct val="120000"/>
              </a:lnSpc>
              <a:spcAft>
                <a:spcPts val="800"/>
              </a:spcAft>
              <a:buSzPts val="1600"/>
            </a:pPr>
            <a:r>
              <a:rPr lang="en-US" altLang="zh-CN" sz="1800" kern="100" dirty="0">
                <a:latin typeface="Arial" panose="020B0604020202020204" pitchFamily="34" charset="0"/>
                <a:ea typeface="等线" panose="02010600030101010101" pitchFamily="2" charset="-122"/>
                <a:cs typeface="Arial" panose="020B0604020202020204" pitchFamily="34" charset="0"/>
              </a:rPr>
              <a:t>Genetic algorithm(GA) is a population-based optimization algorithm that uses mechanisms inspired by biological evolution—such as selection, crossover, and mutation—to iteratively improve a set of candidate solutions. It runs for a predetermined number of generations or until a convergence criterion is met, and generally returns a good but not guaranteed optimal solution within that finite time</a:t>
            </a:r>
          </a:p>
          <a:p>
            <a:pPr lvl="0" algn="l">
              <a:lnSpc>
                <a:spcPct val="120000"/>
              </a:lnSpc>
              <a:spcAft>
                <a:spcPts val="800"/>
              </a:spcAft>
              <a:buSzPts val="1600"/>
            </a:pP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遗传算法是一种基于种群的优化算法，利用受生物进化启发的机制</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如选择、交叉和突变</a:t>
            </a:r>
            <a:r>
              <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rPr>
              <a:t>——</a:t>
            </a:r>
            <a:r>
              <a:rPr lang="zh-CN" altLang="en-US" kern="100" dirty="0">
                <a:solidFill>
                  <a:srgbClr val="777777"/>
                </a:solidFill>
                <a:latin typeface="Arial" panose="020B0604020202020204" pitchFamily="34" charset="0"/>
                <a:ea typeface="等线" panose="02010600030101010101" pitchFamily="2" charset="-122"/>
                <a:cs typeface="Arial" panose="020B0604020202020204" pitchFamily="34" charset="0"/>
              </a:rPr>
              <a:t>来迭代改进一组候选解。它运行预定的世代数，或直到收敛准则满足，通常在有限时间内返回一个良好但不保证的最优解。</a:t>
            </a:r>
            <a:endParaRPr lang="en-US" altLang="zh-CN" kern="100" dirty="0">
              <a:solidFill>
                <a:srgbClr val="777777"/>
              </a:solidFill>
              <a:latin typeface="Arial" panose="020B0604020202020204" pitchFamily="34" charset="0"/>
              <a:ea typeface="等线" panose="02010600030101010101" pitchFamily="2" charset="-122"/>
              <a:cs typeface="Arial" panose="020B0604020202020204" pitchFamily="34" charset="0"/>
            </a:endParaRPr>
          </a:p>
        </p:txBody>
      </p:sp>
      <p:pic>
        <p:nvPicPr>
          <p:cNvPr id="1026" name="Picture 2" descr="大鲨鱼鱼群海底海洋生物图片">
            <a:extLst>
              <a:ext uri="{FF2B5EF4-FFF2-40B4-BE49-F238E27FC236}">
                <a16:creationId xmlns:a16="http://schemas.microsoft.com/office/drawing/2014/main" id="{CB517F80-2687-BA12-A4E9-70C74BE03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919" y="4068567"/>
            <a:ext cx="3861585" cy="21641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NA生物学研究图片">
            <a:extLst>
              <a:ext uri="{FF2B5EF4-FFF2-40B4-BE49-F238E27FC236}">
                <a16:creationId xmlns:a16="http://schemas.microsoft.com/office/drawing/2014/main" id="{DACB659D-A5ED-FFCE-B45A-C93445EAF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35" y="4068567"/>
            <a:ext cx="3861586" cy="2171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1043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81F20-0D5B-B44F-82E2-BC9F2CC1A34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D3CB421-E411-C046-3335-4BB1BE33DE91}"/>
              </a:ext>
            </a:extLst>
          </p:cNvPr>
          <p:cNvSpPr txBox="1"/>
          <p:nvPr/>
        </p:nvSpPr>
        <p:spPr>
          <a:xfrm>
            <a:off x="1250919" y="398011"/>
            <a:ext cx="2141933" cy="954107"/>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Application</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a:p>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grpSp>
        <p:nvGrpSpPr>
          <p:cNvPr id="7" name="组合 6">
            <a:extLst>
              <a:ext uri="{FF2B5EF4-FFF2-40B4-BE49-F238E27FC236}">
                <a16:creationId xmlns:a16="http://schemas.microsoft.com/office/drawing/2014/main" id="{97332B72-8BCB-489C-620F-7C64C1CEFD57}"/>
              </a:ext>
            </a:extLst>
          </p:cNvPr>
          <p:cNvGrpSpPr/>
          <p:nvPr/>
        </p:nvGrpSpPr>
        <p:grpSpPr>
          <a:xfrm rot="1434201">
            <a:off x="1226527" y="1440977"/>
            <a:ext cx="4110469" cy="2252017"/>
            <a:chOff x="702161" y="1447655"/>
            <a:chExt cx="4110469" cy="2252017"/>
          </a:xfrm>
        </p:grpSpPr>
        <p:pic>
          <p:nvPicPr>
            <p:cNvPr id="5" name="图片 4" descr="电脑的屏幕&#10;&#10;AI 生成的内容可能不正确。">
              <a:extLst>
                <a:ext uri="{FF2B5EF4-FFF2-40B4-BE49-F238E27FC236}">
                  <a16:creationId xmlns:a16="http://schemas.microsoft.com/office/drawing/2014/main" id="{A2BB9FE2-E5F2-56F6-F762-8199B64038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894647">
              <a:off x="702161" y="1447655"/>
              <a:ext cx="2858866" cy="1898799"/>
            </a:xfrm>
            <a:prstGeom prst="rect">
              <a:avLst/>
            </a:prstGeom>
          </p:spPr>
        </p:pic>
        <p:sp>
          <p:nvSpPr>
            <p:cNvPr id="6" name="文本框 5">
              <a:extLst>
                <a:ext uri="{FF2B5EF4-FFF2-40B4-BE49-F238E27FC236}">
                  <a16:creationId xmlns:a16="http://schemas.microsoft.com/office/drawing/2014/main" id="{D2618820-A5A6-3883-5933-0FE9F4E5873E}"/>
                </a:ext>
              </a:extLst>
            </p:cNvPr>
            <p:cNvSpPr txBox="1"/>
            <p:nvPr/>
          </p:nvSpPr>
          <p:spPr>
            <a:xfrm rot="20923528">
              <a:off x="789270" y="3330340"/>
              <a:ext cx="4023360" cy="369332"/>
            </a:xfrm>
            <a:prstGeom prst="rect">
              <a:avLst/>
            </a:prstGeom>
            <a:noFill/>
          </p:spPr>
          <p:txBody>
            <a:bodyPr wrap="square" rtlCol="0">
              <a:spAutoFit/>
            </a:bodyPr>
            <a:lstStyle/>
            <a:p>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Software Engineering Optimization</a:t>
              </a:r>
              <a:endPar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grpSp>
      <p:grpSp>
        <p:nvGrpSpPr>
          <p:cNvPr id="9" name="组合 8">
            <a:extLst>
              <a:ext uri="{FF2B5EF4-FFF2-40B4-BE49-F238E27FC236}">
                <a16:creationId xmlns:a16="http://schemas.microsoft.com/office/drawing/2014/main" id="{92738145-F2A9-B6F4-6F8F-2DEA3251471E}"/>
              </a:ext>
            </a:extLst>
          </p:cNvPr>
          <p:cNvGrpSpPr/>
          <p:nvPr/>
        </p:nvGrpSpPr>
        <p:grpSpPr>
          <a:xfrm rot="21416002">
            <a:off x="1695144" y="4039496"/>
            <a:ext cx="3601704" cy="2517463"/>
            <a:chOff x="2011039" y="4089413"/>
            <a:chExt cx="3601704" cy="2517463"/>
          </a:xfrm>
        </p:grpSpPr>
        <p:pic>
          <p:nvPicPr>
            <p:cNvPr id="1030" name="Picture 6" descr="人工智能机器人图片">
              <a:extLst>
                <a:ext uri="{FF2B5EF4-FFF2-40B4-BE49-F238E27FC236}">
                  <a16:creationId xmlns:a16="http://schemas.microsoft.com/office/drawing/2014/main" id="{9C9D8E20-CAFC-4F3D-7E22-5C69C9245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039" y="4089413"/>
              <a:ext cx="3601704" cy="201846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CE1EF12D-A09F-A311-B55C-56F8E07A3378}"/>
                </a:ext>
              </a:extLst>
            </p:cNvPr>
            <p:cNvSpPr txBox="1"/>
            <p:nvPr/>
          </p:nvSpPr>
          <p:spPr>
            <a:xfrm>
              <a:off x="2525854" y="6231490"/>
              <a:ext cx="2572074" cy="375386"/>
            </a:xfrm>
            <a:prstGeom prst="rect">
              <a:avLst/>
            </a:prstGeom>
            <a:noFill/>
          </p:spPr>
          <p:txBody>
            <a:bodyPr wrap="square" rtlCol="0">
              <a:spAutoFit/>
            </a:bodyPr>
            <a:lstStyle/>
            <a:p>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AI &amp; Machine Learning</a:t>
              </a:r>
              <a:endPar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grpSp>
      <p:grpSp>
        <p:nvGrpSpPr>
          <p:cNvPr id="13" name="组合 12">
            <a:extLst>
              <a:ext uri="{FF2B5EF4-FFF2-40B4-BE49-F238E27FC236}">
                <a16:creationId xmlns:a16="http://schemas.microsoft.com/office/drawing/2014/main" id="{CD48628A-D11E-98B5-45F9-6E7A4EC500E3}"/>
              </a:ext>
            </a:extLst>
          </p:cNvPr>
          <p:cNvGrpSpPr/>
          <p:nvPr/>
        </p:nvGrpSpPr>
        <p:grpSpPr>
          <a:xfrm>
            <a:off x="5358509" y="1062758"/>
            <a:ext cx="3353213" cy="2866943"/>
            <a:chOff x="5823121" y="1084428"/>
            <a:chExt cx="3353213" cy="2866943"/>
          </a:xfrm>
        </p:grpSpPr>
        <p:pic>
          <p:nvPicPr>
            <p:cNvPr id="1034" name="Picture 10" descr="体验虚拟现实设备的人创意高清图片">
              <a:extLst>
                <a:ext uri="{FF2B5EF4-FFF2-40B4-BE49-F238E27FC236}">
                  <a16:creationId xmlns:a16="http://schemas.microsoft.com/office/drawing/2014/main" id="{7E48A073-6AD3-3664-8B28-AEEEE4C284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53517">
              <a:off x="5823121" y="1084428"/>
              <a:ext cx="3353213" cy="2176528"/>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DB875C42-634C-E2CB-4A99-3CF2FC41F79A}"/>
                </a:ext>
              </a:extLst>
            </p:cNvPr>
            <p:cNvSpPr txBox="1"/>
            <p:nvPr/>
          </p:nvSpPr>
          <p:spPr>
            <a:xfrm rot="223388">
              <a:off x="5979264" y="3305040"/>
              <a:ext cx="2950455" cy="646331"/>
            </a:xfrm>
            <a:prstGeom prst="rect">
              <a:avLst/>
            </a:prstGeom>
            <a:noFill/>
          </p:spPr>
          <p:txBody>
            <a:bodyPr wrap="square" rtlCol="0">
              <a:spAutoFit/>
            </a:bodyPr>
            <a:lstStyle/>
            <a:p>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Computer Vision &amp; Image Processing</a:t>
              </a:r>
              <a:endPar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grpSp>
      <p:sp>
        <p:nvSpPr>
          <p:cNvPr id="12" name="文本框 11">
            <a:extLst>
              <a:ext uri="{FF2B5EF4-FFF2-40B4-BE49-F238E27FC236}">
                <a16:creationId xmlns:a16="http://schemas.microsoft.com/office/drawing/2014/main" id="{9B06ADA3-90F5-1114-FD60-679ADC312993}"/>
              </a:ext>
            </a:extLst>
          </p:cNvPr>
          <p:cNvSpPr txBox="1"/>
          <p:nvPr/>
        </p:nvSpPr>
        <p:spPr>
          <a:xfrm>
            <a:off x="10005562" y="3093704"/>
            <a:ext cx="1100981" cy="707886"/>
          </a:xfrm>
          <a:prstGeom prst="rect">
            <a:avLst/>
          </a:prstGeom>
          <a:noFill/>
        </p:spPr>
        <p:txBody>
          <a:bodyPr wrap="square" rtlCol="0">
            <a:spAutoFit/>
          </a:bodyPr>
          <a:lstStyle/>
          <a:p>
            <a:r>
              <a:rPr lang="en-US" altLang="zh-CN" sz="4000" dirty="0"/>
              <a:t>…</a:t>
            </a:r>
            <a:endParaRPr lang="zh-CN" altLang="en-US" sz="4000" dirty="0"/>
          </a:p>
        </p:txBody>
      </p:sp>
      <p:grpSp>
        <p:nvGrpSpPr>
          <p:cNvPr id="14" name="组合 13">
            <a:extLst>
              <a:ext uri="{FF2B5EF4-FFF2-40B4-BE49-F238E27FC236}">
                <a16:creationId xmlns:a16="http://schemas.microsoft.com/office/drawing/2014/main" id="{4E18DB2C-D4D7-39C2-A734-C439FBBAABEE}"/>
              </a:ext>
            </a:extLst>
          </p:cNvPr>
          <p:cNvGrpSpPr/>
          <p:nvPr/>
        </p:nvGrpSpPr>
        <p:grpSpPr>
          <a:xfrm rot="239386">
            <a:off x="6585617" y="4094230"/>
            <a:ext cx="3415110" cy="2358194"/>
            <a:chOff x="7220883" y="3937979"/>
            <a:chExt cx="3415110" cy="2358194"/>
          </a:xfrm>
        </p:grpSpPr>
        <p:sp>
          <p:nvSpPr>
            <p:cNvPr id="11" name="文本框 10">
              <a:extLst>
                <a:ext uri="{FF2B5EF4-FFF2-40B4-BE49-F238E27FC236}">
                  <a16:creationId xmlns:a16="http://schemas.microsoft.com/office/drawing/2014/main" id="{DD029C08-5686-C30E-1D3C-658EC3216FF6}"/>
                </a:ext>
              </a:extLst>
            </p:cNvPr>
            <p:cNvSpPr txBox="1"/>
            <p:nvPr/>
          </p:nvSpPr>
          <p:spPr>
            <a:xfrm rot="495181">
              <a:off x="7220883" y="5926841"/>
              <a:ext cx="3415110" cy="369332"/>
            </a:xfrm>
            <a:prstGeom prst="rect">
              <a:avLst/>
            </a:prstGeom>
            <a:noFill/>
          </p:spPr>
          <p:txBody>
            <a:bodyPr wrap="square" rtlCol="0">
              <a:spAutoFit/>
            </a:bodyPr>
            <a:lstStyle/>
            <a:p>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Cybersecurity &amp; Cryptography</a:t>
              </a:r>
              <a:endParaRPr lang="zh-CN" altLang="en-US"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pic>
          <p:nvPicPr>
            <p:cNvPr id="1036" name="Picture 12" descr="比特币 块链 密码 ">
              <a:extLst>
                <a:ext uri="{FF2B5EF4-FFF2-40B4-BE49-F238E27FC236}">
                  <a16:creationId xmlns:a16="http://schemas.microsoft.com/office/drawing/2014/main" id="{F22C43C4-2647-7C65-7133-124700A6E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53312">
              <a:off x="7634732" y="3937979"/>
              <a:ext cx="2875079" cy="191671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790981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BDAC7-F3C6-A4C9-FFE2-FD9C3D00A05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459C0AD-74E3-6BD5-EB59-3DB5ACA1518F}"/>
              </a:ext>
            </a:extLst>
          </p:cNvPr>
          <p:cNvSpPr txBox="1"/>
          <p:nvPr/>
        </p:nvSpPr>
        <p:spPr>
          <a:xfrm>
            <a:off x="1250919" y="398011"/>
            <a:ext cx="2124299" cy="523220"/>
          </a:xfrm>
          <a:prstGeom prst="rect">
            <a:avLst/>
          </a:prstGeom>
          <a:noFill/>
        </p:spPr>
        <p:txBody>
          <a:bodyPr wrap="none" rtlCol="0">
            <a:spAutoFit/>
          </a:bodyPr>
          <a:lstStyle>
            <a:defPPr>
              <a:defRPr lang="en-US"/>
            </a:defPPr>
            <a:lvl1pPr>
              <a:defRPr sz="2800">
                <a:solidFill>
                  <a:schemeClr val="tx1">
                    <a:lumMod val="85000"/>
                    <a:lumOff val="15000"/>
                  </a:schemeClr>
                </a:solidFill>
                <a:latin typeface="思源宋体 CN Heavy" panose="02020900000000000000" pitchFamily="18" charset="-122"/>
                <a:ea typeface="思源宋体 CN Heavy" panose="02020900000000000000" pitchFamily="18" charset="-122"/>
              </a:defRPr>
            </a:lvl1pPr>
          </a:lstStyle>
          <a:p>
            <a:r>
              <a:rPr lang="en-US" altLang="zh-CN"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rPr>
              <a:t>Reference  </a:t>
            </a:r>
            <a:endParaRPr lang="zh-CN" altLang="en-US" b="1" dirty="0">
              <a:solidFill>
                <a:schemeClr val="accent1"/>
              </a:solidFill>
              <a:latin typeface="Arial" panose="020B0604020202020204" pitchFamily="34" charset="0"/>
              <a:cs typeface="Arial" panose="020B0604020202020204" pitchFamily="34" charset="0"/>
              <a:sym typeface="思源黑体 CN Medium" panose="020B0600000000000000" pitchFamily="34" charset="-122"/>
            </a:endParaRPr>
          </a:p>
        </p:txBody>
      </p:sp>
      <p:sp>
        <p:nvSpPr>
          <p:cNvPr id="3" name="文本框 2">
            <a:extLst>
              <a:ext uri="{FF2B5EF4-FFF2-40B4-BE49-F238E27FC236}">
                <a16:creationId xmlns:a16="http://schemas.microsoft.com/office/drawing/2014/main" id="{7CAD5BA0-BE62-3BA9-47C3-22A7616CBF72}"/>
              </a:ext>
            </a:extLst>
          </p:cNvPr>
          <p:cNvSpPr txBox="1"/>
          <p:nvPr/>
        </p:nvSpPr>
        <p:spPr>
          <a:xfrm>
            <a:off x="454202" y="2184236"/>
            <a:ext cx="11047988" cy="2489528"/>
          </a:xfrm>
          <a:prstGeom prst="rect">
            <a:avLst/>
          </a:prstGeom>
          <a:noFill/>
        </p:spPr>
        <p:txBody>
          <a:bodyPr wrap="square" rtlCol="0">
            <a:spAutoFit/>
          </a:bodyPr>
          <a:lstStyle/>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https://oi-wiki.org/misc/random/</a:t>
            </a:r>
          </a:p>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https://toddwschneider.com/posts/traveling-salesman-with-simulated-annealing-r-and-shiny/</a:t>
            </a:r>
          </a:p>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https://www.di.fc.ul.pt/~jpn/r/animation/buffon.needle.html</a:t>
            </a:r>
          </a:p>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https://www.163.com/dy/article/JMK0MMBV0521F5QQ.html</a:t>
            </a:r>
          </a:p>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https://www.luogu.com.cn/problem/P1337</a:t>
            </a:r>
          </a:p>
          <a:p>
            <a:pPr marL="228600">
              <a:lnSpc>
                <a:spcPct val="115000"/>
              </a:lnSpc>
              <a:spcAft>
                <a:spcPts val="800"/>
              </a:spcAft>
              <a:buNone/>
            </a:pPr>
            <a:r>
              <a:rPr lang="en-US" altLang="zh-CN" kern="100" dirty="0">
                <a:solidFill>
                  <a:srgbClr val="404040"/>
                </a:solidFill>
                <a:latin typeface="Arial" panose="020B0604020202020204" pitchFamily="34" charset="0"/>
                <a:ea typeface="等线" panose="02010600030101010101" pitchFamily="2" charset="-122"/>
                <a:cs typeface="Arial" panose="020B0604020202020204" pitchFamily="34" charset="0"/>
              </a:rPr>
              <a:t>https://chat.deepseek.com/</a:t>
            </a:r>
            <a:endParaRPr lang="zh-CN" altLang="zh-CN" kern="100" dirty="0">
              <a:solidFill>
                <a:srgbClr val="404040"/>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184524956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SCORM_RATE_SLIDES" val="1"/>
  <p:tag name="ISPRING_ULTRA_SCORM_COURSE_ID" val="5DAF2E25-EA18-41A1-8480-6F9B328187E2"/>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ULTRA_SCORM_SLIDE_COUNT" val="1"/>
  <p:tag name="ISPRING_SCORM_RATE_QUIZZES" val="0"/>
  <p:tag name="ISPRING_SCORM_PASSING_SCORE" val="2.702703"/>
  <p:tag name="ISPRING_PRESENTATION_TITLE" val="2061廉政"/>
</p:tagLst>
</file>

<file path=ppt/theme/theme1.xml><?xml version="1.0" encoding="utf-8"?>
<a:theme xmlns:a="http://schemas.openxmlformats.org/drawingml/2006/main" name="Office 主题">
  <a:themeElements>
    <a:clrScheme name="1-红色">
      <a:dk1>
        <a:srgbClr val="000000"/>
      </a:dk1>
      <a:lt1>
        <a:srgbClr val="FFFFFF"/>
      </a:lt1>
      <a:dk2>
        <a:srgbClr val="262626"/>
      </a:dk2>
      <a:lt2>
        <a:srgbClr val="262626"/>
      </a:lt2>
      <a:accent1>
        <a:srgbClr val="0D5D9D"/>
      </a:accent1>
      <a:accent2>
        <a:srgbClr val="069EE9"/>
      </a:accent2>
      <a:accent3>
        <a:srgbClr val="C00000"/>
      </a:accent3>
      <a:accent4>
        <a:srgbClr val="DE0000"/>
      </a:accent4>
      <a:accent5>
        <a:srgbClr val="D70000"/>
      </a:accent5>
      <a:accent6>
        <a:srgbClr val="FCF4D1"/>
      </a:accent6>
      <a:hlink>
        <a:srgbClr val="C1111B"/>
      </a:hlink>
      <a:folHlink>
        <a:srgbClr val="C1111B"/>
      </a:folHlink>
    </a:clrScheme>
    <a:fontScheme name="自定义 1">
      <a:majorFont>
        <a:latin typeface="思源黑体 CN Medium"/>
        <a:ea typeface="思源黑体 CN Bold"/>
        <a:cs typeface=""/>
      </a:majorFont>
      <a:minorFont>
        <a:latin typeface="思源黑体 CN Medium"/>
        <a:ea typeface="思源黑体 CN Medium"/>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66f14f8-1764-4816-b37e-929deffd123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文档" ma:contentTypeID="0x01010011B256349068724892D33C30AA4D5577" ma:contentTypeVersion="11" ma:contentTypeDescription="新建文档。" ma:contentTypeScope="" ma:versionID="26367125324b407c3c9d4a51562c9506">
  <xsd:schema xmlns:xsd="http://www.w3.org/2001/XMLSchema" xmlns:xs="http://www.w3.org/2001/XMLSchema" xmlns:p="http://schemas.microsoft.com/office/2006/metadata/properties" xmlns:ns3="966f14f8-1764-4816-b37e-929deffd123b" targetNamespace="http://schemas.microsoft.com/office/2006/metadata/properties" ma:root="true" ma:fieldsID="7e13fa9a2754193daa152b28536053a0" ns3:_="">
    <xsd:import namespace="966f14f8-1764-4816-b37e-929deffd123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6f14f8-1764-4816-b37e-929deffd123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2B51B9-A016-49CA-B043-3632D9A0E5A5}">
  <ds:schemaRefs>
    <ds:schemaRef ds:uri="http://schemas.openxmlformats.org/package/2006/metadata/core-properties"/>
    <ds:schemaRef ds:uri="http://schemas.microsoft.com/office/2006/metadata/properties"/>
    <ds:schemaRef ds:uri="http://schemas.microsoft.com/office/infopath/2007/PartnerControls"/>
    <ds:schemaRef ds:uri="http://purl.org/dc/dcmitype/"/>
    <ds:schemaRef ds:uri="http://purl.org/dc/terms/"/>
    <ds:schemaRef ds:uri="http://schemas.microsoft.com/office/2006/documentManagement/types"/>
    <ds:schemaRef ds:uri="http://www.w3.org/XML/1998/namespace"/>
    <ds:schemaRef ds:uri="http://purl.org/dc/elements/1.1/"/>
    <ds:schemaRef ds:uri="966f14f8-1764-4816-b37e-929deffd123b"/>
  </ds:schemaRefs>
</ds:datastoreItem>
</file>

<file path=customXml/itemProps2.xml><?xml version="1.0" encoding="utf-8"?>
<ds:datastoreItem xmlns:ds="http://schemas.openxmlformats.org/officeDocument/2006/customXml" ds:itemID="{7EF034EA-B1C5-4BC0-8CA7-A7FD70CF5C38}">
  <ds:schemaRefs>
    <ds:schemaRef ds:uri="966f14f8-1764-4816-b37e-929deffd123b"/>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4E75BC-9251-40B9-8DE1-413695E4126A}">
  <ds:schemaRefs>
    <ds:schemaRef ds:uri="http://schemas.microsoft.com/sharepoint/v3/contenttype/forms"/>
  </ds:schemaRefs>
</ds:datastoreItem>
</file>

<file path=docMetadata/LabelInfo.xml><?xml version="1.0" encoding="utf-8"?>
<clbl:labelList xmlns:clbl="http://schemas.microsoft.com/office/2020/mipLabelMetadata">
  <clbl:label id="{04c4c5c8-db8c-41b1-882b-5bb7948405e8}" enabled="0" method="" siteId="{04c4c5c8-db8c-41b1-882b-5bb7948405e8}" removed="1"/>
</clbl:labelList>
</file>

<file path=docProps/app.xml><?xml version="1.0" encoding="utf-8"?>
<Properties xmlns="http://schemas.openxmlformats.org/officeDocument/2006/extended-properties" xmlns:vt="http://schemas.openxmlformats.org/officeDocument/2006/docPropsVTypes">
  <Template>Office Theme</Template>
  <TotalTime>2427</TotalTime>
  <Words>2121</Words>
  <Application>Microsoft Office PowerPoint</Application>
  <PresentationFormat>宽屏</PresentationFormat>
  <Paragraphs>227</Paragraphs>
  <Slides>28</Slides>
  <Notes>28</Notes>
  <HiddenSlides>0</HiddenSlides>
  <MMClips>3</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等线</vt:lpstr>
      <vt:lpstr>思源宋体 CN Heavy</vt:lpstr>
      <vt:lpstr>Arial</vt:lpstr>
      <vt:lpstr>Calibri</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Windf ZHANG</cp:lastModifiedBy>
  <cp:revision>190</cp:revision>
  <cp:lastPrinted>2025-05-15T10:48:22Z</cp:lastPrinted>
  <dcterms:created xsi:type="dcterms:W3CDTF">2016-07-17T01:36:55Z</dcterms:created>
  <dcterms:modified xsi:type="dcterms:W3CDTF">2025-12-12T10:28:27Z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0x01010011B256349068724892D33C30AA4D5577</vt:lpwstr>
  </property>
</Properties>
</file>